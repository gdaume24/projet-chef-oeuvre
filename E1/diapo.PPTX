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5"/>
  </p:notesMasterIdLst>
  <p:sldIdLst>
    <p:sldId id="256" r:id="rId2"/>
    <p:sldId id="259" r:id="rId3"/>
    <p:sldId id="307" r:id="rId4"/>
    <p:sldId id="260" r:id="rId5"/>
    <p:sldId id="262" r:id="rId6"/>
    <p:sldId id="263" r:id="rId7"/>
    <p:sldId id="266" r:id="rId8"/>
    <p:sldId id="279" r:id="rId9"/>
    <p:sldId id="306" r:id="rId10"/>
    <p:sldId id="267" r:id="rId11"/>
    <p:sldId id="268" r:id="rId12"/>
    <p:sldId id="269" r:id="rId13"/>
    <p:sldId id="270" r:id="rId14"/>
    <p:sldId id="271" r:id="rId15"/>
    <p:sldId id="274" r:id="rId16"/>
    <p:sldId id="276" r:id="rId17"/>
    <p:sldId id="272" r:id="rId18"/>
    <p:sldId id="273" r:id="rId19"/>
    <p:sldId id="277" r:id="rId20"/>
    <p:sldId id="283" r:id="rId21"/>
    <p:sldId id="280" r:id="rId22"/>
    <p:sldId id="284" r:id="rId23"/>
    <p:sldId id="285" r:id="rId24"/>
    <p:sldId id="286" r:id="rId25"/>
    <p:sldId id="302" r:id="rId26"/>
    <p:sldId id="295" r:id="rId27"/>
    <p:sldId id="287" r:id="rId28"/>
    <p:sldId id="297" r:id="rId29"/>
    <p:sldId id="294" r:id="rId30"/>
    <p:sldId id="296" r:id="rId31"/>
    <p:sldId id="299" r:id="rId32"/>
    <p:sldId id="264" r:id="rId33"/>
    <p:sldId id="298" r:id="rId34"/>
    <p:sldId id="289" r:id="rId35"/>
    <p:sldId id="290" r:id="rId36"/>
    <p:sldId id="292" r:id="rId37"/>
    <p:sldId id="293" r:id="rId38"/>
    <p:sldId id="300" r:id="rId39"/>
    <p:sldId id="301" r:id="rId40"/>
    <p:sldId id="303" r:id="rId41"/>
    <p:sldId id="258" r:id="rId42"/>
    <p:sldId id="282" r:id="rId43"/>
    <p:sldId id="304" r:id="rId44"/>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79739" autoAdjust="0"/>
  </p:normalViewPr>
  <p:slideViewPr>
    <p:cSldViewPr snapToGrid="0">
      <p:cViewPr varScale="1">
        <p:scale>
          <a:sx n="66" d="100"/>
          <a:sy n="66" d="100"/>
        </p:scale>
        <p:origin x="1330" y="-115"/>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BFE0C24-F68F-4E5D-B7EE-DD5107D4A260}" type="datetimeFigureOut">
              <a:rPr lang="fr-FR" smtClean="0"/>
              <a:t>29/05/2024</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6AB49C7-41D5-4891-8EE8-309F74BEF086}" type="slidenum">
              <a:rPr lang="fr-FR" smtClean="0"/>
              <a:t>‹N°›</a:t>
            </a:fld>
            <a:endParaRPr lang="fr-FR"/>
          </a:p>
        </p:txBody>
      </p:sp>
    </p:spTree>
    <p:extLst>
      <p:ext uri="{BB962C8B-B14F-4D97-AF65-F5344CB8AC3E}">
        <p14:creationId xmlns:p14="http://schemas.microsoft.com/office/powerpoint/2010/main" val="38003787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Une entreprise de recherche sur la santé mentale m’a contacté</a:t>
            </a:r>
          </a:p>
        </p:txBody>
      </p:sp>
      <p:sp>
        <p:nvSpPr>
          <p:cNvPr id="4" name="Espace réservé du numéro de diapositive 3"/>
          <p:cNvSpPr>
            <a:spLocks noGrp="1"/>
          </p:cNvSpPr>
          <p:nvPr>
            <p:ph type="sldNum" sz="quarter" idx="10"/>
          </p:nvPr>
        </p:nvSpPr>
        <p:spPr/>
        <p:txBody>
          <a:bodyPr/>
          <a:lstStyle/>
          <a:p>
            <a:fld id="{66AB49C7-41D5-4891-8EE8-309F74BEF086}" type="slidenum">
              <a:rPr lang="fr-FR" smtClean="0"/>
              <a:t>4</a:t>
            </a:fld>
            <a:endParaRPr lang="fr-FR"/>
          </a:p>
        </p:txBody>
      </p:sp>
    </p:spTree>
    <p:extLst>
      <p:ext uri="{BB962C8B-B14F-4D97-AF65-F5344CB8AC3E}">
        <p14:creationId xmlns:p14="http://schemas.microsoft.com/office/powerpoint/2010/main" val="18478809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baseline="0" dirty="0"/>
              <a:t>Aspect du jeu de données, les questions portent en majorité sur l'employeur et la santé mentale. </a:t>
            </a:r>
          </a:p>
          <a:p>
            <a:endParaRPr lang="fr-FR" baseline="0" dirty="0"/>
          </a:p>
          <a:p>
            <a:r>
              <a:rPr lang="fr-FR" baseline="0" dirty="0"/>
              <a:t>Parler de la colonne traitement</a:t>
            </a:r>
            <a:endParaRPr lang="fr-FR" dirty="0"/>
          </a:p>
        </p:txBody>
      </p:sp>
      <p:sp>
        <p:nvSpPr>
          <p:cNvPr id="4" name="Espace réservé du numéro de diapositive 3"/>
          <p:cNvSpPr>
            <a:spLocks noGrp="1"/>
          </p:cNvSpPr>
          <p:nvPr>
            <p:ph type="sldNum" sz="quarter" idx="10"/>
          </p:nvPr>
        </p:nvSpPr>
        <p:spPr/>
        <p:txBody>
          <a:bodyPr/>
          <a:lstStyle/>
          <a:p>
            <a:fld id="{66AB49C7-41D5-4891-8EE8-309F74BEF086}" type="slidenum">
              <a:rPr lang="fr-FR" smtClean="0"/>
              <a:t>5</a:t>
            </a:fld>
            <a:endParaRPr lang="fr-FR"/>
          </a:p>
        </p:txBody>
      </p:sp>
    </p:spTree>
    <p:extLst>
      <p:ext uri="{BB962C8B-B14F-4D97-AF65-F5344CB8AC3E}">
        <p14:creationId xmlns:p14="http://schemas.microsoft.com/office/powerpoint/2010/main" val="10634856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En local</a:t>
            </a:r>
          </a:p>
        </p:txBody>
      </p:sp>
      <p:sp>
        <p:nvSpPr>
          <p:cNvPr id="4" name="Espace réservé du numéro de diapositive 3"/>
          <p:cNvSpPr>
            <a:spLocks noGrp="1"/>
          </p:cNvSpPr>
          <p:nvPr>
            <p:ph type="sldNum" sz="quarter" idx="10"/>
          </p:nvPr>
        </p:nvSpPr>
        <p:spPr/>
        <p:txBody>
          <a:bodyPr/>
          <a:lstStyle/>
          <a:p>
            <a:fld id="{66AB49C7-41D5-4891-8EE8-309F74BEF086}" type="slidenum">
              <a:rPr lang="fr-FR" smtClean="0"/>
              <a:t>6</a:t>
            </a:fld>
            <a:endParaRPr lang="fr-FR"/>
          </a:p>
        </p:txBody>
      </p:sp>
    </p:spTree>
    <p:extLst>
      <p:ext uri="{BB962C8B-B14F-4D97-AF65-F5344CB8AC3E}">
        <p14:creationId xmlns:p14="http://schemas.microsoft.com/office/powerpoint/2010/main" val="126860761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Comptes rendus d'avancement : 3 réunions</a:t>
            </a:r>
            <a:r>
              <a:rPr lang="fr-FR" baseline="0" dirty="0"/>
              <a:t> : présentation de l'analyse exploratoire des données, présentation du modèle, présentation de l'application terminée. </a:t>
            </a:r>
          </a:p>
          <a:p>
            <a:r>
              <a:rPr lang="fr-FR" baseline="0" dirty="0"/>
              <a:t>Echange par mail</a:t>
            </a:r>
          </a:p>
        </p:txBody>
      </p:sp>
      <p:sp>
        <p:nvSpPr>
          <p:cNvPr id="4" name="Espace réservé du numéro de diapositive 3"/>
          <p:cNvSpPr>
            <a:spLocks noGrp="1"/>
          </p:cNvSpPr>
          <p:nvPr>
            <p:ph type="sldNum" sz="quarter" idx="10"/>
          </p:nvPr>
        </p:nvSpPr>
        <p:spPr/>
        <p:txBody>
          <a:bodyPr/>
          <a:lstStyle/>
          <a:p>
            <a:fld id="{66AB49C7-41D5-4891-8EE8-309F74BEF086}" type="slidenum">
              <a:rPr lang="fr-FR" smtClean="0"/>
              <a:t>7</a:t>
            </a:fld>
            <a:endParaRPr lang="fr-FR"/>
          </a:p>
        </p:txBody>
      </p:sp>
    </p:spTree>
    <p:extLst>
      <p:ext uri="{BB962C8B-B14F-4D97-AF65-F5344CB8AC3E}">
        <p14:creationId xmlns:p14="http://schemas.microsoft.com/office/powerpoint/2010/main" val="19538815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Analyse exploratoire, première partie sur nettoyage des données</a:t>
            </a:r>
            <a:br>
              <a:rPr lang="fr-FR" dirty="0"/>
            </a:br>
            <a:r>
              <a:rPr lang="fr-FR" dirty="0"/>
              <a:t>deuxième partie sur la compréhension des données</a:t>
            </a:r>
            <a:br>
              <a:rPr lang="fr-FR" dirty="0"/>
            </a:br>
            <a:r>
              <a:rPr lang="fr-FR" dirty="0"/>
              <a:t>troisième partie sur mise en place d’un SGBD pour y stocker les données nettoyées en vue d’un entraînement par un modèle ou d’une analyse</a:t>
            </a:r>
          </a:p>
        </p:txBody>
      </p:sp>
      <p:sp>
        <p:nvSpPr>
          <p:cNvPr id="4" name="Espace réservé du numéro de diapositive 3"/>
          <p:cNvSpPr>
            <a:spLocks noGrp="1"/>
          </p:cNvSpPr>
          <p:nvPr>
            <p:ph type="sldNum" sz="quarter" idx="10"/>
          </p:nvPr>
        </p:nvSpPr>
        <p:spPr/>
        <p:txBody>
          <a:bodyPr/>
          <a:lstStyle/>
          <a:p>
            <a:fld id="{66AB49C7-41D5-4891-8EE8-309F74BEF086}" type="slidenum">
              <a:rPr lang="fr-FR" smtClean="0"/>
              <a:t>10</a:t>
            </a:fld>
            <a:endParaRPr lang="fr-FR"/>
          </a:p>
        </p:txBody>
      </p:sp>
    </p:spTree>
    <p:extLst>
      <p:ext uri="{BB962C8B-B14F-4D97-AF65-F5344CB8AC3E}">
        <p14:creationId xmlns:p14="http://schemas.microsoft.com/office/powerpoint/2010/main" val="266447762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66AB49C7-41D5-4891-8EE8-309F74BEF086}" type="slidenum">
              <a:rPr lang="fr-FR" smtClean="0"/>
              <a:t>11</a:t>
            </a:fld>
            <a:endParaRPr lang="fr-FR"/>
          </a:p>
        </p:txBody>
      </p:sp>
    </p:spTree>
    <p:extLst>
      <p:ext uri="{BB962C8B-B14F-4D97-AF65-F5344CB8AC3E}">
        <p14:creationId xmlns:p14="http://schemas.microsoft.com/office/powerpoint/2010/main" val="312897673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sz="1200" kern="1200" dirty="0">
                <a:solidFill>
                  <a:schemeClr val="tx1"/>
                </a:solidFill>
                <a:effectLst/>
                <a:latin typeface="+mn-lt"/>
                <a:ea typeface="+mn-ea"/>
                <a:cs typeface="+mn-cs"/>
              </a:rPr>
              <a:t>On constate que les personnes ayant des antécédents familiaux ont plus de chance d'avoir déjà fait une demande de traitement.</a:t>
            </a:r>
          </a:p>
        </p:txBody>
      </p:sp>
      <p:sp>
        <p:nvSpPr>
          <p:cNvPr id="4" name="Espace réservé du numéro de diapositive 3"/>
          <p:cNvSpPr>
            <a:spLocks noGrp="1"/>
          </p:cNvSpPr>
          <p:nvPr>
            <p:ph type="sldNum" sz="quarter" idx="10"/>
          </p:nvPr>
        </p:nvSpPr>
        <p:spPr/>
        <p:txBody>
          <a:bodyPr/>
          <a:lstStyle/>
          <a:p>
            <a:fld id="{66AB49C7-41D5-4891-8EE8-309F74BEF086}" type="slidenum">
              <a:rPr lang="fr-FR" smtClean="0"/>
              <a:t>12</a:t>
            </a:fld>
            <a:endParaRPr lang="fr-FR"/>
          </a:p>
        </p:txBody>
      </p:sp>
    </p:spTree>
    <p:extLst>
      <p:ext uri="{BB962C8B-B14F-4D97-AF65-F5344CB8AC3E}">
        <p14:creationId xmlns:p14="http://schemas.microsoft.com/office/powerpoint/2010/main" val="289700387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sz="1200" kern="1200" dirty="0">
                <a:solidFill>
                  <a:schemeClr val="tx1"/>
                </a:solidFill>
                <a:effectLst/>
                <a:latin typeface="+mn-lt"/>
                <a:ea typeface="+mn-ea"/>
                <a:cs typeface="+mn-cs"/>
              </a:rPr>
              <a:t>Plus la fréquence d'</a:t>
            </a:r>
            <a:r>
              <a:rPr lang="fr-FR" sz="1200" kern="1200" dirty="0" err="1">
                <a:solidFill>
                  <a:schemeClr val="tx1"/>
                </a:solidFill>
                <a:effectLst/>
                <a:latin typeface="+mn-lt"/>
                <a:ea typeface="+mn-ea"/>
                <a:cs typeface="+mn-cs"/>
              </a:rPr>
              <a:t>interfération</a:t>
            </a:r>
            <a:r>
              <a:rPr lang="fr-FR" sz="1200" kern="1200" dirty="0">
                <a:solidFill>
                  <a:schemeClr val="tx1"/>
                </a:solidFill>
                <a:effectLst/>
                <a:latin typeface="+mn-lt"/>
                <a:ea typeface="+mn-ea"/>
                <a:cs typeface="+mn-cs"/>
              </a:rPr>
              <a:t> du problème mental avec le travail est grande, plus il y a de chance pour que la personne ait déjà demandé un traitement.</a:t>
            </a:r>
          </a:p>
        </p:txBody>
      </p:sp>
      <p:sp>
        <p:nvSpPr>
          <p:cNvPr id="4" name="Espace réservé du numéro de diapositive 3"/>
          <p:cNvSpPr>
            <a:spLocks noGrp="1"/>
          </p:cNvSpPr>
          <p:nvPr>
            <p:ph type="sldNum" sz="quarter" idx="10"/>
          </p:nvPr>
        </p:nvSpPr>
        <p:spPr/>
        <p:txBody>
          <a:bodyPr/>
          <a:lstStyle/>
          <a:p>
            <a:fld id="{66AB49C7-41D5-4891-8EE8-309F74BEF086}" type="slidenum">
              <a:rPr lang="fr-FR" smtClean="0"/>
              <a:t>13</a:t>
            </a:fld>
            <a:endParaRPr lang="fr-FR"/>
          </a:p>
        </p:txBody>
      </p:sp>
    </p:spTree>
    <p:extLst>
      <p:ext uri="{BB962C8B-B14F-4D97-AF65-F5344CB8AC3E}">
        <p14:creationId xmlns:p14="http://schemas.microsoft.com/office/powerpoint/2010/main" val="272861689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sz="1200" kern="1200" dirty="0">
                <a:solidFill>
                  <a:schemeClr val="tx1"/>
                </a:solidFill>
                <a:effectLst/>
                <a:latin typeface="+mn-lt"/>
                <a:ea typeface="+mn-ea"/>
                <a:cs typeface="+mn-cs"/>
              </a:rPr>
              <a:t>Les personnes qui connaissent les prestations de l'entreprise en matière de santé mentale pour les salariés ont plus souvent fait une demande de traitement.</a:t>
            </a:r>
          </a:p>
        </p:txBody>
      </p:sp>
      <p:sp>
        <p:nvSpPr>
          <p:cNvPr id="4" name="Espace réservé du numéro de diapositive 3"/>
          <p:cNvSpPr>
            <a:spLocks noGrp="1"/>
          </p:cNvSpPr>
          <p:nvPr>
            <p:ph type="sldNum" sz="quarter" idx="10"/>
          </p:nvPr>
        </p:nvSpPr>
        <p:spPr/>
        <p:txBody>
          <a:bodyPr/>
          <a:lstStyle/>
          <a:p>
            <a:fld id="{66AB49C7-41D5-4891-8EE8-309F74BEF086}" type="slidenum">
              <a:rPr lang="fr-FR" smtClean="0"/>
              <a:t>14</a:t>
            </a:fld>
            <a:endParaRPr lang="fr-FR"/>
          </a:p>
        </p:txBody>
      </p:sp>
    </p:spTree>
    <p:extLst>
      <p:ext uri="{BB962C8B-B14F-4D97-AF65-F5344CB8AC3E}">
        <p14:creationId xmlns:p14="http://schemas.microsoft.com/office/powerpoint/2010/main" val="62273381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sz="1200" kern="1200" dirty="0">
                <a:solidFill>
                  <a:schemeClr val="tx1"/>
                </a:solidFill>
                <a:effectLst/>
                <a:latin typeface="+mn-lt"/>
                <a:ea typeface="+mn-ea"/>
                <a:cs typeface="+mn-cs"/>
              </a:rPr>
              <a:t>Les gens qui répondent oui ont plus souvent fait une demande de traitement</a:t>
            </a:r>
          </a:p>
        </p:txBody>
      </p:sp>
      <p:sp>
        <p:nvSpPr>
          <p:cNvPr id="4" name="Espace réservé du numéro de diapositive 3"/>
          <p:cNvSpPr>
            <a:spLocks noGrp="1"/>
          </p:cNvSpPr>
          <p:nvPr>
            <p:ph type="sldNum" sz="quarter" idx="10"/>
          </p:nvPr>
        </p:nvSpPr>
        <p:spPr/>
        <p:txBody>
          <a:bodyPr/>
          <a:lstStyle/>
          <a:p>
            <a:fld id="{66AB49C7-41D5-4891-8EE8-309F74BEF086}" type="slidenum">
              <a:rPr lang="fr-FR" smtClean="0"/>
              <a:t>15</a:t>
            </a:fld>
            <a:endParaRPr lang="fr-FR"/>
          </a:p>
        </p:txBody>
      </p:sp>
    </p:spTree>
    <p:extLst>
      <p:ext uri="{BB962C8B-B14F-4D97-AF65-F5344CB8AC3E}">
        <p14:creationId xmlns:p14="http://schemas.microsoft.com/office/powerpoint/2010/main" val="389734751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sz="1200" kern="1200" dirty="0">
                <a:solidFill>
                  <a:schemeClr val="tx1"/>
                </a:solidFill>
                <a:effectLst/>
                <a:latin typeface="+mn-lt"/>
                <a:ea typeface="+mn-ea"/>
                <a:cs typeface="+mn-cs"/>
              </a:rPr>
              <a:t>Les femmes sont plus sujettes à la demande de traitement.</a:t>
            </a:r>
          </a:p>
        </p:txBody>
      </p:sp>
      <p:sp>
        <p:nvSpPr>
          <p:cNvPr id="4" name="Espace réservé du numéro de diapositive 3"/>
          <p:cNvSpPr>
            <a:spLocks noGrp="1"/>
          </p:cNvSpPr>
          <p:nvPr>
            <p:ph type="sldNum" sz="quarter" idx="10"/>
          </p:nvPr>
        </p:nvSpPr>
        <p:spPr/>
        <p:txBody>
          <a:bodyPr/>
          <a:lstStyle/>
          <a:p>
            <a:fld id="{66AB49C7-41D5-4891-8EE8-309F74BEF086}" type="slidenum">
              <a:rPr lang="fr-FR" smtClean="0"/>
              <a:t>16</a:t>
            </a:fld>
            <a:endParaRPr lang="fr-FR"/>
          </a:p>
        </p:txBody>
      </p:sp>
    </p:spTree>
    <p:extLst>
      <p:ext uri="{BB962C8B-B14F-4D97-AF65-F5344CB8AC3E}">
        <p14:creationId xmlns:p14="http://schemas.microsoft.com/office/powerpoint/2010/main" val="188761158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sz="1200" kern="1200" dirty="0">
                <a:solidFill>
                  <a:schemeClr val="tx1"/>
                </a:solidFill>
                <a:effectLst/>
                <a:latin typeface="+mn-lt"/>
                <a:ea typeface="+mn-ea"/>
                <a:cs typeface="+mn-cs"/>
              </a:rPr>
              <a:t>Les gens qui répondent oui ont plus souvent fait la demande d'un traitement, ceux qui ne savent pas n'en ont plus souvent pas fait.</a:t>
            </a:r>
          </a:p>
        </p:txBody>
      </p:sp>
      <p:sp>
        <p:nvSpPr>
          <p:cNvPr id="4" name="Espace réservé du numéro de diapositive 3"/>
          <p:cNvSpPr>
            <a:spLocks noGrp="1"/>
          </p:cNvSpPr>
          <p:nvPr>
            <p:ph type="sldNum" sz="quarter" idx="10"/>
          </p:nvPr>
        </p:nvSpPr>
        <p:spPr/>
        <p:txBody>
          <a:bodyPr/>
          <a:lstStyle/>
          <a:p>
            <a:fld id="{66AB49C7-41D5-4891-8EE8-309F74BEF086}" type="slidenum">
              <a:rPr lang="fr-FR" smtClean="0"/>
              <a:t>17</a:t>
            </a:fld>
            <a:endParaRPr lang="fr-FR"/>
          </a:p>
        </p:txBody>
      </p:sp>
    </p:spTree>
    <p:extLst>
      <p:ext uri="{BB962C8B-B14F-4D97-AF65-F5344CB8AC3E}">
        <p14:creationId xmlns:p14="http://schemas.microsoft.com/office/powerpoint/2010/main" val="173626044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sz="1200" kern="1200" dirty="0">
                <a:solidFill>
                  <a:schemeClr val="tx1"/>
                </a:solidFill>
                <a:effectLst/>
                <a:latin typeface="+mn-lt"/>
                <a:ea typeface="+mn-ea"/>
                <a:cs typeface="+mn-cs"/>
              </a:rPr>
              <a:t>Les gens qui pensent que le fait de discuter d'un problème de santé mentale avec leur employeur aurait des conséquences négatives ont plus souvent demandé un traitement. Pour ceux qui répondent non, ils ont moins souvent demandé un traitement.</a:t>
            </a:r>
          </a:p>
        </p:txBody>
      </p:sp>
      <p:sp>
        <p:nvSpPr>
          <p:cNvPr id="4" name="Espace réservé du numéro de diapositive 3"/>
          <p:cNvSpPr>
            <a:spLocks noGrp="1"/>
          </p:cNvSpPr>
          <p:nvPr>
            <p:ph type="sldNum" sz="quarter" idx="10"/>
          </p:nvPr>
        </p:nvSpPr>
        <p:spPr/>
        <p:txBody>
          <a:bodyPr/>
          <a:lstStyle/>
          <a:p>
            <a:fld id="{66AB49C7-41D5-4891-8EE8-309F74BEF086}" type="slidenum">
              <a:rPr lang="fr-FR" smtClean="0"/>
              <a:t>18</a:t>
            </a:fld>
            <a:endParaRPr lang="fr-FR"/>
          </a:p>
        </p:txBody>
      </p:sp>
    </p:spTree>
    <p:extLst>
      <p:ext uri="{BB962C8B-B14F-4D97-AF65-F5344CB8AC3E}">
        <p14:creationId xmlns:p14="http://schemas.microsoft.com/office/powerpoint/2010/main" val="345244003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dirty="0"/>
              <a:t>Troisième partie sur mise en place d’un SGBD pour y stocker les données nettoyées en vue d’un entraînement par un modèle ou d’une analyse</a:t>
            </a:r>
          </a:p>
          <a:p>
            <a:pPr marL="0" marR="0" indent="0" algn="l" defTabSz="914400" rtl="0" eaLnBrk="1" fontAlgn="auto" latinLnBrk="0" hangingPunct="1">
              <a:lnSpc>
                <a:spcPct val="100000"/>
              </a:lnSpc>
              <a:spcBef>
                <a:spcPts val="0"/>
              </a:spcBef>
              <a:spcAft>
                <a:spcPts val="0"/>
              </a:spcAft>
              <a:buClrTx/>
              <a:buSzTx/>
              <a:buFontTx/>
              <a:buNone/>
              <a:tabLst/>
              <a:defRPr/>
            </a:pPr>
            <a:endParaRPr lang="fr-FR" sz="1200" dirty="0"/>
          </a:p>
          <a:p>
            <a:pPr marL="0" marR="0" indent="0" algn="l" defTabSz="914400" rtl="0" eaLnBrk="1" fontAlgn="auto" latinLnBrk="0" hangingPunct="1">
              <a:lnSpc>
                <a:spcPct val="100000"/>
              </a:lnSpc>
              <a:spcBef>
                <a:spcPts val="0"/>
              </a:spcBef>
              <a:spcAft>
                <a:spcPts val="0"/>
              </a:spcAft>
              <a:buClrTx/>
              <a:buSzTx/>
              <a:buFontTx/>
              <a:buNone/>
              <a:tabLst/>
              <a:defRPr/>
            </a:pPr>
            <a:r>
              <a:rPr lang="fr-FR" sz="1200" dirty="0"/>
              <a:t>Pourquoi SQLite ? Simple à utiliser</a:t>
            </a:r>
          </a:p>
          <a:p>
            <a:pPr marL="0" marR="0" indent="0" algn="l" defTabSz="914400" rtl="0" eaLnBrk="1" fontAlgn="auto" latinLnBrk="0" hangingPunct="1">
              <a:lnSpc>
                <a:spcPct val="100000"/>
              </a:lnSpc>
              <a:spcBef>
                <a:spcPts val="0"/>
              </a:spcBef>
              <a:spcAft>
                <a:spcPts val="0"/>
              </a:spcAft>
              <a:buClrTx/>
              <a:buSzTx/>
              <a:buFontTx/>
              <a:buNone/>
              <a:tabLst/>
              <a:defRPr/>
            </a:pPr>
            <a:endParaRPr lang="fr-FR" sz="1200" dirty="0"/>
          </a:p>
          <a:p>
            <a:pPr marL="0" marR="0" indent="0" algn="l" defTabSz="914400" rtl="0" eaLnBrk="1" fontAlgn="auto" latinLnBrk="0" hangingPunct="1">
              <a:lnSpc>
                <a:spcPct val="100000"/>
              </a:lnSpc>
              <a:spcBef>
                <a:spcPts val="0"/>
              </a:spcBef>
              <a:spcAft>
                <a:spcPts val="0"/>
              </a:spcAft>
              <a:buClrTx/>
              <a:buSzTx/>
              <a:buFontTx/>
              <a:buNone/>
              <a:tabLst/>
              <a:defRPr/>
            </a:pPr>
            <a:r>
              <a:rPr lang="fr-FR" sz="1200" dirty="0"/>
              <a:t>Les données peuvent être regroupées en une table simple, j'ai donc choisi une base de données relationnelle.</a:t>
            </a:r>
            <a:endParaRPr lang="fr-FR" dirty="0"/>
          </a:p>
          <a:p>
            <a:pPr algn="l"/>
            <a:r>
              <a:rPr lang="fr-FR" dirty="0"/>
              <a:t>Les MCD et MLD ont été effectués sur </a:t>
            </a:r>
            <a:r>
              <a:rPr lang="fr-FR" dirty="0" err="1"/>
              <a:t>JMerise</a:t>
            </a:r>
            <a:endParaRPr lang="fr-FR" dirty="0"/>
          </a:p>
        </p:txBody>
      </p:sp>
      <p:sp>
        <p:nvSpPr>
          <p:cNvPr id="4" name="Espace réservé du numéro de diapositive 3"/>
          <p:cNvSpPr>
            <a:spLocks noGrp="1"/>
          </p:cNvSpPr>
          <p:nvPr>
            <p:ph type="sldNum" sz="quarter" idx="10"/>
          </p:nvPr>
        </p:nvSpPr>
        <p:spPr/>
        <p:txBody>
          <a:bodyPr/>
          <a:lstStyle/>
          <a:p>
            <a:fld id="{66AB49C7-41D5-4891-8EE8-309F74BEF086}" type="slidenum">
              <a:rPr lang="fr-FR" smtClean="0"/>
              <a:t>19</a:t>
            </a:fld>
            <a:endParaRPr lang="fr-FR"/>
          </a:p>
        </p:txBody>
      </p:sp>
    </p:spTree>
    <p:extLst>
      <p:ext uri="{BB962C8B-B14F-4D97-AF65-F5344CB8AC3E}">
        <p14:creationId xmlns:p14="http://schemas.microsoft.com/office/powerpoint/2010/main" val="40233823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err="1"/>
              <a:t>Jupyter</a:t>
            </a:r>
            <a:r>
              <a:rPr lang="fr-FR" dirty="0"/>
              <a:t> : Permet d'</a:t>
            </a:r>
            <a:r>
              <a:rPr lang="fr-FR" dirty="0" err="1"/>
              <a:t>éxécuter</a:t>
            </a:r>
            <a:r>
              <a:rPr lang="fr-FR" dirty="0"/>
              <a:t> du code python cellules par cellules, afin de faire des tests pour entraîner et évaluer des modèles</a:t>
            </a:r>
          </a:p>
          <a:p>
            <a:endParaRPr lang="fr-FR" dirty="0"/>
          </a:p>
          <a:p>
            <a:pPr marL="0" marR="0" indent="0" algn="l" defTabSz="914400" rtl="0" eaLnBrk="1" fontAlgn="auto" latinLnBrk="0" hangingPunct="1">
              <a:lnSpc>
                <a:spcPct val="100000"/>
              </a:lnSpc>
              <a:spcBef>
                <a:spcPts val="0"/>
              </a:spcBef>
              <a:spcAft>
                <a:spcPts val="0"/>
              </a:spcAft>
              <a:buClrTx/>
              <a:buSzTx/>
              <a:buFontTx/>
              <a:buNone/>
              <a:tabLst/>
              <a:defRPr/>
            </a:pPr>
            <a:r>
              <a:rPr lang="fr-FR" dirty="0" err="1"/>
              <a:t>Scikit-learn</a:t>
            </a:r>
            <a:r>
              <a:rPr lang="fr-FR" dirty="0"/>
              <a:t> : Librairie simple d’utilisation, comprend tous les modèles principaux de classification.</a:t>
            </a:r>
          </a:p>
          <a:p>
            <a:endParaRPr lang="fr-FR" dirty="0"/>
          </a:p>
          <a:p>
            <a:r>
              <a:rPr lang="fr-FR" dirty="0"/>
              <a:t>Justification du</a:t>
            </a:r>
            <a:r>
              <a:rPr lang="fr-FR" baseline="0" dirty="0"/>
              <a:t> choix des algorithmes ? Algorithmes qui ressortent le plus à l'issue de la veille technique, </a:t>
            </a:r>
            <a:r>
              <a:rPr lang="fr-FR" baseline="0" dirty="0" err="1"/>
              <a:t>Probleme</a:t>
            </a:r>
            <a:r>
              <a:rPr lang="fr-FR" baseline="0" dirty="0"/>
              <a:t> de classification binaire</a:t>
            </a:r>
            <a:endParaRPr lang="fr-FR" dirty="0"/>
          </a:p>
        </p:txBody>
      </p:sp>
      <p:sp>
        <p:nvSpPr>
          <p:cNvPr id="4" name="Espace réservé du numéro de diapositive 3"/>
          <p:cNvSpPr>
            <a:spLocks noGrp="1"/>
          </p:cNvSpPr>
          <p:nvPr>
            <p:ph type="sldNum" sz="quarter" idx="10"/>
          </p:nvPr>
        </p:nvSpPr>
        <p:spPr/>
        <p:txBody>
          <a:bodyPr/>
          <a:lstStyle/>
          <a:p>
            <a:fld id="{66AB49C7-41D5-4891-8EE8-309F74BEF086}" type="slidenum">
              <a:rPr lang="fr-FR" smtClean="0"/>
              <a:t>20</a:t>
            </a:fld>
            <a:endParaRPr lang="fr-FR"/>
          </a:p>
        </p:txBody>
      </p:sp>
    </p:spTree>
    <p:extLst>
      <p:ext uri="{BB962C8B-B14F-4D97-AF65-F5344CB8AC3E}">
        <p14:creationId xmlns:p14="http://schemas.microsoft.com/office/powerpoint/2010/main" val="419757078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66AB49C7-41D5-4891-8EE8-309F74BEF086}" type="slidenum">
              <a:rPr lang="fr-FR" smtClean="0"/>
              <a:t>21</a:t>
            </a:fld>
            <a:endParaRPr lang="fr-FR"/>
          </a:p>
        </p:txBody>
      </p:sp>
    </p:spTree>
    <p:extLst>
      <p:ext uri="{BB962C8B-B14F-4D97-AF65-F5344CB8AC3E}">
        <p14:creationId xmlns:p14="http://schemas.microsoft.com/office/powerpoint/2010/main" val="320621598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Prétraitement</a:t>
            </a:r>
            <a:r>
              <a:rPr lang="fr-FR" baseline="0" dirty="0"/>
              <a:t> des colonnes pour rendre les données interprétables à la même échelle par les modèles d'IA</a:t>
            </a:r>
            <a:endParaRPr lang="fr-FR" dirty="0"/>
          </a:p>
        </p:txBody>
      </p:sp>
      <p:sp>
        <p:nvSpPr>
          <p:cNvPr id="4" name="Espace réservé du numéro de diapositive 3"/>
          <p:cNvSpPr>
            <a:spLocks noGrp="1"/>
          </p:cNvSpPr>
          <p:nvPr>
            <p:ph type="sldNum" sz="quarter" idx="10"/>
          </p:nvPr>
        </p:nvSpPr>
        <p:spPr/>
        <p:txBody>
          <a:bodyPr/>
          <a:lstStyle/>
          <a:p>
            <a:fld id="{66AB49C7-41D5-4891-8EE8-309F74BEF086}" type="slidenum">
              <a:rPr lang="fr-FR" smtClean="0"/>
              <a:t>22</a:t>
            </a:fld>
            <a:endParaRPr lang="fr-FR"/>
          </a:p>
        </p:txBody>
      </p:sp>
    </p:spTree>
    <p:extLst>
      <p:ext uri="{BB962C8B-B14F-4D97-AF65-F5344CB8AC3E}">
        <p14:creationId xmlns:p14="http://schemas.microsoft.com/office/powerpoint/2010/main" val="37208114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err="1"/>
              <a:t>Jupyter</a:t>
            </a:r>
            <a:r>
              <a:rPr lang="fr-FR" dirty="0"/>
              <a:t> : Permet d'</a:t>
            </a:r>
            <a:r>
              <a:rPr lang="fr-FR" dirty="0" err="1"/>
              <a:t>éxécuter</a:t>
            </a:r>
            <a:r>
              <a:rPr lang="fr-FR" dirty="0"/>
              <a:t> du code python cellules par cellules, afin de faire des tests pour entraîner et évaluer des modèles</a:t>
            </a:r>
          </a:p>
          <a:p>
            <a:pPr marL="0" marR="0" indent="0" algn="l" defTabSz="914400" rtl="0" eaLnBrk="1" fontAlgn="auto" latinLnBrk="0" hangingPunct="1">
              <a:lnSpc>
                <a:spcPct val="100000"/>
              </a:lnSpc>
              <a:spcBef>
                <a:spcPts val="0"/>
              </a:spcBef>
              <a:spcAft>
                <a:spcPts val="0"/>
              </a:spcAft>
              <a:buClrTx/>
              <a:buSzTx/>
              <a:buFontTx/>
              <a:buNone/>
              <a:tabLst/>
              <a:defRPr/>
            </a:pPr>
            <a:r>
              <a:rPr lang="fr-FR" dirty="0" err="1"/>
              <a:t>Scikit-learn</a:t>
            </a:r>
            <a:r>
              <a:rPr lang="fr-FR" dirty="0"/>
              <a:t> : Librairie populaire pour faire le machine </a:t>
            </a:r>
            <a:r>
              <a:rPr lang="fr-FR" dirty="0" err="1"/>
              <a:t>learning</a:t>
            </a:r>
            <a:r>
              <a:rPr lang="fr-FR" dirty="0"/>
              <a:t>, comprend tous les modèles principaux.</a:t>
            </a:r>
          </a:p>
          <a:p>
            <a:endParaRPr lang="fr-FR" dirty="0"/>
          </a:p>
          <a:p>
            <a:r>
              <a:rPr lang="fr-FR" dirty="0"/>
              <a:t>Justification du</a:t>
            </a:r>
            <a:r>
              <a:rPr lang="fr-FR" baseline="0" dirty="0"/>
              <a:t> choix des algorithmes ? Algorithmes qui ressortent le plus à l'issue de la veille technique</a:t>
            </a:r>
            <a:endParaRPr lang="fr-FR" dirty="0"/>
          </a:p>
        </p:txBody>
      </p:sp>
      <p:sp>
        <p:nvSpPr>
          <p:cNvPr id="4" name="Espace réservé du numéro de diapositive 3"/>
          <p:cNvSpPr>
            <a:spLocks noGrp="1"/>
          </p:cNvSpPr>
          <p:nvPr>
            <p:ph type="sldNum" sz="quarter" idx="10"/>
          </p:nvPr>
        </p:nvSpPr>
        <p:spPr/>
        <p:txBody>
          <a:bodyPr/>
          <a:lstStyle/>
          <a:p>
            <a:fld id="{66AB49C7-41D5-4891-8EE8-309F74BEF086}" type="slidenum">
              <a:rPr lang="fr-FR" smtClean="0"/>
              <a:t>23</a:t>
            </a:fld>
            <a:endParaRPr lang="fr-FR"/>
          </a:p>
        </p:txBody>
      </p:sp>
    </p:spTree>
    <p:extLst>
      <p:ext uri="{BB962C8B-B14F-4D97-AF65-F5344CB8AC3E}">
        <p14:creationId xmlns:p14="http://schemas.microsoft.com/office/powerpoint/2010/main" val="167958782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Pour augmenter la certitude lorsqu’on prédit quelqu’un malade, il faut favoriser la précision.</a:t>
            </a:r>
          </a:p>
          <a:p>
            <a:r>
              <a:rPr lang="fr-FR" dirty="0"/>
              <a:t>Si on veut détecter plus facilement les positifs, il faut favoriser le rappel.</a:t>
            </a:r>
          </a:p>
          <a:p>
            <a:endParaRPr lang="fr-FR" dirty="0"/>
          </a:p>
          <a:p>
            <a:r>
              <a:rPr lang="fr-FR" dirty="0"/>
              <a:t>Explication du pipeline final : Les données d'entrées</a:t>
            </a:r>
            <a:r>
              <a:rPr lang="fr-FR" baseline="0" dirty="0"/>
              <a:t> du questionnaire vont subir un </a:t>
            </a:r>
            <a:r>
              <a:rPr lang="fr-FR" baseline="0" dirty="0" err="1"/>
              <a:t>preprocessing</a:t>
            </a:r>
            <a:r>
              <a:rPr lang="fr-FR" baseline="0" dirty="0"/>
              <a:t> (</a:t>
            </a:r>
            <a:r>
              <a:rPr lang="fr-FR" baseline="0" dirty="0" err="1"/>
              <a:t>ColumnTransformer</a:t>
            </a:r>
            <a:r>
              <a:rPr lang="fr-FR" baseline="0" dirty="0"/>
              <a:t>), puis passer dans le modèle, pour retourner la prédiction.</a:t>
            </a:r>
            <a:endParaRPr lang="fr-FR" dirty="0"/>
          </a:p>
        </p:txBody>
      </p:sp>
      <p:sp>
        <p:nvSpPr>
          <p:cNvPr id="4" name="Espace réservé du numéro de diapositive 3"/>
          <p:cNvSpPr>
            <a:spLocks noGrp="1"/>
          </p:cNvSpPr>
          <p:nvPr>
            <p:ph type="sldNum" sz="quarter" idx="10"/>
          </p:nvPr>
        </p:nvSpPr>
        <p:spPr/>
        <p:txBody>
          <a:bodyPr/>
          <a:lstStyle/>
          <a:p>
            <a:fld id="{66AB49C7-41D5-4891-8EE8-309F74BEF086}" type="slidenum">
              <a:rPr lang="fr-FR" smtClean="0"/>
              <a:t>24</a:t>
            </a:fld>
            <a:endParaRPr lang="fr-FR"/>
          </a:p>
        </p:txBody>
      </p:sp>
    </p:spTree>
    <p:extLst>
      <p:ext uri="{BB962C8B-B14F-4D97-AF65-F5344CB8AC3E}">
        <p14:creationId xmlns:p14="http://schemas.microsoft.com/office/powerpoint/2010/main" val="92949113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Pour augmenter la certitude lorsqu’on prédit quelqu’un malade, il faut favoriser la précision.</a:t>
            </a:r>
          </a:p>
          <a:p>
            <a:r>
              <a:rPr lang="fr-FR" dirty="0"/>
              <a:t>Si on veut détecter plus facilement les positifs, il faut favoriser le rappel.</a:t>
            </a:r>
          </a:p>
        </p:txBody>
      </p:sp>
      <p:sp>
        <p:nvSpPr>
          <p:cNvPr id="4" name="Espace réservé du numéro de diapositive 3"/>
          <p:cNvSpPr>
            <a:spLocks noGrp="1"/>
          </p:cNvSpPr>
          <p:nvPr>
            <p:ph type="sldNum" sz="quarter" idx="10"/>
          </p:nvPr>
        </p:nvSpPr>
        <p:spPr/>
        <p:txBody>
          <a:bodyPr/>
          <a:lstStyle/>
          <a:p>
            <a:fld id="{66AB49C7-41D5-4891-8EE8-309F74BEF086}" type="slidenum">
              <a:rPr lang="fr-FR" smtClean="0"/>
              <a:t>25</a:t>
            </a:fld>
            <a:endParaRPr lang="fr-FR"/>
          </a:p>
        </p:txBody>
      </p:sp>
    </p:spTree>
    <p:extLst>
      <p:ext uri="{BB962C8B-B14F-4D97-AF65-F5344CB8AC3E}">
        <p14:creationId xmlns:p14="http://schemas.microsoft.com/office/powerpoint/2010/main" val="370243738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indent="0">
              <a:buNone/>
            </a:pPr>
            <a:r>
              <a:rPr lang="fr-FR" sz="1200" dirty="0"/>
              <a:t>L’utilisateur doit pouvoir remplir un questionnaire</a:t>
            </a:r>
          </a:p>
          <a:p>
            <a:pPr marL="0" indent="0">
              <a:buNone/>
            </a:pPr>
            <a:r>
              <a:rPr lang="fr-FR" sz="1200" dirty="0"/>
              <a:t>L’application doit avoir une fonctionnalité de prédiction sur le questionnaire pour savoir si l’utilisateur a besoin d’un traitement</a:t>
            </a:r>
            <a:br>
              <a:rPr lang="fr-FR" sz="1200" dirty="0"/>
            </a:br>
            <a:r>
              <a:rPr lang="fr-FR" sz="1200" dirty="0"/>
              <a:t>Appel sur une API</a:t>
            </a:r>
          </a:p>
        </p:txBody>
      </p:sp>
      <p:sp>
        <p:nvSpPr>
          <p:cNvPr id="4" name="Espace réservé du numéro de diapositive 3"/>
          <p:cNvSpPr>
            <a:spLocks noGrp="1"/>
          </p:cNvSpPr>
          <p:nvPr>
            <p:ph type="sldNum" sz="quarter" idx="10"/>
          </p:nvPr>
        </p:nvSpPr>
        <p:spPr/>
        <p:txBody>
          <a:bodyPr/>
          <a:lstStyle/>
          <a:p>
            <a:fld id="{66AB49C7-41D5-4891-8EE8-309F74BEF086}" type="slidenum">
              <a:rPr lang="fr-FR" smtClean="0"/>
              <a:t>26</a:t>
            </a:fld>
            <a:endParaRPr lang="fr-FR"/>
          </a:p>
        </p:txBody>
      </p:sp>
    </p:spTree>
    <p:extLst>
      <p:ext uri="{BB962C8B-B14F-4D97-AF65-F5344CB8AC3E}">
        <p14:creationId xmlns:p14="http://schemas.microsoft.com/office/powerpoint/2010/main" val="287605546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dirty="0"/>
              <a:t>On veut une page de connexion utilisateur</a:t>
            </a:r>
          </a:p>
        </p:txBody>
      </p:sp>
      <p:sp>
        <p:nvSpPr>
          <p:cNvPr id="4" name="Espace réservé du numéro de diapositive 3"/>
          <p:cNvSpPr>
            <a:spLocks noGrp="1"/>
          </p:cNvSpPr>
          <p:nvPr>
            <p:ph type="sldNum" sz="quarter" idx="10"/>
          </p:nvPr>
        </p:nvSpPr>
        <p:spPr/>
        <p:txBody>
          <a:bodyPr/>
          <a:lstStyle/>
          <a:p>
            <a:fld id="{66AB49C7-41D5-4891-8EE8-309F74BEF086}" type="slidenum">
              <a:rPr lang="fr-FR" smtClean="0"/>
              <a:t>27</a:t>
            </a:fld>
            <a:endParaRPr lang="fr-FR"/>
          </a:p>
        </p:txBody>
      </p:sp>
    </p:spTree>
    <p:extLst>
      <p:ext uri="{BB962C8B-B14F-4D97-AF65-F5344CB8AC3E}">
        <p14:creationId xmlns:p14="http://schemas.microsoft.com/office/powerpoint/2010/main" val="335322560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a:t>Besoin d'enregistrer en base chaque questionnaire rempli, la prédiction associée, et l’utilisateur qui a remplit le questionnaire -&gt; BDD relationnelle SQLite</a:t>
            </a:r>
          </a:p>
          <a:p>
            <a:pPr marL="0" marR="0" indent="0" algn="l" defTabSz="914400" rtl="0" eaLnBrk="1" fontAlgn="auto" latinLnBrk="0" hangingPunct="1">
              <a:lnSpc>
                <a:spcPct val="100000"/>
              </a:lnSpc>
              <a:spcBef>
                <a:spcPts val="0"/>
              </a:spcBef>
              <a:spcAft>
                <a:spcPts val="0"/>
              </a:spcAft>
              <a:buClrTx/>
              <a:buSzTx/>
              <a:buFontTx/>
              <a:buNone/>
              <a:tabLst/>
              <a:defRPr/>
            </a:pPr>
            <a:endParaRPr lang="fr-FR" dirty="0"/>
          </a:p>
        </p:txBody>
      </p:sp>
      <p:sp>
        <p:nvSpPr>
          <p:cNvPr id="4" name="Espace réservé du numéro de diapositive 3"/>
          <p:cNvSpPr>
            <a:spLocks noGrp="1"/>
          </p:cNvSpPr>
          <p:nvPr>
            <p:ph type="sldNum" sz="quarter" idx="10"/>
          </p:nvPr>
        </p:nvSpPr>
        <p:spPr/>
        <p:txBody>
          <a:bodyPr/>
          <a:lstStyle/>
          <a:p>
            <a:fld id="{66AB49C7-41D5-4891-8EE8-309F74BEF086}" type="slidenum">
              <a:rPr lang="fr-FR" smtClean="0"/>
              <a:t>28</a:t>
            </a:fld>
            <a:endParaRPr lang="fr-FR"/>
          </a:p>
        </p:txBody>
      </p:sp>
    </p:spTree>
    <p:extLst>
      <p:ext uri="{BB962C8B-B14F-4D97-AF65-F5344CB8AC3E}">
        <p14:creationId xmlns:p14="http://schemas.microsoft.com/office/powerpoint/2010/main" val="282898110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1200" dirty="0"/>
              <a:t>Il y a une relation entre les tables donc on utilise une BDD relationnelle</a:t>
            </a:r>
            <a:endParaRPr lang="fr-FR" dirty="0"/>
          </a:p>
        </p:txBody>
      </p:sp>
      <p:sp>
        <p:nvSpPr>
          <p:cNvPr id="4" name="Espace réservé du numéro de diapositive 3"/>
          <p:cNvSpPr>
            <a:spLocks noGrp="1"/>
          </p:cNvSpPr>
          <p:nvPr>
            <p:ph type="sldNum" sz="quarter" idx="10"/>
          </p:nvPr>
        </p:nvSpPr>
        <p:spPr/>
        <p:txBody>
          <a:bodyPr/>
          <a:lstStyle/>
          <a:p>
            <a:fld id="{66AB49C7-41D5-4891-8EE8-309F74BEF086}" type="slidenum">
              <a:rPr lang="fr-FR" smtClean="0"/>
              <a:t>29</a:t>
            </a:fld>
            <a:endParaRPr lang="fr-FR"/>
          </a:p>
        </p:txBody>
      </p:sp>
    </p:spTree>
    <p:extLst>
      <p:ext uri="{BB962C8B-B14F-4D97-AF65-F5344CB8AC3E}">
        <p14:creationId xmlns:p14="http://schemas.microsoft.com/office/powerpoint/2010/main" val="40286716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fr-FR" dirty="0"/>
          </a:p>
        </p:txBody>
      </p:sp>
      <p:sp>
        <p:nvSpPr>
          <p:cNvPr id="4" name="Espace réservé du numéro de diapositive 3"/>
          <p:cNvSpPr>
            <a:spLocks noGrp="1"/>
          </p:cNvSpPr>
          <p:nvPr>
            <p:ph type="sldNum" sz="quarter" idx="10"/>
          </p:nvPr>
        </p:nvSpPr>
        <p:spPr/>
        <p:txBody>
          <a:bodyPr/>
          <a:lstStyle/>
          <a:p>
            <a:fld id="{66AB49C7-41D5-4891-8EE8-309F74BEF086}" type="slidenum">
              <a:rPr lang="fr-FR" smtClean="0"/>
              <a:t>30</a:t>
            </a:fld>
            <a:endParaRPr lang="fr-FR"/>
          </a:p>
        </p:txBody>
      </p:sp>
    </p:spTree>
    <p:extLst>
      <p:ext uri="{BB962C8B-B14F-4D97-AF65-F5344CB8AC3E}">
        <p14:creationId xmlns:p14="http://schemas.microsoft.com/office/powerpoint/2010/main" val="373465411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fr-FR" dirty="0"/>
          </a:p>
        </p:txBody>
      </p:sp>
      <p:sp>
        <p:nvSpPr>
          <p:cNvPr id="4" name="Espace réservé du numéro de diapositive 3"/>
          <p:cNvSpPr>
            <a:spLocks noGrp="1"/>
          </p:cNvSpPr>
          <p:nvPr>
            <p:ph type="sldNum" sz="quarter" idx="10"/>
          </p:nvPr>
        </p:nvSpPr>
        <p:spPr/>
        <p:txBody>
          <a:bodyPr/>
          <a:lstStyle/>
          <a:p>
            <a:fld id="{66AB49C7-41D5-4891-8EE8-309F74BEF086}" type="slidenum">
              <a:rPr lang="fr-FR" smtClean="0"/>
              <a:t>31</a:t>
            </a:fld>
            <a:endParaRPr lang="fr-FR"/>
          </a:p>
        </p:txBody>
      </p:sp>
    </p:spTree>
    <p:extLst>
      <p:ext uri="{BB962C8B-B14F-4D97-AF65-F5344CB8AC3E}">
        <p14:creationId xmlns:p14="http://schemas.microsoft.com/office/powerpoint/2010/main" val="300090416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66AB49C7-41D5-4891-8EE8-309F74BEF086}" type="slidenum">
              <a:rPr lang="fr-FR" smtClean="0"/>
              <a:t>32</a:t>
            </a:fld>
            <a:endParaRPr lang="fr-FR"/>
          </a:p>
        </p:txBody>
      </p:sp>
    </p:spTree>
    <p:extLst>
      <p:ext uri="{BB962C8B-B14F-4D97-AF65-F5344CB8AC3E}">
        <p14:creationId xmlns:p14="http://schemas.microsoft.com/office/powerpoint/2010/main" val="118379336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66AB49C7-41D5-4891-8EE8-309F74BEF086}" type="slidenum">
              <a:rPr lang="fr-FR" smtClean="0"/>
              <a:t>33</a:t>
            </a:fld>
            <a:endParaRPr lang="fr-FR"/>
          </a:p>
        </p:txBody>
      </p:sp>
    </p:spTree>
    <p:extLst>
      <p:ext uri="{BB962C8B-B14F-4D97-AF65-F5344CB8AC3E}">
        <p14:creationId xmlns:p14="http://schemas.microsoft.com/office/powerpoint/2010/main" val="271949697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1200" dirty="0"/>
              <a:t>Créer les tables à </a:t>
            </a:r>
            <a:r>
              <a:rPr lang="fr-FR" sz="1200" dirty="0" err="1"/>
              <a:t>pardu</a:t>
            </a:r>
            <a:r>
              <a:rPr lang="fr-FR" sz="1200" dirty="0"/>
              <a:t> script SQL obtenu à partir du MLD </a:t>
            </a:r>
            <a:r>
              <a:rPr lang="fr-FR" sz="1200" dirty="0" err="1"/>
              <a:t>Jmerise</a:t>
            </a:r>
            <a:endParaRPr lang="fr-FR" sz="1200" dirty="0"/>
          </a:p>
          <a:p>
            <a:pPr marL="0" marR="0" indent="0" algn="l" defTabSz="914400" rtl="0" eaLnBrk="1" fontAlgn="auto" latinLnBrk="0" hangingPunct="1">
              <a:lnSpc>
                <a:spcPct val="100000"/>
              </a:lnSpc>
              <a:spcBef>
                <a:spcPts val="0"/>
              </a:spcBef>
              <a:spcAft>
                <a:spcPts val="0"/>
              </a:spcAft>
              <a:buClrTx/>
              <a:buSzTx/>
              <a:buFontTx/>
              <a:buNone/>
              <a:tabLst/>
              <a:defRPr/>
            </a:pPr>
            <a:r>
              <a:rPr lang="fr-FR" sz="1200" dirty="0"/>
              <a:t>Tester des insertions à distance via l'API </a:t>
            </a:r>
            <a:r>
              <a:rPr lang="fr-FR" sz="1200" dirty="0" err="1"/>
              <a:t>FastAPI</a:t>
            </a:r>
            <a:endParaRPr lang="fr-FR" sz="1200" dirty="0"/>
          </a:p>
          <a:p>
            <a:pPr marL="0" marR="0" indent="0" algn="l" defTabSz="914400" rtl="0" eaLnBrk="1" fontAlgn="auto" latinLnBrk="0" hangingPunct="1">
              <a:lnSpc>
                <a:spcPct val="100000"/>
              </a:lnSpc>
              <a:spcBef>
                <a:spcPts val="0"/>
              </a:spcBef>
              <a:spcAft>
                <a:spcPts val="0"/>
              </a:spcAft>
              <a:buClrTx/>
              <a:buSzTx/>
              <a:buFontTx/>
              <a:buNone/>
              <a:tabLst/>
              <a:defRPr/>
            </a:pPr>
            <a:r>
              <a:rPr lang="fr-FR" sz="1200" dirty="0"/>
              <a:t>Imbriquer les insertions dans les tir fonctionnalités de l'API</a:t>
            </a:r>
          </a:p>
          <a:p>
            <a:pPr marL="0" marR="0" indent="0" algn="l" defTabSz="914400" rtl="0" eaLnBrk="1" fontAlgn="auto" latinLnBrk="0" hangingPunct="1">
              <a:lnSpc>
                <a:spcPct val="100000"/>
              </a:lnSpc>
              <a:spcBef>
                <a:spcPts val="0"/>
              </a:spcBef>
              <a:spcAft>
                <a:spcPts val="0"/>
              </a:spcAft>
              <a:buClrTx/>
              <a:buSzTx/>
              <a:buFontTx/>
              <a:buNone/>
              <a:tabLst/>
              <a:defRPr/>
            </a:pPr>
            <a:r>
              <a:rPr lang="fr-FR" sz="1200" dirty="0"/>
              <a:t>Tester la base sur l'application déployée</a:t>
            </a:r>
            <a:endParaRPr lang="fr-FR" dirty="0"/>
          </a:p>
        </p:txBody>
      </p:sp>
      <p:sp>
        <p:nvSpPr>
          <p:cNvPr id="4" name="Espace réservé du numéro de diapositive 3"/>
          <p:cNvSpPr>
            <a:spLocks noGrp="1"/>
          </p:cNvSpPr>
          <p:nvPr>
            <p:ph type="sldNum" sz="quarter" idx="10"/>
          </p:nvPr>
        </p:nvSpPr>
        <p:spPr/>
        <p:txBody>
          <a:bodyPr/>
          <a:lstStyle/>
          <a:p>
            <a:fld id="{66AB49C7-41D5-4891-8EE8-309F74BEF086}" type="slidenum">
              <a:rPr lang="fr-FR" smtClean="0"/>
              <a:t>34</a:t>
            </a:fld>
            <a:endParaRPr lang="fr-FR"/>
          </a:p>
        </p:txBody>
      </p:sp>
    </p:spTree>
    <p:extLst>
      <p:ext uri="{BB962C8B-B14F-4D97-AF65-F5344CB8AC3E}">
        <p14:creationId xmlns:p14="http://schemas.microsoft.com/office/powerpoint/2010/main" val="152619052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1200" dirty="0"/>
              <a:t>Créer les tables à </a:t>
            </a:r>
            <a:r>
              <a:rPr lang="fr-FR" sz="1200" dirty="0" err="1"/>
              <a:t>pardu</a:t>
            </a:r>
            <a:r>
              <a:rPr lang="fr-FR" sz="1200" dirty="0"/>
              <a:t> script SQL obtenu à partir du MLD </a:t>
            </a:r>
            <a:r>
              <a:rPr lang="fr-FR" sz="1200" dirty="0" err="1"/>
              <a:t>Jmerise</a:t>
            </a:r>
            <a:endParaRPr lang="fr-FR" sz="1200" dirty="0"/>
          </a:p>
          <a:p>
            <a:pPr marL="0" marR="0" indent="0" algn="l" defTabSz="914400" rtl="0" eaLnBrk="1" fontAlgn="auto" latinLnBrk="0" hangingPunct="1">
              <a:lnSpc>
                <a:spcPct val="100000"/>
              </a:lnSpc>
              <a:spcBef>
                <a:spcPts val="0"/>
              </a:spcBef>
              <a:spcAft>
                <a:spcPts val="0"/>
              </a:spcAft>
              <a:buClrTx/>
              <a:buSzTx/>
              <a:buFontTx/>
              <a:buNone/>
              <a:tabLst/>
              <a:defRPr/>
            </a:pPr>
            <a:r>
              <a:rPr lang="fr-FR" sz="1200" dirty="0"/>
              <a:t>Tester des insertions à distance via l'API </a:t>
            </a:r>
            <a:r>
              <a:rPr lang="fr-FR" sz="1200" dirty="0" err="1"/>
              <a:t>FastAPI</a:t>
            </a:r>
            <a:endParaRPr lang="fr-FR" sz="1200" dirty="0"/>
          </a:p>
          <a:p>
            <a:pPr marL="0" marR="0" indent="0" algn="l" defTabSz="914400" rtl="0" eaLnBrk="1" fontAlgn="auto" latinLnBrk="0" hangingPunct="1">
              <a:lnSpc>
                <a:spcPct val="100000"/>
              </a:lnSpc>
              <a:spcBef>
                <a:spcPts val="0"/>
              </a:spcBef>
              <a:spcAft>
                <a:spcPts val="0"/>
              </a:spcAft>
              <a:buClrTx/>
              <a:buSzTx/>
              <a:buFontTx/>
              <a:buNone/>
              <a:tabLst/>
              <a:defRPr/>
            </a:pPr>
            <a:r>
              <a:rPr lang="fr-FR" sz="1200" dirty="0"/>
              <a:t>Imbriquer les insertions dans les tir fonctionnalités de l'API</a:t>
            </a:r>
          </a:p>
          <a:p>
            <a:pPr marL="0" marR="0" indent="0" algn="l" defTabSz="914400" rtl="0" eaLnBrk="1" fontAlgn="auto" latinLnBrk="0" hangingPunct="1">
              <a:lnSpc>
                <a:spcPct val="100000"/>
              </a:lnSpc>
              <a:spcBef>
                <a:spcPts val="0"/>
              </a:spcBef>
              <a:spcAft>
                <a:spcPts val="0"/>
              </a:spcAft>
              <a:buClrTx/>
              <a:buSzTx/>
              <a:buFontTx/>
              <a:buNone/>
              <a:tabLst/>
              <a:defRPr/>
            </a:pPr>
            <a:r>
              <a:rPr lang="fr-FR" sz="1200" dirty="0"/>
              <a:t>Tester la base sur l'application déployée</a:t>
            </a:r>
            <a:endParaRPr lang="fr-FR" dirty="0"/>
          </a:p>
        </p:txBody>
      </p:sp>
      <p:sp>
        <p:nvSpPr>
          <p:cNvPr id="4" name="Espace réservé du numéro de diapositive 3"/>
          <p:cNvSpPr>
            <a:spLocks noGrp="1"/>
          </p:cNvSpPr>
          <p:nvPr>
            <p:ph type="sldNum" sz="quarter" idx="10"/>
          </p:nvPr>
        </p:nvSpPr>
        <p:spPr/>
        <p:txBody>
          <a:bodyPr/>
          <a:lstStyle/>
          <a:p>
            <a:fld id="{66AB49C7-41D5-4891-8EE8-309F74BEF086}" type="slidenum">
              <a:rPr lang="fr-FR" smtClean="0"/>
              <a:t>35</a:t>
            </a:fld>
            <a:endParaRPr lang="fr-FR"/>
          </a:p>
        </p:txBody>
      </p:sp>
    </p:spTree>
    <p:extLst>
      <p:ext uri="{BB962C8B-B14F-4D97-AF65-F5344CB8AC3E}">
        <p14:creationId xmlns:p14="http://schemas.microsoft.com/office/powerpoint/2010/main" val="28600028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1200" dirty="0"/>
              <a:t>L'application peut fonctionner sans le code</a:t>
            </a:r>
          </a:p>
          <a:p>
            <a:pPr marL="0" marR="0" indent="0" algn="l" defTabSz="914400" rtl="0" eaLnBrk="1" fontAlgn="auto" latinLnBrk="0" hangingPunct="1">
              <a:lnSpc>
                <a:spcPct val="100000"/>
              </a:lnSpc>
              <a:spcBef>
                <a:spcPts val="0"/>
              </a:spcBef>
              <a:spcAft>
                <a:spcPts val="0"/>
              </a:spcAft>
              <a:buClrTx/>
              <a:buSzTx/>
              <a:buFontTx/>
              <a:buNone/>
              <a:tabLst/>
              <a:defRPr/>
            </a:pPr>
            <a:endParaRPr lang="fr-FR" dirty="0"/>
          </a:p>
        </p:txBody>
      </p:sp>
      <p:sp>
        <p:nvSpPr>
          <p:cNvPr id="4" name="Espace réservé du numéro de diapositive 3"/>
          <p:cNvSpPr>
            <a:spLocks noGrp="1"/>
          </p:cNvSpPr>
          <p:nvPr>
            <p:ph type="sldNum" sz="quarter" idx="10"/>
          </p:nvPr>
        </p:nvSpPr>
        <p:spPr/>
        <p:txBody>
          <a:bodyPr/>
          <a:lstStyle/>
          <a:p>
            <a:fld id="{66AB49C7-41D5-4891-8EE8-309F74BEF086}" type="slidenum">
              <a:rPr lang="fr-FR" smtClean="0"/>
              <a:t>36</a:t>
            </a:fld>
            <a:endParaRPr lang="fr-FR"/>
          </a:p>
        </p:txBody>
      </p:sp>
    </p:spTree>
    <p:extLst>
      <p:ext uri="{BB962C8B-B14F-4D97-AF65-F5344CB8AC3E}">
        <p14:creationId xmlns:p14="http://schemas.microsoft.com/office/powerpoint/2010/main" val="289403730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1200" dirty="0"/>
              <a:t>Créer les tables à </a:t>
            </a:r>
            <a:r>
              <a:rPr lang="fr-FR" sz="1200" dirty="0" err="1"/>
              <a:t>pardu</a:t>
            </a:r>
            <a:r>
              <a:rPr lang="fr-FR" sz="1200" dirty="0"/>
              <a:t> script SQL obtenu à partir du MLD </a:t>
            </a:r>
            <a:r>
              <a:rPr lang="fr-FR" sz="1200" dirty="0" err="1"/>
              <a:t>Jmerise</a:t>
            </a:r>
            <a:endParaRPr lang="fr-FR" sz="1200" dirty="0"/>
          </a:p>
          <a:p>
            <a:pPr marL="0" marR="0" indent="0" algn="l" defTabSz="914400" rtl="0" eaLnBrk="1" fontAlgn="auto" latinLnBrk="0" hangingPunct="1">
              <a:lnSpc>
                <a:spcPct val="100000"/>
              </a:lnSpc>
              <a:spcBef>
                <a:spcPts val="0"/>
              </a:spcBef>
              <a:spcAft>
                <a:spcPts val="0"/>
              </a:spcAft>
              <a:buClrTx/>
              <a:buSzTx/>
              <a:buFontTx/>
              <a:buNone/>
              <a:tabLst/>
              <a:defRPr/>
            </a:pPr>
            <a:r>
              <a:rPr lang="fr-FR" sz="1200" dirty="0"/>
              <a:t>Tester des insertions à distance via l'API </a:t>
            </a:r>
            <a:r>
              <a:rPr lang="fr-FR" sz="1200" dirty="0" err="1"/>
              <a:t>FastAPI</a:t>
            </a:r>
            <a:endParaRPr lang="fr-FR" sz="1200" dirty="0"/>
          </a:p>
          <a:p>
            <a:pPr marL="0" marR="0" indent="0" algn="l" defTabSz="914400" rtl="0" eaLnBrk="1" fontAlgn="auto" latinLnBrk="0" hangingPunct="1">
              <a:lnSpc>
                <a:spcPct val="100000"/>
              </a:lnSpc>
              <a:spcBef>
                <a:spcPts val="0"/>
              </a:spcBef>
              <a:spcAft>
                <a:spcPts val="0"/>
              </a:spcAft>
              <a:buClrTx/>
              <a:buSzTx/>
              <a:buFontTx/>
              <a:buNone/>
              <a:tabLst/>
              <a:defRPr/>
            </a:pPr>
            <a:r>
              <a:rPr lang="fr-FR" sz="1200" dirty="0"/>
              <a:t>Imbriquer les insertions dans les tir fonctionnalités de l'API</a:t>
            </a:r>
          </a:p>
          <a:p>
            <a:pPr marL="0" marR="0" indent="0" algn="l" defTabSz="914400" rtl="0" eaLnBrk="1" fontAlgn="auto" latinLnBrk="0" hangingPunct="1">
              <a:lnSpc>
                <a:spcPct val="100000"/>
              </a:lnSpc>
              <a:spcBef>
                <a:spcPts val="0"/>
              </a:spcBef>
              <a:spcAft>
                <a:spcPts val="0"/>
              </a:spcAft>
              <a:buClrTx/>
              <a:buSzTx/>
              <a:buFontTx/>
              <a:buNone/>
              <a:tabLst/>
              <a:defRPr/>
            </a:pPr>
            <a:r>
              <a:rPr lang="fr-FR" sz="1200" dirty="0"/>
              <a:t>Tester la base sur l'application déployée</a:t>
            </a:r>
            <a:endParaRPr lang="fr-FR" dirty="0"/>
          </a:p>
        </p:txBody>
      </p:sp>
      <p:sp>
        <p:nvSpPr>
          <p:cNvPr id="4" name="Espace réservé du numéro de diapositive 3"/>
          <p:cNvSpPr>
            <a:spLocks noGrp="1"/>
          </p:cNvSpPr>
          <p:nvPr>
            <p:ph type="sldNum" sz="quarter" idx="10"/>
          </p:nvPr>
        </p:nvSpPr>
        <p:spPr/>
        <p:txBody>
          <a:bodyPr/>
          <a:lstStyle/>
          <a:p>
            <a:fld id="{66AB49C7-41D5-4891-8EE8-309F74BEF086}" type="slidenum">
              <a:rPr lang="fr-FR" smtClean="0"/>
              <a:t>37</a:t>
            </a:fld>
            <a:endParaRPr lang="fr-FR"/>
          </a:p>
        </p:txBody>
      </p:sp>
    </p:spTree>
    <p:extLst>
      <p:ext uri="{BB962C8B-B14F-4D97-AF65-F5344CB8AC3E}">
        <p14:creationId xmlns:p14="http://schemas.microsoft.com/office/powerpoint/2010/main" val="179617024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1200" dirty="0"/>
              <a:t>Créer les tables à </a:t>
            </a:r>
            <a:r>
              <a:rPr lang="fr-FR" sz="1200" dirty="0" err="1"/>
              <a:t>pardu</a:t>
            </a:r>
            <a:r>
              <a:rPr lang="fr-FR" sz="1200" dirty="0"/>
              <a:t> script SQL obtenu à partir du MLD </a:t>
            </a:r>
            <a:r>
              <a:rPr lang="fr-FR" sz="1200" dirty="0" err="1"/>
              <a:t>Jmerise</a:t>
            </a:r>
            <a:endParaRPr lang="fr-FR" sz="1200" dirty="0"/>
          </a:p>
          <a:p>
            <a:pPr marL="0" marR="0" indent="0" algn="l" defTabSz="914400" rtl="0" eaLnBrk="1" fontAlgn="auto" latinLnBrk="0" hangingPunct="1">
              <a:lnSpc>
                <a:spcPct val="100000"/>
              </a:lnSpc>
              <a:spcBef>
                <a:spcPts val="0"/>
              </a:spcBef>
              <a:spcAft>
                <a:spcPts val="0"/>
              </a:spcAft>
              <a:buClrTx/>
              <a:buSzTx/>
              <a:buFontTx/>
              <a:buNone/>
              <a:tabLst/>
              <a:defRPr/>
            </a:pPr>
            <a:r>
              <a:rPr lang="fr-FR" sz="1200" dirty="0"/>
              <a:t>Tester des insertions à distance via l'API </a:t>
            </a:r>
            <a:r>
              <a:rPr lang="fr-FR" sz="1200" dirty="0" err="1"/>
              <a:t>FastAPI</a:t>
            </a:r>
            <a:endParaRPr lang="fr-FR" sz="1200" dirty="0"/>
          </a:p>
          <a:p>
            <a:pPr marL="0" marR="0" indent="0" algn="l" defTabSz="914400" rtl="0" eaLnBrk="1" fontAlgn="auto" latinLnBrk="0" hangingPunct="1">
              <a:lnSpc>
                <a:spcPct val="100000"/>
              </a:lnSpc>
              <a:spcBef>
                <a:spcPts val="0"/>
              </a:spcBef>
              <a:spcAft>
                <a:spcPts val="0"/>
              </a:spcAft>
              <a:buClrTx/>
              <a:buSzTx/>
              <a:buFontTx/>
              <a:buNone/>
              <a:tabLst/>
              <a:defRPr/>
            </a:pPr>
            <a:r>
              <a:rPr lang="fr-FR" sz="1200" dirty="0"/>
              <a:t>Imbriquer les insertions dans les tir fonctionnalités de l'API</a:t>
            </a:r>
          </a:p>
          <a:p>
            <a:pPr marL="0" marR="0" indent="0" algn="l" defTabSz="914400" rtl="0" eaLnBrk="1" fontAlgn="auto" latinLnBrk="0" hangingPunct="1">
              <a:lnSpc>
                <a:spcPct val="100000"/>
              </a:lnSpc>
              <a:spcBef>
                <a:spcPts val="0"/>
              </a:spcBef>
              <a:spcAft>
                <a:spcPts val="0"/>
              </a:spcAft>
              <a:buClrTx/>
              <a:buSzTx/>
              <a:buFontTx/>
              <a:buNone/>
              <a:tabLst/>
              <a:defRPr/>
            </a:pPr>
            <a:r>
              <a:rPr lang="fr-FR" sz="1200" dirty="0"/>
              <a:t>Tester la base sur l'application déployée</a:t>
            </a:r>
            <a:endParaRPr lang="fr-FR" dirty="0"/>
          </a:p>
        </p:txBody>
      </p:sp>
      <p:sp>
        <p:nvSpPr>
          <p:cNvPr id="4" name="Espace réservé du numéro de diapositive 3"/>
          <p:cNvSpPr>
            <a:spLocks noGrp="1"/>
          </p:cNvSpPr>
          <p:nvPr>
            <p:ph type="sldNum" sz="quarter" idx="10"/>
          </p:nvPr>
        </p:nvSpPr>
        <p:spPr/>
        <p:txBody>
          <a:bodyPr/>
          <a:lstStyle/>
          <a:p>
            <a:fld id="{66AB49C7-41D5-4891-8EE8-309F74BEF086}" type="slidenum">
              <a:rPr lang="fr-FR" smtClean="0"/>
              <a:t>38</a:t>
            </a:fld>
            <a:endParaRPr lang="fr-FR"/>
          </a:p>
        </p:txBody>
      </p:sp>
    </p:spTree>
    <p:extLst>
      <p:ext uri="{BB962C8B-B14F-4D97-AF65-F5344CB8AC3E}">
        <p14:creationId xmlns:p14="http://schemas.microsoft.com/office/powerpoint/2010/main" val="334190407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1200" dirty="0"/>
              <a:t>Créer les tables à </a:t>
            </a:r>
            <a:r>
              <a:rPr lang="fr-FR" sz="1200" dirty="0" err="1"/>
              <a:t>pardu</a:t>
            </a:r>
            <a:r>
              <a:rPr lang="fr-FR" sz="1200" dirty="0"/>
              <a:t> script SQL obtenu à partir du MLD </a:t>
            </a:r>
            <a:r>
              <a:rPr lang="fr-FR" sz="1200" dirty="0" err="1"/>
              <a:t>Jmerise</a:t>
            </a:r>
            <a:endParaRPr lang="fr-FR" sz="1200" dirty="0"/>
          </a:p>
          <a:p>
            <a:pPr marL="0" marR="0" indent="0" algn="l" defTabSz="914400" rtl="0" eaLnBrk="1" fontAlgn="auto" latinLnBrk="0" hangingPunct="1">
              <a:lnSpc>
                <a:spcPct val="100000"/>
              </a:lnSpc>
              <a:spcBef>
                <a:spcPts val="0"/>
              </a:spcBef>
              <a:spcAft>
                <a:spcPts val="0"/>
              </a:spcAft>
              <a:buClrTx/>
              <a:buSzTx/>
              <a:buFontTx/>
              <a:buNone/>
              <a:tabLst/>
              <a:defRPr/>
            </a:pPr>
            <a:r>
              <a:rPr lang="fr-FR" sz="1200" dirty="0"/>
              <a:t>Tester des insertions à distance via l'API </a:t>
            </a:r>
            <a:r>
              <a:rPr lang="fr-FR" sz="1200" dirty="0" err="1"/>
              <a:t>FastAPI</a:t>
            </a:r>
            <a:endParaRPr lang="fr-FR" sz="1200" dirty="0"/>
          </a:p>
          <a:p>
            <a:pPr marL="0" marR="0" indent="0" algn="l" defTabSz="914400" rtl="0" eaLnBrk="1" fontAlgn="auto" latinLnBrk="0" hangingPunct="1">
              <a:lnSpc>
                <a:spcPct val="100000"/>
              </a:lnSpc>
              <a:spcBef>
                <a:spcPts val="0"/>
              </a:spcBef>
              <a:spcAft>
                <a:spcPts val="0"/>
              </a:spcAft>
              <a:buClrTx/>
              <a:buSzTx/>
              <a:buFontTx/>
              <a:buNone/>
              <a:tabLst/>
              <a:defRPr/>
            </a:pPr>
            <a:r>
              <a:rPr lang="fr-FR" sz="1200" dirty="0"/>
              <a:t>Imbriquer les insertions dans les tir fonctionnalités de l'API</a:t>
            </a:r>
          </a:p>
          <a:p>
            <a:pPr marL="0" marR="0" indent="0" algn="l" defTabSz="914400" rtl="0" eaLnBrk="1" fontAlgn="auto" latinLnBrk="0" hangingPunct="1">
              <a:lnSpc>
                <a:spcPct val="100000"/>
              </a:lnSpc>
              <a:spcBef>
                <a:spcPts val="0"/>
              </a:spcBef>
              <a:spcAft>
                <a:spcPts val="0"/>
              </a:spcAft>
              <a:buClrTx/>
              <a:buSzTx/>
              <a:buFontTx/>
              <a:buNone/>
              <a:tabLst/>
              <a:defRPr/>
            </a:pPr>
            <a:r>
              <a:rPr lang="fr-FR" sz="1200" dirty="0"/>
              <a:t>Tester la base sur l'application déployée</a:t>
            </a:r>
            <a:endParaRPr lang="fr-FR" dirty="0"/>
          </a:p>
        </p:txBody>
      </p:sp>
      <p:sp>
        <p:nvSpPr>
          <p:cNvPr id="4" name="Espace réservé du numéro de diapositive 3"/>
          <p:cNvSpPr>
            <a:spLocks noGrp="1"/>
          </p:cNvSpPr>
          <p:nvPr>
            <p:ph type="sldNum" sz="quarter" idx="10"/>
          </p:nvPr>
        </p:nvSpPr>
        <p:spPr/>
        <p:txBody>
          <a:bodyPr/>
          <a:lstStyle/>
          <a:p>
            <a:fld id="{66AB49C7-41D5-4891-8EE8-309F74BEF086}" type="slidenum">
              <a:rPr lang="fr-FR" smtClean="0"/>
              <a:t>39</a:t>
            </a:fld>
            <a:endParaRPr lang="fr-FR"/>
          </a:p>
        </p:txBody>
      </p:sp>
    </p:spTree>
    <p:extLst>
      <p:ext uri="{BB962C8B-B14F-4D97-AF65-F5344CB8AC3E}">
        <p14:creationId xmlns:p14="http://schemas.microsoft.com/office/powerpoint/2010/main" val="374274704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1200" dirty="0"/>
              <a:t>Créer les tables à </a:t>
            </a:r>
            <a:r>
              <a:rPr lang="fr-FR" sz="1200" dirty="0" err="1"/>
              <a:t>pardu</a:t>
            </a:r>
            <a:r>
              <a:rPr lang="fr-FR" sz="1200" dirty="0"/>
              <a:t> script SQL obtenu à partir du MLD </a:t>
            </a:r>
            <a:r>
              <a:rPr lang="fr-FR" sz="1200" dirty="0" err="1"/>
              <a:t>Jmerise</a:t>
            </a:r>
            <a:endParaRPr lang="fr-FR" sz="1200" dirty="0"/>
          </a:p>
          <a:p>
            <a:pPr marL="0" marR="0" indent="0" algn="l" defTabSz="914400" rtl="0" eaLnBrk="1" fontAlgn="auto" latinLnBrk="0" hangingPunct="1">
              <a:lnSpc>
                <a:spcPct val="100000"/>
              </a:lnSpc>
              <a:spcBef>
                <a:spcPts val="0"/>
              </a:spcBef>
              <a:spcAft>
                <a:spcPts val="0"/>
              </a:spcAft>
              <a:buClrTx/>
              <a:buSzTx/>
              <a:buFontTx/>
              <a:buNone/>
              <a:tabLst/>
              <a:defRPr/>
            </a:pPr>
            <a:r>
              <a:rPr lang="fr-FR" sz="1200" dirty="0"/>
              <a:t>Tester des insertions à distance via l'API </a:t>
            </a:r>
            <a:r>
              <a:rPr lang="fr-FR" sz="1200" dirty="0" err="1"/>
              <a:t>FastAPI</a:t>
            </a:r>
            <a:endParaRPr lang="fr-FR" sz="1200" dirty="0"/>
          </a:p>
          <a:p>
            <a:pPr marL="0" marR="0" indent="0" algn="l" defTabSz="914400" rtl="0" eaLnBrk="1" fontAlgn="auto" latinLnBrk="0" hangingPunct="1">
              <a:lnSpc>
                <a:spcPct val="100000"/>
              </a:lnSpc>
              <a:spcBef>
                <a:spcPts val="0"/>
              </a:spcBef>
              <a:spcAft>
                <a:spcPts val="0"/>
              </a:spcAft>
              <a:buClrTx/>
              <a:buSzTx/>
              <a:buFontTx/>
              <a:buNone/>
              <a:tabLst/>
              <a:defRPr/>
            </a:pPr>
            <a:r>
              <a:rPr lang="fr-FR" sz="1200" dirty="0"/>
              <a:t>Imbriquer les insertions dans les tir fonctionnalités de l'API</a:t>
            </a:r>
          </a:p>
          <a:p>
            <a:pPr marL="0" marR="0" indent="0" algn="l" defTabSz="914400" rtl="0" eaLnBrk="1" fontAlgn="auto" latinLnBrk="0" hangingPunct="1">
              <a:lnSpc>
                <a:spcPct val="100000"/>
              </a:lnSpc>
              <a:spcBef>
                <a:spcPts val="0"/>
              </a:spcBef>
              <a:spcAft>
                <a:spcPts val="0"/>
              </a:spcAft>
              <a:buClrTx/>
              <a:buSzTx/>
              <a:buFontTx/>
              <a:buNone/>
              <a:tabLst/>
              <a:defRPr/>
            </a:pPr>
            <a:r>
              <a:rPr lang="fr-FR" sz="1200" dirty="0"/>
              <a:t>Tester la base sur l'application déployée</a:t>
            </a:r>
            <a:endParaRPr lang="fr-FR" dirty="0"/>
          </a:p>
        </p:txBody>
      </p:sp>
      <p:sp>
        <p:nvSpPr>
          <p:cNvPr id="4" name="Espace réservé du numéro de diapositive 3"/>
          <p:cNvSpPr>
            <a:spLocks noGrp="1"/>
          </p:cNvSpPr>
          <p:nvPr>
            <p:ph type="sldNum" sz="quarter" idx="10"/>
          </p:nvPr>
        </p:nvSpPr>
        <p:spPr/>
        <p:txBody>
          <a:bodyPr/>
          <a:lstStyle/>
          <a:p>
            <a:fld id="{66AB49C7-41D5-4891-8EE8-309F74BEF086}" type="slidenum">
              <a:rPr lang="fr-FR" smtClean="0"/>
              <a:t>40</a:t>
            </a:fld>
            <a:endParaRPr lang="fr-FR"/>
          </a:p>
        </p:txBody>
      </p:sp>
    </p:spTree>
    <p:extLst>
      <p:ext uri="{BB962C8B-B14F-4D97-AF65-F5344CB8AC3E}">
        <p14:creationId xmlns:p14="http://schemas.microsoft.com/office/powerpoint/2010/main" val="19910202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20429FB-3793-ADC8-FCF5-3369A7707DD1}"/>
              </a:ext>
            </a:extLst>
          </p:cNvPr>
          <p:cNvSpPr>
            <a:spLocks noGrp="1"/>
          </p:cNvSpPr>
          <p:nvPr>
            <p:ph type="ctrTitle"/>
          </p:nvPr>
        </p:nvSpPr>
        <p:spPr>
          <a:xfrm>
            <a:off x="1524000" y="1122363"/>
            <a:ext cx="9144000" cy="2387600"/>
          </a:xfrm>
        </p:spPr>
        <p:txBody>
          <a:bodyPr anchor="b"/>
          <a:lstStyle>
            <a:lvl1pPr algn="ctr">
              <a:defRPr sz="6000"/>
            </a:lvl1pPr>
          </a:lstStyle>
          <a:p>
            <a:r>
              <a:rPr lang="fr-FR" dirty="0"/>
              <a:t>Modifiez le style du titre</a:t>
            </a:r>
          </a:p>
        </p:txBody>
      </p:sp>
      <p:sp>
        <p:nvSpPr>
          <p:cNvPr id="3" name="Sous-titre 2">
            <a:extLst>
              <a:ext uri="{FF2B5EF4-FFF2-40B4-BE49-F238E27FC236}">
                <a16:creationId xmlns:a16="http://schemas.microsoft.com/office/drawing/2014/main" id="{AAC2E294-74D7-32D1-449A-2D4DB803452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dirty="0"/>
              <a:t>Modifiez le style des sous-titres du masque</a:t>
            </a:r>
          </a:p>
        </p:txBody>
      </p:sp>
      <p:sp>
        <p:nvSpPr>
          <p:cNvPr id="4" name="Espace réservé de la date 3">
            <a:extLst>
              <a:ext uri="{FF2B5EF4-FFF2-40B4-BE49-F238E27FC236}">
                <a16:creationId xmlns:a16="http://schemas.microsoft.com/office/drawing/2014/main" id="{70E5441F-10A7-27CA-E8FF-52FF905D1B31}"/>
              </a:ext>
            </a:extLst>
          </p:cNvPr>
          <p:cNvSpPr>
            <a:spLocks noGrp="1"/>
          </p:cNvSpPr>
          <p:nvPr>
            <p:ph type="dt" sz="half" idx="10"/>
          </p:nvPr>
        </p:nvSpPr>
        <p:spPr/>
        <p:txBody>
          <a:bodyPr/>
          <a:lstStyle/>
          <a:p>
            <a:fld id="{030A0348-A3C9-4805-B27F-CC97A10C8170}" type="datetime1">
              <a:rPr lang="fr-FR" smtClean="0"/>
              <a:t>29/05/2024</a:t>
            </a:fld>
            <a:endParaRPr lang="fr-FR"/>
          </a:p>
        </p:txBody>
      </p:sp>
      <p:sp>
        <p:nvSpPr>
          <p:cNvPr id="5" name="Espace réservé du pied de page 4">
            <a:extLst>
              <a:ext uri="{FF2B5EF4-FFF2-40B4-BE49-F238E27FC236}">
                <a16:creationId xmlns:a16="http://schemas.microsoft.com/office/drawing/2014/main" id="{40789B19-3C0D-52CA-2E58-92DA5C3641F6}"/>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3365B0A3-0690-628D-96CB-F374104DC0B6}"/>
              </a:ext>
            </a:extLst>
          </p:cNvPr>
          <p:cNvSpPr>
            <a:spLocks noGrp="1"/>
          </p:cNvSpPr>
          <p:nvPr>
            <p:ph type="sldNum" sz="quarter" idx="12"/>
          </p:nvPr>
        </p:nvSpPr>
        <p:spPr/>
        <p:txBody>
          <a:bodyPr/>
          <a:lstStyle/>
          <a:p>
            <a:fld id="{BA06AB71-0B36-4B80-B991-039F7D68F8CB}" type="slidenum">
              <a:rPr lang="fr-FR" smtClean="0"/>
              <a:t>‹N°›</a:t>
            </a:fld>
            <a:endParaRPr lang="fr-FR"/>
          </a:p>
        </p:txBody>
      </p:sp>
    </p:spTree>
    <p:extLst>
      <p:ext uri="{BB962C8B-B14F-4D97-AF65-F5344CB8AC3E}">
        <p14:creationId xmlns:p14="http://schemas.microsoft.com/office/powerpoint/2010/main" val="28616357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D580FE7-6ACB-AC02-5753-1D67A27BD9F1}"/>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F321F852-ADCC-8449-A10D-AB044A539D4F}"/>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F3D6B484-4B58-112B-D9A7-A507332A7AF6}"/>
              </a:ext>
            </a:extLst>
          </p:cNvPr>
          <p:cNvSpPr>
            <a:spLocks noGrp="1"/>
          </p:cNvSpPr>
          <p:nvPr>
            <p:ph type="dt" sz="half" idx="10"/>
          </p:nvPr>
        </p:nvSpPr>
        <p:spPr/>
        <p:txBody>
          <a:bodyPr/>
          <a:lstStyle/>
          <a:p>
            <a:fld id="{4D7887B7-81BD-45F0-97E4-4FE1D12A0B8E}" type="datetime1">
              <a:rPr lang="fr-FR" smtClean="0"/>
              <a:t>29/05/2024</a:t>
            </a:fld>
            <a:endParaRPr lang="fr-FR"/>
          </a:p>
        </p:txBody>
      </p:sp>
      <p:sp>
        <p:nvSpPr>
          <p:cNvPr id="5" name="Espace réservé du pied de page 4">
            <a:extLst>
              <a:ext uri="{FF2B5EF4-FFF2-40B4-BE49-F238E27FC236}">
                <a16:creationId xmlns:a16="http://schemas.microsoft.com/office/drawing/2014/main" id="{B040F6B7-79F4-BC04-C476-50DEB7FCD346}"/>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7DDB285C-939E-F492-EFF3-8855C31D4F15}"/>
              </a:ext>
            </a:extLst>
          </p:cNvPr>
          <p:cNvSpPr>
            <a:spLocks noGrp="1"/>
          </p:cNvSpPr>
          <p:nvPr>
            <p:ph type="sldNum" sz="quarter" idx="12"/>
          </p:nvPr>
        </p:nvSpPr>
        <p:spPr/>
        <p:txBody>
          <a:bodyPr/>
          <a:lstStyle/>
          <a:p>
            <a:fld id="{BA06AB71-0B36-4B80-B991-039F7D68F8CB}" type="slidenum">
              <a:rPr lang="fr-FR" smtClean="0"/>
              <a:t>‹N°›</a:t>
            </a:fld>
            <a:endParaRPr lang="fr-FR"/>
          </a:p>
        </p:txBody>
      </p:sp>
    </p:spTree>
    <p:extLst>
      <p:ext uri="{BB962C8B-B14F-4D97-AF65-F5344CB8AC3E}">
        <p14:creationId xmlns:p14="http://schemas.microsoft.com/office/powerpoint/2010/main" val="39716905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35409B9-80BE-5F51-E6EC-093EE1D84378}"/>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89626957-FFEE-FAE1-EAB4-06B6C911E08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A32E5401-C6D0-39C6-68A9-0065DA08911D}"/>
              </a:ext>
            </a:extLst>
          </p:cNvPr>
          <p:cNvSpPr>
            <a:spLocks noGrp="1"/>
          </p:cNvSpPr>
          <p:nvPr>
            <p:ph type="dt" sz="half" idx="10"/>
          </p:nvPr>
        </p:nvSpPr>
        <p:spPr/>
        <p:txBody>
          <a:bodyPr/>
          <a:lstStyle/>
          <a:p>
            <a:fld id="{065B97D9-FE67-452A-817F-E159775EC87A}" type="datetime1">
              <a:rPr lang="fr-FR" smtClean="0"/>
              <a:t>29/05/2024</a:t>
            </a:fld>
            <a:endParaRPr lang="fr-FR"/>
          </a:p>
        </p:txBody>
      </p:sp>
      <p:sp>
        <p:nvSpPr>
          <p:cNvPr id="5" name="Espace réservé du pied de page 4">
            <a:extLst>
              <a:ext uri="{FF2B5EF4-FFF2-40B4-BE49-F238E27FC236}">
                <a16:creationId xmlns:a16="http://schemas.microsoft.com/office/drawing/2014/main" id="{CF43827E-18E5-BF2A-9E71-71F9AF717B35}"/>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DEE15B19-53C5-287D-5BEC-8321A966932C}"/>
              </a:ext>
            </a:extLst>
          </p:cNvPr>
          <p:cNvSpPr>
            <a:spLocks noGrp="1"/>
          </p:cNvSpPr>
          <p:nvPr>
            <p:ph type="sldNum" sz="quarter" idx="12"/>
          </p:nvPr>
        </p:nvSpPr>
        <p:spPr/>
        <p:txBody>
          <a:bodyPr/>
          <a:lstStyle/>
          <a:p>
            <a:fld id="{BA06AB71-0B36-4B80-B991-039F7D68F8CB}" type="slidenum">
              <a:rPr lang="fr-FR" smtClean="0"/>
              <a:t>‹N°›</a:t>
            </a:fld>
            <a:endParaRPr lang="fr-FR"/>
          </a:p>
        </p:txBody>
      </p:sp>
    </p:spTree>
    <p:extLst>
      <p:ext uri="{BB962C8B-B14F-4D97-AF65-F5344CB8AC3E}">
        <p14:creationId xmlns:p14="http://schemas.microsoft.com/office/powerpoint/2010/main" val="13106608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70ED34E-1CE5-9269-A10C-202E8E8F3CF8}"/>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0CD163BA-02AF-1019-E0F8-BC86650ADFB0}"/>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4251730B-3448-A820-4D45-32781E826338}"/>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8E7C91C6-40DA-C1E2-191B-4276402E0197}"/>
              </a:ext>
            </a:extLst>
          </p:cNvPr>
          <p:cNvSpPr>
            <a:spLocks noGrp="1"/>
          </p:cNvSpPr>
          <p:nvPr>
            <p:ph type="dt" sz="half" idx="10"/>
          </p:nvPr>
        </p:nvSpPr>
        <p:spPr/>
        <p:txBody>
          <a:bodyPr/>
          <a:lstStyle/>
          <a:p>
            <a:fld id="{6FEFCD70-9C02-4267-93ED-DA067C1C5C5D}" type="datetime1">
              <a:rPr lang="fr-FR" smtClean="0"/>
              <a:t>29/05/2024</a:t>
            </a:fld>
            <a:endParaRPr lang="fr-FR"/>
          </a:p>
        </p:txBody>
      </p:sp>
      <p:sp>
        <p:nvSpPr>
          <p:cNvPr id="6" name="Espace réservé du pied de page 5">
            <a:extLst>
              <a:ext uri="{FF2B5EF4-FFF2-40B4-BE49-F238E27FC236}">
                <a16:creationId xmlns:a16="http://schemas.microsoft.com/office/drawing/2014/main" id="{0C3580D5-04E6-B6EF-962B-3E894DCECE78}"/>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E9F80706-6921-2BCC-634D-AA7A0E50235C}"/>
              </a:ext>
            </a:extLst>
          </p:cNvPr>
          <p:cNvSpPr>
            <a:spLocks noGrp="1"/>
          </p:cNvSpPr>
          <p:nvPr>
            <p:ph type="sldNum" sz="quarter" idx="12"/>
          </p:nvPr>
        </p:nvSpPr>
        <p:spPr/>
        <p:txBody>
          <a:bodyPr/>
          <a:lstStyle/>
          <a:p>
            <a:fld id="{BA06AB71-0B36-4B80-B991-039F7D68F8CB}" type="slidenum">
              <a:rPr lang="fr-FR" smtClean="0"/>
              <a:t>‹N°›</a:t>
            </a:fld>
            <a:endParaRPr lang="fr-FR"/>
          </a:p>
        </p:txBody>
      </p:sp>
    </p:spTree>
    <p:extLst>
      <p:ext uri="{BB962C8B-B14F-4D97-AF65-F5344CB8AC3E}">
        <p14:creationId xmlns:p14="http://schemas.microsoft.com/office/powerpoint/2010/main" val="12238960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293038C-2931-D8FE-AD36-88304A061F9A}"/>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C8C11667-41B7-30FB-F5B0-A20A6034077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BF538D88-429A-A0D2-B7B0-23494BCAC7AD}"/>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47AC7FF3-EFFB-60CB-C4A2-00EDB1C7F35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5480F6D9-C0B8-0FC1-A865-B8A0C320FD4E}"/>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FBBB3276-8F88-0780-336A-1AA6A6C5079C}"/>
              </a:ext>
            </a:extLst>
          </p:cNvPr>
          <p:cNvSpPr>
            <a:spLocks noGrp="1"/>
          </p:cNvSpPr>
          <p:nvPr>
            <p:ph type="dt" sz="half" idx="10"/>
          </p:nvPr>
        </p:nvSpPr>
        <p:spPr/>
        <p:txBody>
          <a:bodyPr/>
          <a:lstStyle/>
          <a:p>
            <a:fld id="{EF461CD4-FE43-42F8-BA27-3A02ADC01ECA}" type="datetime1">
              <a:rPr lang="fr-FR" smtClean="0"/>
              <a:t>29/05/2024</a:t>
            </a:fld>
            <a:endParaRPr lang="fr-FR"/>
          </a:p>
        </p:txBody>
      </p:sp>
      <p:sp>
        <p:nvSpPr>
          <p:cNvPr id="8" name="Espace réservé du pied de page 7">
            <a:extLst>
              <a:ext uri="{FF2B5EF4-FFF2-40B4-BE49-F238E27FC236}">
                <a16:creationId xmlns:a16="http://schemas.microsoft.com/office/drawing/2014/main" id="{7A1C96D8-C687-774B-B1F9-5E672117BC32}"/>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F50557D3-79D2-CE55-2871-354987C69DAF}"/>
              </a:ext>
            </a:extLst>
          </p:cNvPr>
          <p:cNvSpPr>
            <a:spLocks noGrp="1"/>
          </p:cNvSpPr>
          <p:nvPr>
            <p:ph type="sldNum" sz="quarter" idx="12"/>
          </p:nvPr>
        </p:nvSpPr>
        <p:spPr/>
        <p:txBody>
          <a:bodyPr/>
          <a:lstStyle/>
          <a:p>
            <a:fld id="{BA06AB71-0B36-4B80-B991-039F7D68F8CB}" type="slidenum">
              <a:rPr lang="fr-FR" smtClean="0"/>
              <a:t>‹N°›</a:t>
            </a:fld>
            <a:endParaRPr lang="fr-FR"/>
          </a:p>
        </p:txBody>
      </p:sp>
    </p:spTree>
    <p:extLst>
      <p:ext uri="{BB962C8B-B14F-4D97-AF65-F5344CB8AC3E}">
        <p14:creationId xmlns:p14="http://schemas.microsoft.com/office/powerpoint/2010/main" val="4087929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5D73BC1-8982-F8C9-4245-C31D7253C7AF}"/>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9AA45D38-B29B-32FF-3C30-E3AE09414FFC}"/>
              </a:ext>
            </a:extLst>
          </p:cNvPr>
          <p:cNvSpPr>
            <a:spLocks noGrp="1"/>
          </p:cNvSpPr>
          <p:nvPr>
            <p:ph type="dt" sz="half" idx="10"/>
          </p:nvPr>
        </p:nvSpPr>
        <p:spPr/>
        <p:txBody>
          <a:bodyPr/>
          <a:lstStyle/>
          <a:p>
            <a:fld id="{8C036F74-5381-4024-BAA9-5901F8ADC307}" type="datetime1">
              <a:rPr lang="fr-FR" smtClean="0"/>
              <a:t>29/05/2024</a:t>
            </a:fld>
            <a:endParaRPr lang="fr-FR"/>
          </a:p>
        </p:txBody>
      </p:sp>
      <p:sp>
        <p:nvSpPr>
          <p:cNvPr id="4" name="Espace réservé du pied de page 3">
            <a:extLst>
              <a:ext uri="{FF2B5EF4-FFF2-40B4-BE49-F238E27FC236}">
                <a16:creationId xmlns:a16="http://schemas.microsoft.com/office/drawing/2014/main" id="{6F3D7E88-6A3D-38CD-38C8-E64F458DAAAF}"/>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6540C159-CD13-F3CB-F7F4-C344E5763F18}"/>
              </a:ext>
            </a:extLst>
          </p:cNvPr>
          <p:cNvSpPr>
            <a:spLocks noGrp="1"/>
          </p:cNvSpPr>
          <p:nvPr>
            <p:ph type="sldNum" sz="quarter" idx="12"/>
          </p:nvPr>
        </p:nvSpPr>
        <p:spPr/>
        <p:txBody>
          <a:bodyPr/>
          <a:lstStyle/>
          <a:p>
            <a:fld id="{BA06AB71-0B36-4B80-B991-039F7D68F8CB}" type="slidenum">
              <a:rPr lang="fr-FR" smtClean="0"/>
              <a:t>‹N°›</a:t>
            </a:fld>
            <a:endParaRPr lang="fr-FR"/>
          </a:p>
        </p:txBody>
      </p:sp>
    </p:spTree>
    <p:extLst>
      <p:ext uri="{BB962C8B-B14F-4D97-AF65-F5344CB8AC3E}">
        <p14:creationId xmlns:p14="http://schemas.microsoft.com/office/powerpoint/2010/main" val="14913565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2E399715-803D-C498-F3FD-BD4F6B888120}"/>
              </a:ext>
            </a:extLst>
          </p:cNvPr>
          <p:cNvSpPr>
            <a:spLocks noGrp="1"/>
          </p:cNvSpPr>
          <p:nvPr>
            <p:ph type="dt" sz="half" idx="10"/>
          </p:nvPr>
        </p:nvSpPr>
        <p:spPr/>
        <p:txBody>
          <a:bodyPr/>
          <a:lstStyle/>
          <a:p>
            <a:fld id="{0E1DE3B3-7661-43C6-8BB5-DD17A2C56882}" type="datetime1">
              <a:rPr lang="fr-FR" smtClean="0"/>
              <a:t>29/05/2024</a:t>
            </a:fld>
            <a:endParaRPr lang="fr-FR"/>
          </a:p>
        </p:txBody>
      </p:sp>
      <p:sp>
        <p:nvSpPr>
          <p:cNvPr id="3" name="Espace réservé du pied de page 2">
            <a:extLst>
              <a:ext uri="{FF2B5EF4-FFF2-40B4-BE49-F238E27FC236}">
                <a16:creationId xmlns:a16="http://schemas.microsoft.com/office/drawing/2014/main" id="{8AB599FD-A88C-30D5-F3F8-ABD6CAF3BC47}"/>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A1C2C1B9-DE96-6360-08E7-B712235D8525}"/>
              </a:ext>
            </a:extLst>
          </p:cNvPr>
          <p:cNvSpPr>
            <a:spLocks noGrp="1"/>
          </p:cNvSpPr>
          <p:nvPr>
            <p:ph type="sldNum" sz="quarter" idx="12"/>
          </p:nvPr>
        </p:nvSpPr>
        <p:spPr/>
        <p:txBody>
          <a:bodyPr/>
          <a:lstStyle/>
          <a:p>
            <a:fld id="{BA06AB71-0B36-4B80-B991-039F7D68F8CB}" type="slidenum">
              <a:rPr lang="fr-FR" smtClean="0"/>
              <a:t>‹N°›</a:t>
            </a:fld>
            <a:endParaRPr lang="fr-FR"/>
          </a:p>
        </p:txBody>
      </p:sp>
    </p:spTree>
    <p:extLst>
      <p:ext uri="{BB962C8B-B14F-4D97-AF65-F5344CB8AC3E}">
        <p14:creationId xmlns:p14="http://schemas.microsoft.com/office/powerpoint/2010/main" val="13862558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E2EE00A-E947-5130-FB25-6B040B051BB8}"/>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EBFA1AF6-D005-8DF0-08C7-D6448BF6072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DCB05E61-E65B-782E-F869-C5B099909AC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F5084CE5-3380-5D08-5F2D-9D33B4F3335D}"/>
              </a:ext>
            </a:extLst>
          </p:cNvPr>
          <p:cNvSpPr>
            <a:spLocks noGrp="1"/>
          </p:cNvSpPr>
          <p:nvPr>
            <p:ph type="dt" sz="half" idx="10"/>
          </p:nvPr>
        </p:nvSpPr>
        <p:spPr/>
        <p:txBody>
          <a:bodyPr/>
          <a:lstStyle/>
          <a:p>
            <a:fld id="{C7DFB586-B251-4F3F-8B11-085335CDA4D7}" type="datetime1">
              <a:rPr lang="fr-FR" smtClean="0"/>
              <a:t>29/05/2024</a:t>
            </a:fld>
            <a:endParaRPr lang="fr-FR"/>
          </a:p>
        </p:txBody>
      </p:sp>
      <p:sp>
        <p:nvSpPr>
          <p:cNvPr id="6" name="Espace réservé du pied de page 5">
            <a:extLst>
              <a:ext uri="{FF2B5EF4-FFF2-40B4-BE49-F238E27FC236}">
                <a16:creationId xmlns:a16="http://schemas.microsoft.com/office/drawing/2014/main" id="{7CE6BC47-1260-0B4C-7F41-FB483A4D2B1B}"/>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A808477A-8D54-71AD-A35B-235FF1BD0D68}"/>
              </a:ext>
            </a:extLst>
          </p:cNvPr>
          <p:cNvSpPr>
            <a:spLocks noGrp="1"/>
          </p:cNvSpPr>
          <p:nvPr>
            <p:ph type="sldNum" sz="quarter" idx="12"/>
          </p:nvPr>
        </p:nvSpPr>
        <p:spPr/>
        <p:txBody>
          <a:bodyPr/>
          <a:lstStyle/>
          <a:p>
            <a:fld id="{BA06AB71-0B36-4B80-B991-039F7D68F8CB}" type="slidenum">
              <a:rPr lang="fr-FR" smtClean="0"/>
              <a:t>‹N°›</a:t>
            </a:fld>
            <a:endParaRPr lang="fr-FR"/>
          </a:p>
        </p:txBody>
      </p:sp>
    </p:spTree>
    <p:extLst>
      <p:ext uri="{BB962C8B-B14F-4D97-AF65-F5344CB8AC3E}">
        <p14:creationId xmlns:p14="http://schemas.microsoft.com/office/powerpoint/2010/main" val="38710321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6F1FBFB-3E7D-AD2C-39FA-E2D986E113AC}"/>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3D4F651C-FF99-6FDE-504D-EB795593E40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a:t>Cliquez sur l'icône pour ajouter une image</a:t>
            </a:r>
          </a:p>
        </p:txBody>
      </p:sp>
      <p:sp>
        <p:nvSpPr>
          <p:cNvPr id="4" name="Espace réservé du texte 3">
            <a:extLst>
              <a:ext uri="{FF2B5EF4-FFF2-40B4-BE49-F238E27FC236}">
                <a16:creationId xmlns:a16="http://schemas.microsoft.com/office/drawing/2014/main" id="{56E7F4CF-50A6-C5B7-A5E0-46F547983CE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936BE4A0-F927-AC7F-8F72-80176E8CC5FF}"/>
              </a:ext>
            </a:extLst>
          </p:cNvPr>
          <p:cNvSpPr>
            <a:spLocks noGrp="1"/>
          </p:cNvSpPr>
          <p:nvPr>
            <p:ph type="dt" sz="half" idx="10"/>
          </p:nvPr>
        </p:nvSpPr>
        <p:spPr/>
        <p:txBody>
          <a:bodyPr/>
          <a:lstStyle/>
          <a:p>
            <a:fld id="{44952A61-B580-4658-88AF-604A7DCA20BD}" type="datetime1">
              <a:rPr lang="fr-FR" smtClean="0"/>
              <a:t>29/05/2024</a:t>
            </a:fld>
            <a:endParaRPr lang="fr-FR"/>
          </a:p>
        </p:txBody>
      </p:sp>
      <p:sp>
        <p:nvSpPr>
          <p:cNvPr id="6" name="Espace réservé du pied de page 5">
            <a:extLst>
              <a:ext uri="{FF2B5EF4-FFF2-40B4-BE49-F238E27FC236}">
                <a16:creationId xmlns:a16="http://schemas.microsoft.com/office/drawing/2014/main" id="{1493EA3D-25D4-FFD7-A7A3-24818B2C3249}"/>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9774C359-5230-4628-835D-BDB79311B231}"/>
              </a:ext>
            </a:extLst>
          </p:cNvPr>
          <p:cNvSpPr>
            <a:spLocks noGrp="1"/>
          </p:cNvSpPr>
          <p:nvPr>
            <p:ph type="sldNum" sz="quarter" idx="12"/>
          </p:nvPr>
        </p:nvSpPr>
        <p:spPr/>
        <p:txBody>
          <a:bodyPr/>
          <a:lstStyle/>
          <a:p>
            <a:fld id="{BA06AB71-0B36-4B80-B991-039F7D68F8CB}" type="slidenum">
              <a:rPr lang="fr-FR" smtClean="0"/>
              <a:t>‹N°›</a:t>
            </a:fld>
            <a:endParaRPr lang="fr-FR"/>
          </a:p>
        </p:txBody>
      </p:sp>
    </p:spTree>
    <p:extLst>
      <p:ext uri="{BB962C8B-B14F-4D97-AF65-F5344CB8AC3E}">
        <p14:creationId xmlns:p14="http://schemas.microsoft.com/office/powerpoint/2010/main" val="41835245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F07F51B-BA0C-D085-D8C4-D74267BCD8A4}"/>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2BE89500-BA5B-6F75-64C7-3D3D61B77DC3}"/>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C5DA3F00-A589-2B3B-C46A-1FB2134CD74F}"/>
              </a:ext>
            </a:extLst>
          </p:cNvPr>
          <p:cNvSpPr>
            <a:spLocks noGrp="1"/>
          </p:cNvSpPr>
          <p:nvPr>
            <p:ph type="dt" sz="half" idx="10"/>
          </p:nvPr>
        </p:nvSpPr>
        <p:spPr/>
        <p:txBody>
          <a:bodyPr/>
          <a:lstStyle/>
          <a:p>
            <a:fld id="{DCE26FB0-9262-4B4A-96F0-0E4239312FC9}" type="datetime1">
              <a:rPr lang="fr-FR" smtClean="0"/>
              <a:t>29/05/2024</a:t>
            </a:fld>
            <a:endParaRPr lang="fr-FR"/>
          </a:p>
        </p:txBody>
      </p:sp>
      <p:sp>
        <p:nvSpPr>
          <p:cNvPr id="5" name="Espace réservé du pied de page 4">
            <a:extLst>
              <a:ext uri="{FF2B5EF4-FFF2-40B4-BE49-F238E27FC236}">
                <a16:creationId xmlns:a16="http://schemas.microsoft.com/office/drawing/2014/main" id="{5E27479B-F27E-BAD2-6D25-2AE3E9E1DB4D}"/>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89179279-1028-617F-81FE-600257A28408}"/>
              </a:ext>
            </a:extLst>
          </p:cNvPr>
          <p:cNvSpPr>
            <a:spLocks noGrp="1"/>
          </p:cNvSpPr>
          <p:nvPr>
            <p:ph type="sldNum" sz="quarter" idx="12"/>
          </p:nvPr>
        </p:nvSpPr>
        <p:spPr/>
        <p:txBody>
          <a:bodyPr/>
          <a:lstStyle/>
          <a:p>
            <a:fld id="{BA06AB71-0B36-4B80-B991-039F7D68F8CB}" type="slidenum">
              <a:rPr lang="fr-FR" smtClean="0"/>
              <a:t>‹N°›</a:t>
            </a:fld>
            <a:endParaRPr lang="fr-FR"/>
          </a:p>
        </p:txBody>
      </p:sp>
    </p:spTree>
    <p:extLst>
      <p:ext uri="{BB962C8B-B14F-4D97-AF65-F5344CB8AC3E}">
        <p14:creationId xmlns:p14="http://schemas.microsoft.com/office/powerpoint/2010/main" val="36408318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EBF1AF93-0D8B-0870-AF15-A787AAF3DD1F}"/>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B1089EDC-A0F5-6D11-2C9D-928B41118C0D}"/>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BA139499-AA0B-7133-9B08-1363E5F5D12D}"/>
              </a:ext>
            </a:extLst>
          </p:cNvPr>
          <p:cNvSpPr>
            <a:spLocks noGrp="1"/>
          </p:cNvSpPr>
          <p:nvPr>
            <p:ph type="dt" sz="half" idx="10"/>
          </p:nvPr>
        </p:nvSpPr>
        <p:spPr/>
        <p:txBody>
          <a:bodyPr/>
          <a:lstStyle/>
          <a:p>
            <a:fld id="{CF16DD70-3CEB-41AB-9288-5B2248A624F7}" type="datetime1">
              <a:rPr lang="fr-FR" smtClean="0"/>
              <a:t>29/05/2024</a:t>
            </a:fld>
            <a:endParaRPr lang="fr-FR"/>
          </a:p>
        </p:txBody>
      </p:sp>
      <p:sp>
        <p:nvSpPr>
          <p:cNvPr id="5" name="Espace réservé du pied de page 4">
            <a:extLst>
              <a:ext uri="{FF2B5EF4-FFF2-40B4-BE49-F238E27FC236}">
                <a16:creationId xmlns:a16="http://schemas.microsoft.com/office/drawing/2014/main" id="{D4D9EF0C-935F-82C6-2826-1115D1A27142}"/>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ABA3F3ED-99BD-2AFA-016C-5A3305DAC965}"/>
              </a:ext>
            </a:extLst>
          </p:cNvPr>
          <p:cNvSpPr>
            <a:spLocks noGrp="1"/>
          </p:cNvSpPr>
          <p:nvPr>
            <p:ph type="sldNum" sz="quarter" idx="12"/>
          </p:nvPr>
        </p:nvSpPr>
        <p:spPr/>
        <p:txBody>
          <a:bodyPr/>
          <a:lstStyle/>
          <a:p>
            <a:fld id="{BA06AB71-0B36-4B80-B991-039F7D68F8CB}" type="slidenum">
              <a:rPr lang="fr-FR" smtClean="0"/>
              <a:t>‹N°›</a:t>
            </a:fld>
            <a:endParaRPr lang="fr-FR"/>
          </a:p>
        </p:txBody>
      </p:sp>
    </p:spTree>
    <p:extLst>
      <p:ext uri="{BB962C8B-B14F-4D97-AF65-F5344CB8AC3E}">
        <p14:creationId xmlns:p14="http://schemas.microsoft.com/office/powerpoint/2010/main" val="1224480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0000">
            <a:alpha val="5000"/>
          </a:srgbClr>
        </a:solidFill>
        <a:effectLst/>
      </p:bgPr>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18382372-576F-7D7E-22FB-7C8454C48A9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795C7F79-75ED-ED1F-315E-E51B7CCE184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425F3614-CB1F-3B91-0240-C49D4116D5D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2897EE6-CDD6-43C1-B320-A7CD1CE4582D}" type="datetime1">
              <a:rPr lang="fr-FR" smtClean="0"/>
              <a:t>29/05/2024</a:t>
            </a:fld>
            <a:endParaRPr lang="fr-FR"/>
          </a:p>
        </p:txBody>
      </p:sp>
      <p:sp>
        <p:nvSpPr>
          <p:cNvPr id="5" name="Espace réservé du pied de page 4">
            <a:extLst>
              <a:ext uri="{FF2B5EF4-FFF2-40B4-BE49-F238E27FC236}">
                <a16:creationId xmlns:a16="http://schemas.microsoft.com/office/drawing/2014/main" id="{54E215AF-B391-7C9E-57FC-AF2C445B5D5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3CE0EF71-0401-FFEB-EB6A-958A2BE4B09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A06AB71-0B36-4B80-B991-039F7D68F8CB}" type="slidenum">
              <a:rPr lang="fr-FR" smtClean="0"/>
              <a:t>‹N°›</a:t>
            </a:fld>
            <a:endParaRPr lang="fr-FR"/>
          </a:p>
        </p:txBody>
      </p:sp>
    </p:spTree>
    <p:extLst>
      <p:ext uri="{BB962C8B-B14F-4D97-AF65-F5344CB8AC3E}">
        <p14:creationId xmlns:p14="http://schemas.microsoft.com/office/powerpoint/2010/main" val="192470408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19.png"/></Relationships>
</file>

<file path=ppt/slides/_rels/slide2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2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image" Target="../media/image25.png"/><Relationship Id="rId4" Type="http://schemas.openxmlformats.org/officeDocument/2006/relationships/image" Target="../media/image24.png"/></Relationships>
</file>

<file path=ppt/slides/_rels/slide2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2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3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40.png"/></Relationships>
</file>

<file path=ppt/slides/_rels/slide38.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F56023B-C1FB-06CE-47C5-115060AAA268}"/>
              </a:ext>
            </a:extLst>
          </p:cNvPr>
          <p:cNvSpPr>
            <a:spLocks noGrp="1"/>
          </p:cNvSpPr>
          <p:nvPr>
            <p:ph type="ctrTitle"/>
          </p:nvPr>
        </p:nvSpPr>
        <p:spPr>
          <a:xfrm>
            <a:off x="442451" y="1140363"/>
            <a:ext cx="11307097" cy="1366685"/>
          </a:xfrm>
        </p:spPr>
        <p:txBody>
          <a:bodyPr/>
          <a:lstStyle/>
          <a:p>
            <a:r>
              <a:rPr lang="fr-BJ" dirty="0"/>
              <a:t>Présentation du projet chef d’</a:t>
            </a:r>
            <a:r>
              <a:rPr lang="fr-FR" dirty="0"/>
              <a:t>œuvre</a:t>
            </a:r>
          </a:p>
        </p:txBody>
      </p:sp>
      <p:sp>
        <p:nvSpPr>
          <p:cNvPr id="3" name="Sous-titre 2">
            <a:extLst>
              <a:ext uri="{FF2B5EF4-FFF2-40B4-BE49-F238E27FC236}">
                <a16:creationId xmlns:a16="http://schemas.microsoft.com/office/drawing/2014/main" id="{9F02B1F0-9490-83BC-5D2A-39B784814BA8}"/>
              </a:ext>
            </a:extLst>
          </p:cNvPr>
          <p:cNvSpPr>
            <a:spLocks noGrp="1"/>
          </p:cNvSpPr>
          <p:nvPr>
            <p:ph type="subTitle" idx="1"/>
          </p:nvPr>
        </p:nvSpPr>
        <p:spPr>
          <a:xfrm>
            <a:off x="442451" y="4350953"/>
            <a:ext cx="11307097" cy="1177234"/>
          </a:xfrm>
        </p:spPr>
        <p:txBody>
          <a:bodyPr>
            <a:normAutofit/>
          </a:bodyPr>
          <a:lstStyle/>
          <a:p>
            <a:pPr algn="l"/>
            <a:r>
              <a:rPr lang="fr-BJ" sz="3300" dirty="0"/>
              <a:t>Détection du besoin de traitement </a:t>
            </a:r>
            <a:r>
              <a:rPr lang="fr-FR" sz="3300" dirty="0"/>
              <a:t>pour les troubles de la santé mentale </a:t>
            </a:r>
            <a:r>
              <a:rPr lang="fr-BJ" sz="3300" dirty="0"/>
              <a:t>avec l’IA</a:t>
            </a:r>
            <a:endParaRPr lang="fr-FR" sz="3300" dirty="0"/>
          </a:p>
        </p:txBody>
      </p:sp>
      <p:sp>
        <p:nvSpPr>
          <p:cNvPr id="4" name="Espace réservé du numéro de diapositive 3">
            <a:extLst>
              <a:ext uri="{FF2B5EF4-FFF2-40B4-BE49-F238E27FC236}">
                <a16:creationId xmlns:a16="http://schemas.microsoft.com/office/drawing/2014/main" id="{E9F9D889-8748-3385-A8EB-BAA8E1317EAA}"/>
              </a:ext>
            </a:extLst>
          </p:cNvPr>
          <p:cNvSpPr>
            <a:spLocks noGrp="1"/>
          </p:cNvSpPr>
          <p:nvPr>
            <p:ph type="sldNum" sz="quarter" idx="12"/>
          </p:nvPr>
        </p:nvSpPr>
        <p:spPr/>
        <p:txBody>
          <a:bodyPr/>
          <a:lstStyle/>
          <a:p>
            <a:fld id="{BA06AB71-0B36-4B80-B991-039F7D68F8CB}" type="slidenum">
              <a:rPr lang="fr-FR" smtClean="0"/>
              <a:t>1</a:t>
            </a:fld>
            <a:endParaRPr lang="fr-FR"/>
          </a:p>
        </p:txBody>
      </p:sp>
    </p:spTree>
    <p:extLst>
      <p:ext uri="{BB962C8B-B14F-4D97-AF65-F5344CB8AC3E}">
        <p14:creationId xmlns:p14="http://schemas.microsoft.com/office/powerpoint/2010/main" val="42757009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9C259C4-15CF-5FF1-5FA6-82A0B80722A6}"/>
              </a:ext>
            </a:extLst>
          </p:cNvPr>
          <p:cNvSpPr>
            <a:spLocks noGrp="1"/>
          </p:cNvSpPr>
          <p:nvPr>
            <p:ph type="title"/>
          </p:nvPr>
        </p:nvSpPr>
        <p:spPr>
          <a:xfrm>
            <a:off x="4206083" y="585180"/>
            <a:ext cx="10490081" cy="714814"/>
          </a:xfrm>
        </p:spPr>
        <p:txBody>
          <a:bodyPr/>
          <a:lstStyle/>
          <a:p>
            <a:r>
              <a:rPr lang="fr-FR" dirty="0"/>
              <a:t>Sommaire</a:t>
            </a:r>
          </a:p>
        </p:txBody>
      </p:sp>
      <p:sp>
        <p:nvSpPr>
          <p:cNvPr id="3" name="Espace réservé du contenu 2">
            <a:extLst>
              <a:ext uri="{FF2B5EF4-FFF2-40B4-BE49-F238E27FC236}">
                <a16:creationId xmlns:a16="http://schemas.microsoft.com/office/drawing/2014/main" id="{6B409ECA-B691-5B1C-5CCA-878C261674CB}"/>
              </a:ext>
            </a:extLst>
          </p:cNvPr>
          <p:cNvSpPr>
            <a:spLocks noGrp="1"/>
          </p:cNvSpPr>
          <p:nvPr>
            <p:ph idx="1"/>
          </p:nvPr>
        </p:nvSpPr>
        <p:spPr>
          <a:xfrm>
            <a:off x="1613353" y="1315026"/>
            <a:ext cx="11695427" cy="5406449"/>
          </a:xfrm>
        </p:spPr>
        <p:txBody>
          <a:bodyPr/>
          <a:lstStyle/>
          <a:p>
            <a:pPr marL="0" indent="0">
              <a:buNone/>
            </a:pPr>
            <a:endParaRPr lang="fr-FR" sz="2500" u="sng" dirty="0"/>
          </a:p>
          <a:p>
            <a:pPr marL="0" indent="0">
              <a:buNone/>
            </a:pPr>
            <a:endParaRPr lang="fr-FR" dirty="0"/>
          </a:p>
        </p:txBody>
      </p:sp>
      <p:sp>
        <p:nvSpPr>
          <p:cNvPr id="4" name="Espace réservé du numéro de diapositive 3">
            <a:extLst>
              <a:ext uri="{FF2B5EF4-FFF2-40B4-BE49-F238E27FC236}">
                <a16:creationId xmlns:a16="http://schemas.microsoft.com/office/drawing/2014/main" id="{6AF8CBB2-DFF3-0D98-A730-9B20741C3B18}"/>
              </a:ext>
            </a:extLst>
          </p:cNvPr>
          <p:cNvSpPr>
            <a:spLocks noGrp="1"/>
          </p:cNvSpPr>
          <p:nvPr>
            <p:ph type="sldNum" sz="quarter" idx="12"/>
          </p:nvPr>
        </p:nvSpPr>
        <p:spPr/>
        <p:txBody>
          <a:bodyPr/>
          <a:lstStyle/>
          <a:p>
            <a:fld id="{BA06AB71-0B36-4B80-B991-039F7D68F8CB}" type="slidenum">
              <a:rPr lang="fr-FR" smtClean="0"/>
              <a:t>2</a:t>
            </a:fld>
            <a:endParaRPr lang="fr-FR"/>
          </a:p>
        </p:txBody>
      </p:sp>
      <p:sp>
        <p:nvSpPr>
          <p:cNvPr id="5" name="ZoneTexte 4">
            <a:extLst>
              <a:ext uri="{FF2B5EF4-FFF2-40B4-BE49-F238E27FC236}">
                <a16:creationId xmlns:a16="http://schemas.microsoft.com/office/drawing/2014/main" id="{57E9A7A2-12EC-9921-E0E8-7E4D386E574E}"/>
              </a:ext>
            </a:extLst>
          </p:cNvPr>
          <p:cNvSpPr txBox="1"/>
          <p:nvPr/>
        </p:nvSpPr>
        <p:spPr>
          <a:xfrm>
            <a:off x="729204" y="2703232"/>
            <a:ext cx="10463514" cy="2569934"/>
          </a:xfrm>
          <a:prstGeom prst="rect">
            <a:avLst/>
          </a:prstGeom>
          <a:noFill/>
        </p:spPr>
        <p:txBody>
          <a:bodyPr wrap="square" rtlCol="0">
            <a:spAutoFit/>
          </a:bodyPr>
          <a:lstStyle/>
          <a:p>
            <a:r>
              <a:rPr lang="fr-FR" sz="2300" dirty="0"/>
              <a:t>1. Introduction</a:t>
            </a:r>
          </a:p>
          <a:p>
            <a:r>
              <a:rPr lang="fr-FR" sz="2300" dirty="0"/>
              <a:t>2. Gestion des données analytiques du projet</a:t>
            </a:r>
          </a:p>
          <a:p>
            <a:r>
              <a:rPr lang="fr-FR" sz="2300" dirty="0"/>
              <a:t>3. Développer un programme d'intelligence artificielle</a:t>
            </a:r>
          </a:p>
          <a:p>
            <a:r>
              <a:rPr lang="fr-FR" sz="2300" dirty="0"/>
              <a:t>4. Développement de l’application</a:t>
            </a:r>
          </a:p>
          <a:p>
            <a:r>
              <a:rPr lang="fr-FR" sz="2300" dirty="0"/>
              <a:t>5. Conclusion</a:t>
            </a:r>
          </a:p>
          <a:p>
            <a:r>
              <a:rPr lang="fr-FR" sz="2300" dirty="0"/>
              <a:t>Références</a:t>
            </a:r>
          </a:p>
          <a:p>
            <a:r>
              <a:rPr lang="fr-FR" sz="2300" dirty="0"/>
              <a:t>Annexe</a:t>
            </a:r>
          </a:p>
        </p:txBody>
      </p:sp>
    </p:spTree>
    <p:extLst>
      <p:ext uri="{BB962C8B-B14F-4D97-AF65-F5344CB8AC3E}">
        <p14:creationId xmlns:p14="http://schemas.microsoft.com/office/powerpoint/2010/main" val="29281068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9C259C4-15CF-5FF1-5FA6-82A0B80722A6}"/>
              </a:ext>
            </a:extLst>
          </p:cNvPr>
          <p:cNvSpPr>
            <a:spLocks noGrp="1"/>
          </p:cNvSpPr>
          <p:nvPr>
            <p:ph type="title"/>
          </p:nvPr>
        </p:nvSpPr>
        <p:spPr>
          <a:xfrm>
            <a:off x="108645" y="133084"/>
            <a:ext cx="10490081" cy="714814"/>
          </a:xfrm>
        </p:spPr>
        <p:txBody>
          <a:bodyPr/>
          <a:lstStyle/>
          <a:p>
            <a:r>
              <a:rPr lang="fr-FR" dirty="0"/>
              <a:t>1. Introduction</a:t>
            </a:r>
          </a:p>
        </p:txBody>
      </p:sp>
      <p:sp>
        <p:nvSpPr>
          <p:cNvPr id="3" name="Espace réservé du contenu 2">
            <a:extLst>
              <a:ext uri="{FF2B5EF4-FFF2-40B4-BE49-F238E27FC236}">
                <a16:creationId xmlns:a16="http://schemas.microsoft.com/office/drawing/2014/main" id="{6B409ECA-B691-5B1C-5CCA-878C261674CB}"/>
              </a:ext>
            </a:extLst>
          </p:cNvPr>
          <p:cNvSpPr>
            <a:spLocks noGrp="1"/>
          </p:cNvSpPr>
          <p:nvPr>
            <p:ph idx="1"/>
          </p:nvPr>
        </p:nvSpPr>
        <p:spPr>
          <a:xfrm>
            <a:off x="108645" y="898899"/>
            <a:ext cx="11695427" cy="5406449"/>
          </a:xfrm>
        </p:spPr>
        <p:txBody>
          <a:bodyPr/>
          <a:lstStyle/>
          <a:p>
            <a:pPr marL="0" indent="0">
              <a:buNone/>
            </a:pPr>
            <a:endParaRPr lang="fr-FR" sz="2500" u="sng" dirty="0"/>
          </a:p>
          <a:p>
            <a:pPr marL="0" indent="0">
              <a:buNone/>
            </a:pPr>
            <a:r>
              <a:rPr lang="fr-FR" sz="2500" u="sng" dirty="0"/>
              <a:t>1.1 Contexte</a:t>
            </a:r>
            <a:endParaRPr lang="fr-FR" u="sng" dirty="0"/>
          </a:p>
          <a:p>
            <a:pPr marL="0" indent="0">
              <a:buNone/>
            </a:pPr>
            <a:endParaRPr lang="fr-FR" u="sng" dirty="0"/>
          </a:p>
          <a:p>
            <a:pPr marL="0" indent="0">
              <a:buNone/>
            </a:pPr>
            <a:r>
              <a:rPr lang="fr-FR" sz="2300" dirty="0"/>
              <a:t>- Hausse des cas de soucis de santé mentale : </a:t>
            </a:r>
            <a:r>
              <a:rPr lang="fr-FR" sz="2300" b="1" dirty="0"/>
              <a:t>Les cas d’anxiété et de dépression sont en hausse de 25 % dans le monde en raison de la pandémie de COVID-19 </a:t>
            </a:r>
            <a:r>
              <a:rPr lang="fr-FR" sz="2300" dirty="0"/>
              <a:t>(OMS)</a:t>
            </a:r>
          </a:p>
          <a:p>
            <a:pPr marL="0" indent="0">
              <a:buNone/>
            </a:pPr>
            <a:endParaRPr lang="fr-FR" sz="2300" dirty="0"/>
          </a:p>
          <a:p>
            <a:pPr marL="0" indent="0">
              <a:buNone/>
            </a:pPr>
            <a:r>
              <a:rPr lang="fr-FR" sz="2300" dirty="0"/>
              <a:t>- 25% des Français se sont sentis déprimés pendant plusieurs semaines au moins au cours de l'année précédente. </a:t>
            </a:r>
          </a:p>
          <a:p>
            <a:pPr marL="0" indent="0">
              <a:buNone/>
            </a:pPr>
            <a:endParaRPr lang="fr-FR" sz="2300" dirty="0"/>
          </a:p>
          <a:p>
            <a:pPr marL="0" indent="0">
              <a:buNone/>
            </a:pPr>
            <a:r>
              <a:rPr lang="fr-FR" sz="2300" dirty="0"/>
              <a:t>- Près d'une personne sur dix (9%) a envisagé le suicide ou l'automutilation au cours de l'année passée. (Ipsos)</a:t>
            </a:r>
          </a:p>
          <a:p>
            <a:pPr marL="0" indent="0">
              <a:buNone/>
            </a:pPr>
            <a:endParaRPr lang="fr-FR" dirty="0"/>
          </a:p>
        </p:txBody>
      </p:sp>
      <p:sp>
        <p:nvSpPr>
          <p:cNvPr id="4" name="Espace réservé du numéro de diapositive 3">
            <a:extLst>
              <a:ext uri="{FF2B5EF4-FFF2-40B4-BE49-F238E27FC236}">
                <a16:creationId xmlns:a16="http://schemas.microsoft.com/office/drawing/2014/main" id="{6AF8CBB2-DFF3-0D98-A730-9B20741C3B18}"/>
              </a:ext>
            </a:extLst>
          </p:cNvPr>
          <p:cNvSpPr>
            <a:spLocks noGrp="1"/>
          </p:cNvSpPr>
          <p:nvPr>
            <p:ph type="sldNum" sz="quarter" idx="12"/>
          </p:nvPr>
        </p:nvSpPr>
        <p:spPr/>
        <p:txBody>
          <a:bodyPr/>
          <a:lstStyle/>
          <a:p>
            <a:fld id="{BA06AB71-0B36-4B80-B991-039F7D68F8CB}" type="slidenum">
              <a:rPr lang="fr-FR" smtClean="0"/>
              <a:t>3</a:t>
            </a:fld>
            <a:endParaRPr lang="fr-FR"/>
          </a:p>
        </p:txBody>
      </p:sp>
    </p:spTree>
    <p:extLst>
      <p:ext uri="{BB962C8B-B14F-4D97-AF65-F5344CB8AC3E}">
        <p14:creationId xmlns:p14="http://schemas.microsoft.com/office/powerpoint/2010/main" val="10439436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6B409ECA-B691-5B1C-5CCA-878C261674CB}"/>
              </a:ext>
            </a:extLst>
          </p:cNvPr>
          <p:cNvSpPr>
            <a:spLocks noGrp="1"/>
          </p:cNvSpPr>
          <p:nvPr>
            <p:ph idx="1"/>
          </p:nvPr>
        </p:nvSpPr>
        <p:spPr>
          <a:xfrm>
            <a:off x="249961" y="429084"/>
            <a:ext cx="11695427" cy="5927266"/>
          </a:xfrm>
        </p:spPr>
        <p:txBody>
          <a:bodyPr>
            <a:normAutofit/>
          </a:bodyPr>
          <a:lstStyle/>
          <a:p>
            <a:pPr marL="0" indent="0">
              <a:buNone/>
            </a:pPr>
            <a:r>
              <a:rPr lang="fr-FR" sz="2500" u="sng" dirty="0"/>
              <a:t>1.2 Formulation de la problématique</a:t>
            </a:r>
          </a:p>
          <a:p>
            <a:pPr marL="0" indent="0">
              <a:buNone/>
            </a:pPr>
            <a:endParaRPr lang="fr-FR" dirty="0"/>
          </a:p>
          <a:p>
            <a:pPr marL="0" indent="0">
              <a:buNone/>
            </a:pPr>
            <a:r>
              <a:rPr lang="fr-FR" sz="2300" u="sng" dirty="0"/>
              <a:t>Requête client</a:t>
            </a:r>
            <a:r>
              <a:rPr lang="fr-FR" sz="2300" dirty="0"/>
              <a:t> : Application qui détecte le besoin de traitement pour un problème de santé mentale</a:t>
            </a:r>
          </a:p>
          <a:p>
            <a:pPr marL="0" indent="0">
              <a:buNone/>
            </a:pPr>
            <a:endParaRPr lang="fr-FR" sz="2300" dirty="0"/>
          </a:p>
          <a:p>
            <a:pPr marL="0" indent="0">
              <a:buNone/>
            </a:pPr>
            <a:r>
              <a:rPr lang="fr-FR" sz="2300" u="sng" dirty="0"/>
              <a:t>Jeu de données </a:t>
            </a:r>
            <a:r>
              <a:rPr lang="fr-FR" sz="2300" dirty="0"/>
              <a:t>: Enquête du client auprès des travailleurs du domaine de la tech</a:t>
            </a:r>
          </a:p>
          <a:p>
            <a:pPr marL="0" indent="0">
              <a:buNone/>
            </a:pPr>
            <a:endParaRPr lang="fr-FR" sz="2300" dirty="0"/>
          </a:p>
          <a:p>
            <a:pPr marL="0" indent="0">
              <a:buNone/>
            </a:pPr>
            <a:r>
              <a:rPr lang="fr-FR" sz="2300" u="sng" dirty="0"/>
              <a:t>Utilisateurs du projet</a:t>
            </a:r>
            <a:r>
              <a:rPr lang="fr-FR" sz="2300" dirty="0"/>
              <a:t> : Personnes travaillant dans le domaine de la tech et voulant faire un test afin de détecter un éventuel besoin de traitement</a:t>
            </a:r>
          </a:p>
          <a:p>
            <a:pPr marL="0" indent="0">
              <a:buNone/>
            </a:pPr>
            <a:endParaRPr lang="fr-FR" sz="2300" dirty="0"/>
          </a:p>
          <a:p>
            <a:pPr marL="0" indent="0">
              <a:buNone/>
            </a:pPr>
            <a:r>
              <a:rPr lang="fr-FR" sz="2300" dirty="0"/>
              <a:t>Une </a:t>
            </a:r>
            <a:r>
              <a:rPr lang="fr-FR" sz="2300" u="sng" dirty="0"/>
              <a:t>entreprise de la tech </a:t>
            </a:r>
            <a:r>
              <a:rPr lang="fr-FR" sz="2300" dirty="0"/>
              <a:t>développe et commercialise des nouvelles technologies (logiciels, matériel hardware, site web)</a:t>
            </a:r>
            <a:endParaRPr lang="fr-FR" dirty="0"/>
          </a:p>
          <a:p>
            <a:pPr marL="0" indent="0">
              <a:buNone/>
            </a:pPr>
            <a:endParaRPr lang="fr-FR" dirty="0"/>
          </a:p>
        </p:txBody>
      </p:sp>
      <p:sp>
        <p:nvSpPr>
          <p:cNvPr id="2" name="Espace réservé du numéro de diapositive 1">
            <a:extLst>
              <a:ext uri="{FF2B5EF4-FFF2-40B4-BE49-F238E27FC236}">
                <a16:creationId xmlns:a16="http://schemas.microsoft.com/office/drawing/2014/main" id="{C4C66A6F-4D15-1FDE-6C8C-EAF144693263}"/>
              </a:ext>
            </a:extLst>
          </p:cNvPr>
          <p:cNvSpPr>
            <a:spLocks noGrp="1"/>
          </p:cNvSpPr>
          <p:nvPr>
            <p:ph type="sldNum" sz="quarter" idx="12"/>
          </p:nvPr>
        </p:nvSpPr>
        <p:spPr/>
        <p:txBody>
          <a:bodyPr/>
          <a:lstStyle/>
          <a:p>
            <a:fld id="{BA06AB71-0B36-4B80-B991-039F7D68F8CB}" type="slidenum">
              <a:rPr lang="fr-FR" smtClean="0"/>
              <a:t>4</a:t>
            </a:fld>
            <a:endParaRPr lang="fr-FR"/>
          </a:p>
        </p:txBody>
      </p:sp>
    </p:spTree>
    <p:extLst>
      <p:ext uri="{BB962C8B-B14F-4D97-AF65-F5344CB8AC3E}">
        <p14:creationId xmlns:p14="http://schemas.microsoft.com/office/powerpoint/2010/main" val="22779823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6B409ECA-B691-5B1C-5CCA-878C261674CB}"/>
              </a:ext>
            </a:extLst>
          </p:cNvPr>
          <p:cNvSpPr>
            <a:spLocks noGrp="1"/>
          </p:cNvSpPr>
          <p:nvPr>
            <p:ph idx="1"/>
          </p:nvPr>
        </p:nvSpPr>
        <p:spPr>
          <a:xfrm>
            <a:off x="125271" y="239480"/>
            <a:ext cx="11695427" cy="6403977"/>
          </a:xfrm>
        </p:spPr>
        <p:txBody>
          <a:bodyPr>
            <a:normAutofit fontScale="85000" lnSpcReduction="20000"/>
          </a:bodyPr>
          <a:lstStyle/>
          <a:p>
            <a:pPr marL="0" indent="0">
              <a:buNone/>
            </a:pPr>
            <a:r>
              <a:rPr lang="fr-FR" sz="2900" u="sng" dirty="0"/>
              <a:t>1.3 Aspect du jeu de données</a:t>
            </a:r>
            <a:endParaRPr lang="fr-FR" sz="2900" dirty="0"/>
          </a:p>
          <a:p>
            <a:pPr marL="0" indent="0">
              <a:buNone/>
            </a:pPr>
            <a:endParaRPr lang="fr-FR" dirty="0"/>
          </a:p>
          <a:p>
            <a:pPr marL="0" indent="0">
              <a:buNone/>
            </a:pPr>
            <a:endParaRPr lang="fr-FR" dirty="0"/>
          </a:p>
          <a:p>
            <a:pPr marL="0" indent="0">
              <a:buNone/>
            </a:pPr>
            <a:endParaRPr lang="fr-FR" dirty="0"/>
          </a:p>
          <a:p>
            <a:pPr marL="0" indent="0">
              <a:buNone/>
            </a:pPr>
            <a:endParaRPr lang="fr-FR" dirty="0"/>
          </a:p>
          <a:p>
            <a:pPr marL="0" indent="0">
              <a:buNone/>
            </a:pPr>
            <a:endParaRPr lang="fr-FR" dirty="0"/>
          </a:p>
          <a:p>
            <a:pPr marL="0" indent="0">
              <a:buNone/>
            </a:pPr>
            <a:endParaRPr lang="fr-FR" dirty="0"/>
          </a:p>
          <a:p>
            <a:pPr marL="0" indent="0">
              <a:buNone/>
            </a:pPr>
            <a:endParaRPr lang="fr-FR" sz="2300" dirty="0"/>
          </a:p>
          <a:p>
            <a:pPr marL="0" indent="0">
              <a:buNone/>
            </a:pPr>
            <a:endParaRPr lang="fr-FR" sz="2300" dirty="0"/>
          </a:p>
          <a:p>
            <a:pPr marL="0" indent="0">
              <a:buNone/>
            </a:pPr>
            <a:endParaRPr lang="fr-FR" sz="2300" dirty="0"/>
          </a:p>
          <a:p>
            <a:pPr marL="0" indent="0">
              <a:buNone/>
            </a:pPr>
            <a:endParaRPr lang="fr-FR" sz="2300" dirty="0"/>
          </a:p>
          <a:p>
            <a:pPr marL="0" indent="0">
              <a:buNone/>
            </a:pPr>
            <a:r>
              <a:rPr lang="fr-FR" sz="2700" dirty="0"/>
              <a:t>Questions sur l'employeur, la santé mentale</a:t>
            </a:r>
          </a:p>
          <a:p>
            <a:pPr marL="0" indent="0">
              <a:buNone/>
            </a:pPr>
            <a:endParaRPr lang="fr-FR" sz="2700" dirty="0"/>
          </a:p>
          <a:p>
            <a:pPr marL="0" indent="0">
              <a:buNone/>
            </a:pPr>
            <a:r>
              <a:rPr lang="fr-FR" sz="2700" u="sng" dirty="0"/>
              <a:t>Exemple de question</a:t>
            </a:r>
            <a:r>
              <a:rPr lang="fr-FR" sz="2700" dirty="0"/>
              <a:t> : Pensez-vous que votre employeur prend autant au sérieux la santé mentale que la santé physique ?</a:t>
            </a:r>
          </a:p>
          <a:p>
            <a:pPr marL="0" indent="0">
              <a:buNone/>
            </a:pPr>
            <a:endParaRPr lang="fr-FR" sz="2700" dirty="0"/>
          </a:p>
          <a:p>
            <a:pPr marL="0" indent="0">
              <a:buNone/>
            </a:pPr>
            <a:r>
              <a:rPr lang="fr-FR" sz="2700" u="sng" dirty="0"/>
              <a:t>Question cible du modèle</a:t>
            </a:r>
            <a:r>
              <a:rPr lang="fr-FR" sz="2700" dirty="0"/>
              <a:t>: Avez-vous déjà demandé un traitement pour un problème de santé mentale ? </a:t>
            </a:r>
          </a:p>
          <a:p>
            <a:pPr marL="0" indent="0">
              <a:buNone/>
            </a:pPr>
            <a:endParaRPr lang="fr-FR" dirty="0"/>
          </a:p>
        </p:txBody>
      </p:sp>
      <p:pic>
        <p:nvPicPr>
          <p:cNvPr id="4" name="Image 3" descr="Une image contenant capture d’écran, texte, noir&#10;&#10;Description générée automatiquement"/>
          <p:cNvPicPr/>
          <p:nvPr/>
        </p:nvPicPr>
        <p:blipFill>
          <a:blip r:embed="rId3">
            <a:extLst>
              <a:ext uri="{28A0092B-C50C-407E-A947-70E740481C1C}">
                <a14:useLocalDpi xmlns:a14="http://schemas.microsoft.com/office/drawing/2010/main" val="0"/>
              </a:ext>
            </a:extLst>
          </a:blip>
          <a:stretch>
            <a:fillRect/>
          </a:stretch>
        </p:blipFill>
        <p:spPr>
          <a:xfrm>
            <a:off x="241648" y="1054467"/>
            <a:ext cx="10864156" cy="2345438"/>
          </a:xfrm>
          <a:prstGeom prst="rect">
            <a:avLst/>
          </a:prstGeom>
        </p:spPr>
      </p:pic>
      <p:sp>
        <p:nvSpPr>
          <p:cNvPr id="2" name="Espace réservé du numéro de diapositive 1">
            <a:extLst>
              <a:ext uri="{FF2B5EF4-FFF2-40B4-BE49-F238E27FC236}">
                <a16:creationId xmlns:a16="http://schemas.microsoft.com/office/drawing/2014/main" id="{B49866FB-0723-7C84-2859-D587B7BC7C32}"/>
              </a:ext>
            </a:extLst>
          </p:cNvPr>
          <p:cNvSpPr>
            <a:spLocks noGrp="1"/>
          </p:cNvSpPr>
          <p:nvPr>
            <p:ph type="sldNum" sz="quarter" idx="12"/>
          </p:nvPr>
        </p:nvSpPr>
        <p:spPr/>
        <p:txBody>
          <a:bodyPr/>
          <a:lstStyle/>
          <a:p>
            <a:fld id="{BA06AB71-0B36-4B80-B991-039F7D68F8CB}" type="slidenum">
              <a:rPr lang="fr-FR" smtClean="0"/>
              <a:t>5</a:t>
            </a:fld>
            <a:endParaRPr lang="fr-FR"/>
          </a:p>
        </p:txBody>
      </p:sp>
      <p:sp>
        <p:nvSpPr>
          <p:cNvPr id="7" name="ZoneTexte 6">
            <a:extLst>
              <a:ext uri="{FF2B5EF4-FFF2-40B4-BE49-F238E27FC236}">
                <a16:creationId xmlns:a16="http://schemas.microsoft.com/office/drawing/2014/main" id="{2D255CFE-E6F4-39C7-183A-488D81395ED4}"/>
              </a:ext>
            </a:extLst>
          </p:cNvPr>
          <p:cNvSpPr txBox="1"/>
          <p:nvPr/>
        </p:nvSpPr>
        <p:spPr>
          <a:xfrm>
            <a:off x="241648" y="3570054"/>
            <a:ext cx="5431781" cy="292388"/>
          </a:xfrm>
          <a:prstGeom prst="rect">
            <a:avLst/>
          </a:prstGeom>
          <a:noFill/>
        </p:spPr>
        <p:txBody>
          <a:bodyPr wrap="square" rtlCol="0">
            <a:spAutoFit/>
          </a:bodyPr>
          <a:lstStyle/>
          <a:p>
            <a:pPr>
              <a:spcAft>
                <a:spcPts val="1000"/>
              </a:spcAft>
            </a:pPr>
            <a:r>
              <a:rPr lang="fr-FR" sz="1300" i="1" dirty="0">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Figure 1 : Schéma de formalisation des fonctionnalités de l'application</a:t>
            </a:r>
          </a:p>
        </p:txBody>
      </p:sp>
    </p:spTree>
    <p:extLst>
      <p:ext uri="{BB962C8B-B14F-4D97-AF65-F5344CB8AC3E}">
        <p14:creationId xmlns:p14="http://schemas.microsoft.com/office/powerpoint/2010/main" val="12740070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6B409ECA-B691-5B1C-5CCA-878C261674CB}"/>
              </a:ext>
            </a:extLst>
          </p:cNvPr>
          <p:cNvSpPr>
            <a:spLocks noGrp="1"/>
          </p:cNvSpPr>
          <p:nvPr>
            <p:ph idx="1"/>
          </p:nvPr>
        </p:nvSpPr>
        <p:spPr>
          <a:xfrm>
            <a:off x="166834" y="271143"/>
            <a:ext cx="11695427" cy="5206393"/>
          </a:xfrm>
        </p:spPr>
        <p:txBody>
          <a:bodyPr>
            <a:normAutofit/>
          </a:bodyPr>
          <a:lstStyle/>
          <a:p>
            <a:pPr marL="0" indent="0">
              <a:buNone/>
            </a:pPr>
            <a:endParaRPr lang="fr-FR" dirty="0"/>
          </a:p>
          <a:p>
            <a:pPr marL="0" indent="0">
              <a:buNone/>
            </a:pPr>
            <a:endParaRPr lang="fr-FR" dirty="0"/>
          </a:p>
          <a:p>
            <a:pPr marL="0" indent="0">
              <a:buNone/>
            </a:pPr>
            <a:r>
              <a:rPr lang="fr-FR" dirty="0"/>
              <a:t>	</a:t>
            </a:r>
          </a:p>
          <a:p>
            <a:pPr marL="0" indent="0">
              <a:buNone/>
            </a:pPr>
            <a:endParaRPr lang="fr-FR" dirty="0"/>
          </a:p>
        </p:txBody>
      </p:sp>
      <p:pic>
        <p:nvPicPr>
          <p:cNvPr id="6" name="Image 5" descr="Une image contenant texte, capture d’écran, diagramme, Police&#10;&#10;Description générée automatiquement"/>
          <p:cNvPicPr/>
          <p:nvPr/>
        </p:nvPicPr>
        <p:blipFill>
          <a:blip r:embed="rId3">
            <a:extLst>
              <a:ext uri="{28A0092B-C50C-407E-A947-70E740481C1C}">
                <a14:useLocalDpi xmlns:a14="http://schemas.microsoft.com/office/drawing/2010/main" val="0"/>
              </a:ext>
            </a:extLst>
          </a:blip>
          <a:srcRect/>
          <a:stretch>
            <a:fillRect/>
          </a:stretch>
        </p:blipFill>
        <p:spPr bwMode="auto">
          <a:xfrm>
            <a:off x="1331801" y="1052837"/>
            <a:ext cx="9478052" cy="5067506"/>
          </a:xfrm>
          <a:prstGeom prst="rect">
            <a:avLst/>
          </a:prstGeom>
          <a:noFill/>
          <a:ln>
            <a:noFill/>
          </a:ln>
        </p:spPr>
      </p:pic>
      <p:sp>
        <p:nvSpPr>
          <p:cNvPr id="2" name="Espace réservé du numéro de diapositive 1">
            <a:extLst>
              <a:ext uri="{FF2B5EF4-FFF2-40B4-BE49-F238E27FC236}">
                <a16:creationId xmlns:a16="http://schemas.microsoft.com/office/drawing/2014/main" id="{83873A2C-242D-4345-8998-2798F7CECFAC}"/>
              </a:ext>
            </a:extLst>
          </p:cNvPr>
          <p:cNvSpPr>
            <a:spLocks noGrp="1"/>
          </p:cNvSpPr>
          <p:nvPr>
            <p:ph type="sldNum" sz="quarter" idx="12"/>
          </p:nvPr>
        </p:nvSpPr>
        <p:spPr/>
        <p:txBody>
          <a:bodyPr/>
          <a:lstStyle/>
          <a:p>
            <a:fld id="{BA06AB71-0B36-4B80-B991-039F7D68F8CB}" type="slidenum">
              <a:rPr lang="fr-FR" smtClean="0"/>
              <a:t>6</a:t>
            </a:fld>
            <a:endParaRPr lang="fr-FR"/>
          </a:p>
        </p:txBody>
      </p:sp>
      <p:sp>
        <p:nvSpPr>
          <p:cNvPr id="4" name="ZoneTexte 3">
            <a:extLst>
              <a:ext uri="{FF2B5EF4-FFF2-40B4-BE49-F238E27FC236}">
                <a16:creationId xmlns:a16="http://schemas.microsoft.com/office/drawing/2014/main" id="{901E334C-5E3A-1FF8-D1B0-2726BF930FF2}"/>
              </a:ext>
            </a:extLst>
          </p:cNvPr>
          <p:cNvSpPr txBox="1"/>
          <p:nvPr/>
        </p:nvSpPr>
        <p:spPr>
          <a:xfrm>
            <a:off x="166834" y="329562"/>
            <a:ext cx="7186073" cy="754053"/>
          </a:xfrm>
          <a:prstGeom prst="rect">
            <a:avLst/>
          </a:prstGeom>
          <a:noFill/>
        </p:spPr>
        <p:txBody>
          <a:bodyPr wrap="square" rtlCol="0">
            <a:spAutoFit/>
          </a:bodyPr>
          <a:lstStyle/>
          <a:p>
            <a:r>
              <a:rPr lang="fr-FR" sz="2500" u="sng" dirty="0"/>
              <a:t>1.4 Outils de développement utilisés</a:t>
            </a:r>
          </a:p>
          <a:p>
            <a:endParaRPr lang="fr-FR" dirty="0"/>
          </a:p>
        </p:txBody>
      </p:sp>
      <p:sp>
        <p:nvSpPr>
          <p:cNvPr id="5" name="ZoneTexte 4">
            <a:extLst>
              <a:ext uri="{FF2B5EF4-FFF2-40B4-BE49-F238E27FC236}">
                <a16:creationId xmlns:a16="http://schemas.microsoft.com/office/drawing/2014/main" id="{23391959-58DE-B53C-EE7C-981F3C8BBBBE}"/>
              </a:ext>
            </a:extLst>
          </p:cNvPr>
          <p:cNvSpPr txBox="1"/>
          <p:nvPr/>
        </p:nvSpPr>
        <p:spPr>
          <a:xfrm>
            <a:off x="1331801" y="6214682"/>
            <a:ext cx="5431781" cy="292388"/>
          </a:xfrm>
          <a:prstGeom prst="rect">
            <a:avLst/>
          </a:prstGeom>
          <a:noFill/>
        </p:spPr>
        <p:txBody>
          <a:bodyPr wrap="square" rtlCol="0">
            <a:spAutoFit/>
          </a:bodyPr>
          <a:lstStyle/>
          <a:p>
            <a:pPr>
              <a:spcAft>
                <a:spcPts val="1000"/>
              </a:spcAft>
            </a:pPr>
            <a:r>
              <a:rPr lang="fr-FR" sz="1300" i="1" dirty="0">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Figure 2 : Schéma fonctionnel utilisé pour le projet</a:t>
            </a:r>
          </a:p>
        </p:txBody>
      </p:sp>
    </p:spTree>
    <p:extLst>
      <p:ext uri="{BB962C8B-B14F-4D97-AF65-F5344CB8AC3E}">
        <p14:creationId xmlns:p14="http://schemas.microsoft.com/office/powerpoint/2010/main" val="13780356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6B409ECA-B691-5B1C-5CCA-878C261674CB}"/>
              </a:ext>
            </a:extLst>
          </p:cNvPr>
          <p:cNvSpPr>
            <a:spLocks noGrp="1"/>
          </p:cNvSpPr>
          <p:nvPr>
            <p:ph idx="1"/>
          </p:nvPr>
        </p:nvSpPr>
        <p:spPr>
          <a:xfrm>
            <a:off x="108644" y="204641"/>
            <a:ext cx="11695427" cy="5406449"/>
          </a:xfrm>
        </p:spPr>
        <p:txBody>
          <a:bodyPr>
            <a:normAutofit/>
          </a:bodyPr>
          <a:lstStyle/>
          <a:p>
            <a:pPr marL="0" indent="0">
              <a:buNone/>
            </a:pPr>
            <a:r>
              <a:rPr lang="fr-FR" sz="2500" u="sng" dirty="0"/>
              <a:t>1.5 Gestion de projet</a:t>
            </a:r>
            <a:endParaRPr lang="fr-FR" sz="2500" dirty="0"/>
          </a:p>
        </p:txBody>
      </p:sp>
      <p:pic>
        <p:nvPicPr>
          <p:cNvPr id="11" name="Image 10" descr="Une image contenant texte, capture d’écran, diagramme, ligne"/>
          <p:cNvPicPr/>
          <p:nvPr/>
        </p:nvPicPr>
        <p:blipFill>
          <a:blip r:embed="rId3">
            <a:extLst>
              <a:ext uri="{28A0092B-C50C-407E-A947-70E740481C1C}">
                <a14:useLocalDpi xmlns:a14="http://schemas.microsoft.com/office/drawing/2010/main" val="0"/>
              </a:ext>
            </a:extLst>
          </a:blip>
          <a:stretch>
            <a:fillRect/>
          </a:stretch>
        </p:blipFill>
        <p:spPr>
          <a:xfrm>
            <a:off x="108644" y="1038201"/>
            <a:ext cx="8079392" cy="5175833"/>
          </a:xfrm>
          <a:prstGeom prst="rect">
            <a:avLst/>
          </a:prstGeom>
        </p:spPr>
      </p:pic>
      <p:pic>
        <p:nvPicPr>
          <p:cNvPr id="12" name="Image 11" descr="Une image contenant texte, capture d’écran, Police, nombre"/>
          <p:cNvPicPr/>
          <p:nvPr/>
        </p:nvPicPr>
        <p:blipFill>
          <a:blip r:embed="rId4">
            <a:extLst>
              <a:ext uri="{28A0092B-C50C-407E-A947-70E740481C1C}">
                <a14:useLocalDpi xmlns:a14="http://schemas.microsoft.com/office/drawing/2010/main" val="0"/>
              </a:ext>
            </a:extLst>
          </a:blip>
          <a:stretch>
            <a:fillRect/>
          </a:stretch>
        </p:blipFill>
        <p:spPr>
          <a:xfrm>
            <a:off x="7278614" y="3157795"/>
            <a:ext cx="4765040" cy="1579880"/>
          </a:xfrm>
          <a:prstGeom prst="rect">
            <a:avLst/>
          </a:prstGeom>
        </p:spPr>
      </p:pic>
      <p:sp>
        <p:nvSpPr>
          <p:cNvPr id="2" name="Espace réservé du numéro de diapositive 1">
            <a:extLst>
              <a:ext uri="{FF2B5EF4-FFF2-40B4-BE49-F238E27FC236}">
                <a16:creationId xmlns:a16="http://schemas.microsoft.com/office/drawing/2014/main" id="{75E7E1DD-28AC-14CB-71F7-9951F932981F}"/>
              </a:ext>
            </a:extLst>
          </p:cNvPr>
          <p:cNvSpPr>
            <a:spLocks noGrp="1"/>
          </p:cNvSpPr>
          <p:nvPr>
            <p:ph type="sldNum" sz="quarter" idx="12"/>
          </p:nvPr>
        </p:nvSpPr>
        <p:spPr/>
        <p:txBody>
          <a:bodyPr/>
          <a:lstStyle/>
          <a:p>
            <a:fld id="{BA06AB71-0B36-4B80-B991-039F7D68F8CB}" type="slidenum">
              <a:rPr lang="fr-FR" smtClean="0"/>
              <a:t>7</a:t>
            </a:fld>
            <a:endParaRPr lang="fr-FR"/>
          </a:p>
        </p:txBody>
      </p:sp>
      <p:sp>
        <p:nvSpPr>
          <p:cNvPr id="4" name="ZoneTexte 3">
            <a:extLst>
              <a:ext uri="{FF2B5EF4-FFF2-40B4-BE49-F238E27FC236}">
                <a16:creationId xmlns:a16="http://schemas.microsoft.com/office/drawing/2014/main" id="{09F26875-6EB2-C2CC-9074-6F6966F92AA1}"/>
              </a:ext>
            </a:extLst>
          </p:cNvPr>
          <p:cNvSpPr txBox="1"/>
          <p:nvPr/>
        </p:nvSpPr>
        <p:spPr>
          <a:xfrm>
            <a:off x="108644" y="6356350"/>
            <a:ext cx="5431781" cy="292388"/>
          </a:xfrm>
          <a:prstGeom prst="rect">
            <a:avLst/>
          </a:prstGeom>
          <a:noFill/>
        </p:spPr>
        <p:txBody>
          <a:bodyPr wrap="square" rtlCol="0">
            <a:spAutoFit/>
          </a:bodyPr>
          <a:lstStyle/>
          <a:p>
            <a:pPr>
              <a:spcAft>
                <a:spcPts val="1000"/>
              </a:spcAft>
            </a:pPr>
            <a:r>
              <a:rPr lang="fr-FR" sz="1300" i="1" dirty="0">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Figure 3 : Diagramme de Gantt, avec le tableau des périodes</a:t>
            </a:r>
          </a:p>
        </p:txBody>
      </p:sp>
      <p:sp>
        <p:nvSpPr>
          <p:cNvPr id="5" name="Rectangle 4">
            <a:extLst>
              <a:ext uri="{FF2B5EF4-FFF2-40B4-BE49-F238E27FC236}">
                <a16:creationId xmlns:a16="http://schemas.microsoft.com/office/drawing/2014/main" id="{0D73EA35-CCFD-2242-46FB-EE8E8434E2E7}"/>
              </a:ext>
            </a:extLst>
          </p:cNvPr>
          <p:cNvSpPr/>
          <p:nvPr/>
        </p:nvSpPr>
        <p:spPr>
          <a:xfrm>
            <a:off x="11274933" y="204641"/>
            <a:ext cx="648929" cy="294968"/>
          </a:xfrm>
          <a:prstGeom prst="rect">
            <a:avLst/>
          </a:prstGeom>
          <a:solidFill>
            <a:srgbClr val="FFC000"/>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400" dirty="0">
                <a:solidFill>
                  <a:schemeClr val="tx1"/>
                </a:solidFill>
              </a:rPr>
              <a:t>C16</a:t>
            </a:r>
          </a:p>
        </p:txBody>
      </p:sp>
    </p:spTree>
    <p:extLst>
      <p:ext uri="{BB962C8B-B14F-4D97-AF65-F5344CB8AC3E}">
        <p14:creationId xmlns:p14="http://schemas.microsoft.com/office/powerpoint/2010/main" val="23490610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161291" y="204641"/>
            <a:ext cx="11343944" cy="6346630"/>
          </a:xfrm>
        </p:spPr>
        <p:txBody>
          <a:bodyPr>
            <a:noAutofit/>
          </a:bodyPr>
          <a:lstStyle/>
          <a:p>
            <a:pPr marL="0" indent="0">
              <a:buNone/>
            </a:pPr>
            <a:r>
              <a:rPr lang="fr-FR" sz="2500" u="sng" dirty="0"/>
              <a:t>1.6 Comptes rendus d'avancement</a:t>
            </a:r>
          </a:p>
          <a:p>
            <a:pPr marL="0" indent="0">
              <a:buNone/>
            </a:pPr>
            <a:endParaRPr lang="fr-FR" sz="2500" u="sng" dirty="0"/>
          </a:p>
          <a:p>
            <a:pPr marL="0" indent="0">
              <a:buNone/>
            </a:pPr>
            <a:r>
              <a:rPr lang="fr-FR" sz="2300" dirty="0"/>
              <a:t>Les réunions se sont déroulées les jeudis, à 14 heures, avec le Pr René Gallimard et Pr Hervé </a:t>
            </a:r>
            <a:r>
              <a:rPr lang="fr-FR" sz="2300" dirty="0" err="1"/>
              <a:t>Ducroc</a:t>
            </a:r>
            <a:r>
              <a:rPr lang="fr-FR" sz="2300" dirty="0"/>
              <a:t>.</a:t>
            </a:r>
          </a:p>
          <a:p>
            <a:pPr marL="0" indent="0">
              <a:buNone/>
            </a:pPr>
            <a:endParaRPr lang="fr-FR" sz="2300" dirty="0"/>
          </a:p>
          <a:p>
            <a:pPr marL="0" indent="0">
              <a:buNone/>
            </a:pPr>
            <a:r>
              <a:rPr lang="fr-FR" sz="2300" u="sng" dirty="0"/>
              <a:t>Rapport 1, 29 février</a:t>
            </a:r>
            <a:endParaRPr lang="fr-FR" sz="2300" dirty="0"/>
          </a:p>
          <a:p>
            <a:pPr marL="0" indent="0">
              <a:buNone/>
            </a:pPr>
            <a:r>
              <a:rPr lang="fr-FR" sz="2300" dirty="0"/>
              <a:t>Présentation du fichier d'analyse exploratoire des données :</a:t>
            </a:r>
          </a:p>
          <a:p>
            <a:pPr marL="0" indent="0">
              <a:buNone/>
            </a:pPr>
            <a:r>
              <a:rPr lang="fr-FR" sz="2300" dirty="0"/>
              <a:t>		- Stratégie adoptée pour les valeurs manquantes, colonnes inutiles, lignes supprimées, simplification de la colonne "Genre".</a:t>
            </a:r>
          </a:p>
          <a:p>
            <a:pPr marL="0" indent="0">
              <a:buNone/>
            </a:pPr>
            <a:r>
              <a:rPr lang="fr-FR" sz="2300" dirty="0"/>
              <a:t>		- Graphiques de représentation des données et interprétation</a:t>
            </a:r>
          </a:p>
          <a:p>
            <a:pPr marL="0" indent="0">
              <a:buNone/>
            </a:pPr>
            <a:r>
              <a:rPr lang="fr-FR" sz="2300" dirty="0"/>
              <a:t>		- Résumé des stratégie adaptées (script python)</a:t>
            </a:r>
          </a:p>
          <a:p>
            <a:pPr marL="0" indent="0">
              <a:buNone/>
            </a:pPr>
            <a:r>
              <a:rPr lang="fr-FR" sz="2300" dirty="0"/>
              <a:t>Nous nous sommes mis d'accord sur les stratégies adoptées de nettoyage de données, nous avons exploré ensemble les résultats de l'analyse exploratoire des données.  </a:t>
            </a:r>
          </a:p>
          <a:p>
            <a:pPr marL="0" indent="0">
              <a:buNone/>
            </a:pPr>
            <a:endParaRPr lang="fr-FR" sz="2300" dirty="0"/>
          </a:p>
        </p:txBody>
      </p:sp>
      <p:sp>
        <p:nvSpPr>
          <p:cNvPr id="4" name="Espace réservé du numéro de diapositive 3">
            <a:extLst>
              <a:ext uri="{FF2B5EF4-FFF2-40B4-BE49-F238E27FC236}">
                <a16:creationId xmlns:a16="http://schemas.microsoft.com/office/drawing/2014/main" id="{F95C3810-9747-FEDE-D1C5-B99F4E1E90F4}"/>
              </a:ext>
            </a:extLst>
          </p:cNvPr>
          <p:cNvSpPr>
            <a:spLocks noGrp="1"/>
          </p:cNvSpPr>
          <p:nvPr>
            <p:ph type="sldNum" sz="quarter" idx="12"/>
          </p:nvPr>
        </p:nvSpPr>
        <p:spPr/>
        <p:txBody>
          <a:bodyPr/>
          <a:lstStyle/>
          <a:p>
            <a:fld id="{BA06AB71-0B36-4B80-B991-039F7D68F8CB}" type="slidenum">
              <a:rPr lang="fr-FR" smtClean="0"/>
              <a:t>8</a:t>
            </a:fld>
            <a:endParaRPr lang="fr-FR"/>
          </a:p>
        </p:txBody>
      </p:sp>
      <p:sp>
        <p:nvSpPr>
          <p:cNvPr id="5" name="Rectangle 4">
            <a:extLst>
              <a:ext uri="{FF2B5EF4-FFF2-40B4-BE49-F238E27FC236}">
                <a16:creationId xmlns:a16="http://schemas.microsoft.com/office/drawing/2014/main" id="{82279BD9-1E33-5D43-57BB-57FFC3A2D3DF}"/>
              </a:ext>
            </a:extLst>
          </p:cNvPr>
          <p:cNvSpPr/>
          <p:nvPr/>
        </p:nvSpPr>
        <p:spPr>
          <a:xfrm>
            <a:off x="11274933" y="204641"/>
            <a:ext cx="648929" cy="294968"/>
          </a:xfrm>
          <a:prstGeom prst="rect">
            <a:avLst/>
          </a:prstGeom>
          <a:solidFill>
            <a:srgbClr val="FFC000"/>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400" dirty="0">
                <a:solidFill>
                  <a:schemeClr val="tx1"/>
                </a:solidFill>
              </a:rPr>
              <a:t>C18</a:t>
            </a:r>
          </a:p>
        </p:txBody>
      </p:sp>
    </p:spTree>
    <p:extLst>
      <p:ext uri="{BB962C8B-B14F-4D97-AF65-F5344CB8AC3E}">
        <p14:creationId xmlns:p14="http://schemas.microsoft.com/office/powerpoint/2010/main" val="19457351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161291" y="204641"/>
            <a:ext cx="11343944" cy="6346630"/>
          </a:xfrm>
        </p:spPr>
        <p:txBody>
          <a:bodyPr>
            <a:noAutofit/>
          </a:bodyPr>
          <a:lstStyle/>
          <a:p>
            <a:pPr marL="0" indent="0">
              <a:buNone/>
            </a:pPr>
            <a:r>
              <a:rPr lang="fr-FR" sz="2300" u="sng" dirty="0"/>
              <a:t>Rapport 2, 7 mars</a:t>
            </a:r>
            <a:endParaRPr lang="fr-FR" sz="2300" dirty="0"/>
          </a:p>
          <a:p>
            <a:pPr marL="0" indent="0">
              <a:buNone/>
            </a:pPr>
            <a:r>
              <a:rPr lang="fr-FR" sz="2300" dirty="0"/>
              <a:t>Présentation de l'entraînement du modèle et des résultats :</a:t>
            </a:r>
          </a:p>
          <a:p>
            <a:pPr marL="0" indent="0">
              <a:buNone/>
            </a:pPr>
            <a:r>
              <a:rPr lang="fr-FR" sz="2300" dirty="0"/>
              <a:t>		- Vulgarisation du machine </a:t>
            </a:r>
            <a:r>
              <a:rPr lang="fr-FR" sz="2300" dirty="0" err="1"/>
              <a:t>learning</a:t>
            </a:r>
            <a:endParaRPr lang="fr-FR" sz="2300" dirty="0"/>
          </a:p>
          <a:p>
            <a:pPr marL="0" indent="0">
              <a:buNone/>
            </a:pPr>
            <a:r>
              <a:rPr lang="fr-FR" sz="2300" dirty="0"/>
              <a:t>		- Présentation des résultats </a:t>
            </a:r>
          </a:p>
          <a:p>
            <a:pPr marL="0" indent="0">
              <a:buNone/>
            </a:pPr>
            <a:r>
              <a:rPr lang="fr-FR" sz="2300" dirty="0"/>
              <a:t>		- Présentation d'un test</a:t>
            </a:r>
          </a:p>
          <a:p>
            <a:pPr marL="0" indent="0">
              <a:buNone/>
            </a:pPr>
            <a:r>
              <a:rPr lang="fr-FR" sz="2300" dirty="0"/>
              <a:t>Lors de l'analyse des résultats, les professeurs ont cherché à savoir le fonctionnement interne du meilleur modèle, à savoir régression logistique, je me suis donc informé et leur ai présenté son fonctionnement.</a:t>
            </a:r>
          </a:p>
          <a:p>
            <a:pPr marL="0" indent="0">
              <a:buNone/>
            </a:pPr>
            <a:r>
              <a:rPr lang="fr-FR" sz="2300" dirty="0"/>
              <a:t> </a:t>
            </a:r>
          </a:p>
          <a:p>
            <a:pPr marL="0" indent="0">
              <a:buNone/>
            </a:pPr>
            <a:r>
              <a:rPr lang="fr-FR" sz="2300" u="sng" dirty="0"/>
              <a:t>Rapport 3, 28 mars</a:t>
            </a:r>
            <a:endParaRPr lang="fr-FR" sz="2300" dirty="0"/>
          </a:p>
          <a:p>
            <a:pPr marL="0" indent="0">
              <a:buNone/>
            </a:pPr>
            <a:r>
              <a:rPr lang="fr-FR" sz="2300" dirty="0"/>
              <a:t>Présentation de l'application fonctionnelle :</a:t>
            </a:r>
          </a:p>
          <a:p>
            <a:pPr marL="0" indent="0">
              <a:buNone/>
            </a:pPr>
            <a:r>
              <a:rPr lang="fr-FR" sz="2300" dirty="0"/>
              <a:t>Nous avons vu ensemble si le produit fini était conforme aux attentes, nous avons discuté du fait d'intégrer un niveau de certitude dans les prédictions.</a:t>
            </a:r>
          </a:p>
          <a:p>
            <a:pPr marL="0" indent="0">
              <a:buNone/>
            </a:pPr>
            <a:endParaRPr lang="fr-FR" sz="1200" dirty="0"/>
          </a:p>
        </p:txBody>
      </p:sp>
      <p:sp>
        <p:nvSpPr>
          <p:cNvPr id="4" name="Espace réservé du numéro de diapositive 3">
            <a:extLst>
              <a:ext uri="{FF2B5EF4-FFF2-40B4-BE49-F238E27FC236}">
                <a16:creationId xmlns:a16="http://schemas.microsoft.com/office/drawing/2014/main" id="{F95C3810-9747-FEDE-D1C5-B99F4E1E90F4}"/>
              </a:ext>
            </a:extLst>
          </p:cNvPr>
          <p:cNvSpPr>
            <a:spLocks noGrp="1"/>
          </p:cNvSpPr>
          <p:nvPr>
            <p:ph type="sldNum" sz="quarter" idx="12"/>
          </p:nvPr>
        </p:nvSpPr>
        <p:spPr/>
        <p:txBody>
          <a:bodyPr/>
          <a:lstStyle/>
          <a:p>
            <a:fld id="{BA06AB71-0B36-4B80-B991-039F7D68F8CB}" type="slidenum">
              <a:rPr lang="fr-FR" smtClean="0"/>
              <a:t>9</a:t>
            </a:fld>
            <a:endParaRPr lang="fr-FR"/>
          </a:p>
        </p:txBody>
      </p:sp>
    </p:spTree>
    <p:extLst>
      <p:ext uri="{BB962C8B-B14F-4D97-AF65-F5344CB8AC3E}">
        <p14:creationId xmlns:p14="http://schemas.microsoft.com/office/powerpoint/2010/main" val="19570580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6B409ECA-B691-5B1C-5CCA-878C261674CB}"/>
              </a:ext>
            </a:extLst>
          </p:cNvPr>
          <p:cNvSpPr>
            <a:spLocks noGrp="1"/>
          </p:cNvSpPr>
          <p:nvPr>
            <p:ph idx="1"/>
          </p:nvPr>
        </p:nvSpPr>
        <p:spPr>
          <a:xfrm>
            <a:off x="92019" y="1451551"/>
            <a:ext cx="11695427" cy="5406449"/>
          </a:xfrm>
        </p:spPr>
        <p:txBody>
          <a:bodyPr/>
          <a:lstStyle/>
          <a:p>
            <a:pPr marL="0" indent="0">
              <a:buNone/>
            </a:pPr>
            <a:r>
              <a:rPr lang="fr-FR" sz="2500" u="sng" dirty="0"/>
              <a:t>2.1 Nettoyage des données</a:t>
            </a:r>
          </a:p>
          <a:p>
            <a:pPr marL="0" indent="0">
              <a:buNone/>
            </a:pPr>
            <a:endParaRPr lang="fr-FR" u="sng" dirty="0"/>
          </a:p>
          <a:p>
            <a:pPr marL="0" indent="0">
              <a:buNone/>
            </a:pPr>
            <a:endParaRPr lang="fr-FR" u="sng" dirty="0"/>
          </a:p>
          <a:p>
            <a:pPr marL="0" indent="0">
              <a:buNone/>
            </a:pPr>
            <a:endParaRPr lang="fr-FR" dirty="0"/>
          </a:p>
        </p:txBody>
      </p:sp>
      <p:sp>
        <p:nvSpPr>
          <p:cNvPr id="8" name="Titre 1">
            <a:extLst>
              <a:ext uri="{FF2B5EF4-FFF2-40B4-BE49-F238E27FC236}">
                <a16:creationId xmlns:a16="http://schemas.microsoft.com/office/drawing/2014/main" id="{E9C259C4-15CF-5FF1-5FA6-82A0B80722A6}"/>
              </a:ext>
            </a:extLst>
          </p:cNvPr>
          <p:cNvSpPr>
            <a:spLocks noGrp="1"/>
          </p:cNvSpPr>
          <p:nvPr>
            <p:ph type="title"/>
          </p:nvPr>
        </p:nvSpPr>
        <p:spPr>
          <a:xfrm>
            <a:off x="92019" y="121514"/>
            <a:ext cx="11495923" cy="766852"/>
          </a:xfrm>
        </p:spPr>
        <p:txBody>
          <a:bodyPr>
            <a:normAutofit/>
          </a:bodyPr>
          <a:lstStyle/>
          <a:p>
            <a:r>
              <a:rPr lang="fr-FR" sz="4000" dirty="0"/>
              <a:t>2. Gestion des données analytiques du projet</a:t>
            </a:r>
          </a:p>
        </p:txBody>
      </p:sp>
      <p:pic>
        <p:nvPicPr>
          <p:cNvPr id="2" name="Image 1"/>
          <p:cNvPicPr>
            <a:picLocks noChangeAspect="1"/>
          </p:cNvPicPr>
          <p:nvPr/>
        </p:nvPicPr>
        <p:blipFill>
          <a:blip r:embed="rId3"/>
          <a:stretch>
            <a:fillRect/>
          </a:stretch>
        </p:blipFill>
        <p:spPr>
          <a:xfrm>
            <a:off x="6041248" y="1137308"/>
            <a:ext cx="5312551" cy="5584168"/>
          </a:xfrm>
          <a:prstGeom prst="rect">
            <a:avLst/>
          </a:prstGeom>
        </p:spPr>
      </p:pic>
      <p:sp>
        <p:nvSpPr>
          <p:cNvPr id="4" name="Espace réservé du numéro de diapositive 3">
            <a:extLst>
              <a:ext uri="{FF2B5EF4-FFF2-40B4-BE49-F238E27FC236}">
                <a16:creationId xmlns:a16="http://schemas.microsoft.com/office/drawing/2014/main" id="{3CAF3126-CF04-04ED-80D0-99B785FAFF79}"/>
              </a:ext>
            </a:extLst>
          </p:cNvPr>
          <p:cNvSpPr>
            <a:spLocks noGrp="1"/>
          </p:cNvSpPr>
          <p:nvPr>
            <p:ph type="sldNum" sz="quarter" idx="12"/>
          </p:nvPr>
        </p:nvSpPr>
        <p:spPr/>
        <p:txBody>
          <a:bodyPr/>
          <a:lstStyle/>
          <a:p>
            <a:fld id="{BA06AB71-0B36-4B80-B991-039F7D68F8CB}" type="slidenum">
              <a:rPr lang="fr-FR" smtClean="0"/>
              <a:t>10</a:t>
            </a:fld>
            <a:endParaRPr lang="fr-FR"/>
          </a:p>
        </p:txBody>
      </p:sp>
      <p:sp>
        <p:nvSpPr>
          <p:cNvPr id="6" name="ZoneTexte 5">
            <a:extLst>
              <a:ext uri="{FF2B5EF4-FFF2-40B4-BE49-F238E27FC236}">
                <a16:creationId xmlns:a16="http://schemas.microsoft.com/office/drawing/2014/main" id="{3E2EF921-A972-6302-6EE7-67D4A4C6961E}"/>
              </a:ext>
            </a:extLst>
          </p:cNvPr>
          <p:cNvSpPr txBox="1"/>
          <p:nvPr/>
        </p:nvSpPr>
        <p:spPr>
          <a:xfrm>
            <a:off x="92019" y="6316669"/>
            <a:ext cx="5431781" cy="292388"/>
          </a:xfrm>
          <a:prstGeom prst="rect">
            <a:avLst/>
          </a:prstGeom>
          <a:noFill/>
        </p:spPr>
        <p:txBody>
          <a:bodyPr wrap="square" rtlCol="0">
            <a:spAutoFit/>
          </a:bodyPr>
          <a:lstStyle/>
          <a:p>
            <a:pPr>
              <a:spcAft>
                <a:spcPts val="1000"/>
              </a:spcAft>
            </a:pPr>
            <a:r>
              <a:rPr lang="fr-FR" sz="1300" i="1" dirty="0">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Figure 4 : Stratégie de nettoyage des données</a:t>
            </a:r>
          </a:p>
        </p:txBody>
      </p:sp>
    </p:spTree>
    <p:extLst>
      <p:ext uri="{BB962C8B-B14F-4D97-AF65-F5344CB8AC3E}">
        <p14:creationId xmlns:p14="http://schemas.microsoft.com/office/powerpoint/2010/main" val="20565187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6B409ECA-B691-5B1C-5CCA-878C261674CB}"/>
              </a:ext>
            </a:extLst>
          </p:cNvPr>
          <p:cNvSpPr>
            <a:spLocks noGrp="1"/>
          </p:cNvSpPr>
          <p:nvPr>
            <p:ph idx="1"/>
          </p:nvPr>
        </p:nvSpPr>
        <p:spPr>
          <a:xfrm>
            <a:off x="150208" y="237893"/>
            <a:ext cx="11695427" cy="5406449"/>
          </a:xfrm>
        </p:spPr>
        <p:txBody>
          <a:bodyPr/>
          <a:lstStyle/>
          <a:p>
            <a:pPr marL="0" indent="0">
              <a:buNone/>
            </a:pPr>
            <a:r>
              <a:rPr lang="fr-FR" sz="2500" u="sng" dirty="0"/>
              <a:t>2.2 Analyse exploratoire des données :</a:t>
            </a:r>
          </a:p>
          <a:p>
            <a:pPr marL="0" indent="0">
              <a:buNone/>
            </a:pPr>
            <a:endParaRPr lang="fr-FR" sz="2200" dirty="0"/>
          </a:p>
          <a:p>
            <a:pPr marL="0" indent="0">
              <a:buNone/>
            </a:pPr>
            <a:r>
              <a:rPr lang="fr-FR" sz="2300" dirty="0"/>
              <a:t>1259 lignes et 27 colonnes</a:t>
            </a:r>
          </a:p>
          <a:p>
            <a:pPr marL="0" indent="0">
              <a:buNone/>
            </a:pPr>
            <a:endParaRPr lang="fr-FR" dirty="0"/>
          </a:p>
        </p:txBody>
      </p:sp>
      <p:pic>
        <p:nvPicPr>
          <p:cNvPr id="5" name="Image 4"/>
          <p:cNvPicPr/>
          <p:nvPr/>
        </p:nvPicPr>
        <p:blipFill>
          <a:blip r:embed="rId3">
            <a:extLst>
              <a:ext uri="{28A0092B-C50C-407E-A947-70E740481C1C}">
                <a14:useLocalDpi xmlns:a14="http://schemas.microsoft.com/office/drawing/2010/main" val="0"/>
              </a:ext>
            </a:extLst>
          </a:blip>
          <a:stretch>
            <a:fillRect/>
          </a:stretch>
        </p:blipFill>
        <p:spPr>
          <a:xfrm>
            <a:off x="554179" y="1849238"/>
            <a:ext cx="3818316" cy="3865416"/>
          </a:xfrm>
          <a:prstGeom prst="rect">
            <a:avLst/>
          </a:prstGeom>
        </p:spPr>
      </p:pic>
      <p:pic>
        <p:nvPicPr>
          <p:cNvPr id="7" name="Image 6"/>
          <p:cNvPicPr/>
          <p:nvPr/>
        </p:nvPicPr>
        <p:blipFill>
          <a:blip r:embed="rId4"/>
          <a:stretch>
            <a:fillRect/>
          </a:stretch>
        </p:blipFill>
        <p:spPr>
          <a:xfrm>
            <a:off x="5197934" y="2194219"/>
            <a:ext cx="5822261" cy="3520435"/>
          </a:xfrm>
          <a:prstGeom prst="rect">
            <a:avLst/>
          </a:prstGeom>
        </p:spPr>
      </p:pic>
      <p:sp>
        <p:nvSpPr>
          <p:cNvPr id="2" name="Espace réservé du numéro de diapositive 1">
            <a:extLst>
              <a:ext uri="{FF2B5EF4-FFF2-40B4-BE49-F238E27FC236}">
                <a16:creationId xmlns:a16="http://schemas.microsoft.com/office/drawing/2014/main" id="{649067CC-BF41-5089-9E68-8B88E5697EBE}"/>
              </a:ext>
            </a:extLst>
          </p:cNvPr>
          <p:cNvSpPr>
            <a:spLocks noGrp="1"/>
          </p:cNvSpPr>
          <p:nvPr>
            <p:ph type="sldNum" sz="quarter" idx="12"/>
          </p:nvPr>
        </p:nvSpPr>
        <p:spPr/>
        <p:txBody>
          <a:bodyPr/>
          <a:lstStyle/>
          <a:p>
            <a:fld id="{BA06AB71-0B36-4B80-B991-039F7D68F8CB}" type="slidenum">
              <a:rPr lang="fr-FR" smtClean="0"/>
              <a:t>11</a:t>
            </a:fld>
            <a:endParaRPr lang="fr-FR"/>
          </a:p>
        </p:txBody>
      </p:sp>
      <p:sp>
        <p:nvSpPr>
          <p:cNvPr id="4" name="ZoneTexte 3">
            <a:extLst>
              <a:ext uri="{FF2B5EF4-FFF2-40B4-BE49-F238E27FC236}">
                <a16:creationId xmlns:a16="http://schemas.microsoft.com/office/drawing/2014/main" id="{9C64543C-9B0C-AB1C-1EE2-E7DA7B39683E}"/>
              </a:ext>
            </a:extLst>
          </p:cNvPr>
          <p:cNvSpPr txBox="1"/>
          <p:nvPr/>
        </p:nvSpPr>
        <p:spPr>
          <a:xfrm>
            <a:off x="490238" y="6063962"/>
            <a:ext cx="5431781" cy="292388"/>
          </a:xfrm>
          <a:prstGeom prst="rect">
            <a:avLst/>
          </a:prstGeom>
          <a:noFill/>
        </p:spPr>
        <p:txBody>
          <a:bodyPr wrap="square" rtlCol="0">
            <a:spAutoFit/>
          </a:bodyPr>
          <a:lstStyle/>
          <a:p>
            <a:pPr>
              <a:spcAft>
                <a:spcPts val="1000"/>
              </a:spcAft>
            </a:pPr>
            <a:r>
              <a:rPr lang="fr-FR" sz="1300" i="1" dirty="0">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Figure 5 : Répartition des valeurs de la colonne "</a:t>
            </a:r>
            <a:r>
              <a:rPr lang="fr-FR" sz="1300" i="1" dirty="0" err="1">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treatment</a:t>
            </a:r>
            <a:r>
              <a:rPr lang="fr-FR" sz="1300" i="1" dirty="0">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a:t>
            </a:r>
          </a:p>
        </p:txBody>
      </p:sp>
      <p:sp>
        <p:nvSpPr>
          <p:cNvPr id="8" name="ZoneTexte 7">
            <a:extLst>
              <a:ext uri="{FF2B5EF4-FFF2-40B4-BE49-F238E27FC236}">
                <a16:creationId xmlns:a16="http://schemas.microsoft.com/office/drawing/2014/main" id="{A815EA9C-DCA9-CDDB-95D0-AC0858940BC7}"/>
              </a:ext>
            </a:extLst>
          </p:cNvPr>
          <p:cNvSpPr txBox="1"/>
          <p:nvPr/>
        </p:nvSpPr>
        <p:spPr>
          <a:xfrm>
            <a:off x="5197934" y="6064345"/>
            <a:ext cx="5431781" cy="292388"/>
          </a:xfrm>
          <a:prstGeom prst="rect">
            <a:avLst/>
          </a:prstGeom>
          <a:noFill/>
        </p:spPr>
        <p:txBody>
          <a:bodyPr wrap="square" rtlCol="0">
            <a:spAutoFit/>
          </a:bodyPr>
          <a:lstStyle/>
          <a:p>
            <a:pPr>
              <a:spcAft>
                <a:spcPts val="1000"/>
              </a:spcAft>
            </a:pPr>
            <a:r>
              <a:rPr lang="fr-FR" sz="1300" i="1" dirty="0">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Figure 6 </a:t>
            </a:r>
            <a:r>
              <a:rPr lang="fr-FR" sz="1300" i="1" dirty="0">
                <a:solidFill>
                  <a:srgbClr val="44546A"/>
                </a:solidFill>
                <a:latin typeface="Calibri" panose="020F0502020204030204" pitchFamily="34" charset="0"/>
                <a:ea typeface="Calibri" panose="020F0502020204030204" pitchFamily="34" charset="0"/>
                <a:cs typeface="Times New Roman" panose="02020603050405020304" pitchFamily="18" charset="0"/>
              </a:rPr>
              <a:t>: Corrélation entre la colonne traitement et les autres colonnes</a:t>
            </a:r>
          </a:p>
        </p:txBody>
      </p:sp>
      <p:sp>
        <p:nvSpPr>
          <p:cNvPr id="6" name="Rectangle 5">
            <a:extLst>
              <a:ext uri="{FF2B5EF4-FFF2-40B4-BE49-F238E27FC236}">
                <a16:creationId xmlns:a16="http://schemas.microsoft.com/office/drawing/2014/main" id="{FA473614-8DB0-77A0-B3B0-610111806DDB}"/>
              </a:ext>
            </a:extLst>
          </p:cNvPr>
          <p:cNvSpPr/>
          <p:nvPr/>
        </p:nvSpPr>
        <p:spPr>
          <a:xfrm>
            <a:off x="11196706" y="237893"/>
            <a:ext cx="648929" cy="294968"/>
          </a:xfrm>
          <a:prstGeom prst="rect">
            <a:avLst/>
          </a:prstGeom>
          <a:solidFill>
            <a:srgbClr val="FFC000"/>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400" dirty="0">
                <a:solidFill>
                  <a:schemeClr val="tx1"/>
                </a:solidFill>
              </a:rPr>
              <a:t>C1</a:t>
            </a:r>
          </a:p>
        </p:txBody>
      </p:sp>
    </p:spTree>
    <p:extLst>
      <p:ext uri="{BB962C8B-B14F-4D97-AF65-F5344CB8AC3E}">
        <p14:creationId xmlns:p14="http://schemas.microsoft.com/office/powerpoint/2010/main" val="22766901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6B409ECA-B691-5B1C-5CCA-878C261674CB}"/>
              </a:ext>
            </a:extLst>
          </p:cNvPr>
          <p:cNvSpPr>
            <a:spLocks noGrp="1"/>
          </p:cNvSpPr>
          <p:nvPr>
            <p:ph idx="1"/>
          </p:nvPr>
        </p:nvSpPr>
        <p:spPr>
          <a:xfrm>
            <a:off x="150208" y="237893"/>
            <a:ext cx="11695427" cy="5406449"/>
          </a:xfrm>
        </p:spPr>
        <p:txBody>
          <a:bodyPr/>
          <a:lstStyle/>
          <a:p>
            <a:pPr marL="0" indent="0">
              <a:buNone/>
            </a:pPr>
            <a:r>
              <a:rPr lang="fr-FR" sz="2300" u="sng" dirty="0" err="1"/>
              <a:t>family_history</a:t>
            </a:r>
            <a:r>
              <a:rPr lang="fr-FR" sz="2300" u="sng" dirty="0"/>
              <a:t> :</a:t>
            </a:r>
            <a:r>
              <a:rPr lang="fr-FR" sz="2300" dirty="0"/>
              <a:t> Antécédents familiaux</a:t>
            </a:r>
            <a:endParaRPr lang="fr-FR" sz="2300" u="sng" dirty="0"/>
          </a:p>
          <a:p>
            <a:pPr marL="0" indent="0">
              <a:buNone/>
            </a:pPr>
            <a:endParaRPr lang="fr-FR" sz="2200" dirty="0"/>
          </a:p>
          <a:p>
            <a:pPr marL="0" indent="0">
              <a:buNone/>
            </a:pPr>
            <a:endParaRPr lang="fr-FR" dirty="0"/>
          </a:p>
        </p:txBody>
      </p:sp>
      <p:pic>
        <p:nvPicPr>
          <p:cNvPr id="8" name="Image 7"/>
          <p:cNvPicPr/>
          <p:nvPr/>
        </p:nvPicPr>
        <p:blipFill>
          <a:blip r:embed="rId3">
            <a:extLst>
              <a:ext uri="{28A0092B-C50C-407E-A947-70E740481C1C}">
                <a14:useLocalDpi xmlns:a14="http://schemas.microsoft.com/office/drawing/2010/main" val="0"/>
              </a:ext>
            </a:extLst>
          </a:blip>
          <a:stretch>
            <a:fillRect/>
          </a:stretch>
        </p:blipFill>
        <p:spPr>
          <a:xfrm>
            <a:off x="2664893" y="1589924"/>
            <a:ext cx="5514831" cy="4054418"/>
          </a:xfrm>
          <a:prstGeom prst="rect">
            <a:avLst/>
          </a:prstGeom>
        </p:spPr>
      </p:pic>
      <p:sp>
        <p:nvSpPr>
          <p:cNvPr id="2" name="Espace réservé du numéro de diapositive 1">
            <a:extLst>
              <a:ext uri="{FF2B5EF4-FFF2-40B4-BE49-F238E27FC236}">
                <a16:creationId xmlns:a16="http://schemas.microsoft.com/office/drawing/2014/main" id="{C5803E93-B128-63F5-E939-9B9C049B9CB5}"/>
              </a:ext>
            </a:extLst>
          </p:cNvPr>
          <p:cNvSpPr>
            <a:spLocks noGrp="1"/>
          </p:cNvSpPr>
          <p:nvPr>
            <p:ph type="sldNum" sz="quarter" idx="12"/>
          </p:nvPr>
        </p:nvSpPr>
        <p:spPr/>
        <p:txBody>
          <a:bodyPr/>
          <a:lstStyle/>
          <a:p>
            <a:fld id="{BA06AB71-0B36-4B80-B991-039F7D68F8CB}" type="slidenum">
              <a:rPr lang="fr-FR" smtClean="0"/>
              <a:t>12</a:t>
            </a:fld>
            <a:endParaRPr lang="fr-FR"/>
          </a:p>
        </p:txBody>
      </p:sp>
      <p:sp>
        <p:nvSpPr>
          <p:cNvPr id="4" name="ZoneTexte 3">
            <a:extLst>
              <a:ext uri="{FF2B5EF4-FFF2-40B4-BE49-F238E27FC236}">
                <a16:creationId xmlns:a16="http://schemas.microsoft.com/office/drawing/2014/main" id="{2CFD114E-6817-2097-F75C-2BC7EB5AA3CB}"/>
              </a:ext>
            </a:extLst>
          </p:cNvPr>
          <p:cNvSpPr txBox="1"/>
          <p:nvPr/>
        </p:nvSpPr>
        <p:spPr>
          <a:xfrm>
            <a:off x="2664893" y="5957157"/>
            <a:ext cx="5431781" cy="292388"/>
          </a:xfrm>
          <a:prstGeom prst="rect">
            <a:avLst/>
          </a:prstGeom>
          <a:noFill/>
        </p:spPr>
        <p:txBody>
          <a:bodyPr wrap="square" rtlCol="0">
            <a:spAutoFit/>
          </a:bodyPr>
          <a:lstStyle/>
          <a:p>
            <a:pPr>
              <a:spcAft>
                <a:spcPts val="1000"/>
              </a:spcAft>
            </a:pPr>
            <a:r>
              <a:rPr lang="fr-FR" sz="1300" i="1" dirty="0">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Figure 7 : </a:t>
            </a:r>
            <a:r>
              <a:rPr lang="fr-FR" sz="1300" i="1" dirty="0">
                <a:solidFill>
                  <a:srgbClr val="44546A"/>
                </a:solidFill>
                <a:latin typeface="Calibri" panose="020F0502020204030204" pitchFamily="34" charset="0"/>
                <a:ea typeface="Calibri" panose="020F0502020204030204" pitchFamily="34" charset="0"/>
                <a:cs typeface="Times New Roman" panose="02020603050405020304" pitchFamily="18" charset="0"/>
              </a:rPr>
              <a:t>Corrélation</a:t>
            </a:r>
            <a:r>
              <a:rPr lang="fr-FR" sz="1300" i="1" dirty="0">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 entre antécédents familiaux et </a:t>
            </a:r>
            <a:r>
              <a:rPr lang="fr-FR" sz="1300" i="1" dirty="0" err="1">
                <a:solidFill>
                  <a:srgbClr val="44546A"/>
                </a:solidFill>
                <a:latin typeface="Calibri" panose="020F0502020204030204" pitchFamily="34" charset="0"/>
                <a:ea typeface="Calibri" panose="020F0502020204030204" pitchFamily="34" charset="0"/>
                <a:cs typeface="Times New Roman" panose="02020603050405020304" pitchFamily="18" charset="0"/>
              </a:rPr>
              <a:t>t</a:t>
            </a:r>
            <a:r>
              <a:rPr lang="fr-FR" sz="1300" i="1" dirty="0" err="1">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reatment</a:t>
            </a:r>
            <a:endParaRPr lang="fr-FR" sz="1300" i="1" dirty="0">
              <a:solidFill>
                <a:srgbClr val="44546A"/>
              </a:solidFill>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6724313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6B409ECA-B691-5B1C-5CCA-878C261674CB}"/>
              </a:ext>
            </a:extLst>
          </p:cNvPr>
          <p:cNvSpPr>
            <a:spLocks noGrp="1"/>
          </p:cNvSpPr>
          <p:nvPr>
            <p:ph idx="1"/>
          </p:nvPr>
        </p:nvSpPr>
        <p:spPr>
          <a:xfrm>
            <a:off x="150208" y="237893"/>
            <a:ext cx="11695427" cy="5406449"/>
          </a:xfrm>
        </p:spPr>
        <p:txBody>
          <a:bodyPr/>
          <a:lstStyle/>
          <a:p>
            <a:pPr marL="0" indent="0">
              <a:buNone/>
            </a:pPr>
            <a:r>
              <a:rPr lang="fr-FR" sz="2300" u="sng" dirty="0" err="1"/>
              <a:t>work_interfere</a:t>
            </a:r>
            <a:r>
              <a:rPr lang="fr-FR" sz="2300" u="sng" dirty="0"/>
              <a:t> :</a:t>
            </a:r>
            <a:r>
              <a:rPr lang="fr-FR" sz="2300" dirty="0"/>
              <a:t> Si vous avez un problème de santé mental, à quelle fréquence sentez-vous que cela interfère avec votre travail ?</a:t>
            </a:r>
            <a:endParaRPr lang="fr-FR" sz="2300" u="sng" dirty="0"/>
          </a:p>
          <a:p>
            <a:pPr marL="0" indent="0">
              <a:buNone/>
            </a:pPr>
            <a:endParaRPr lang="fr-FR" sz="2200" dirty="0"/>
          </a:p>
          <a:p>
            <a:pPr marL="0" indent="0">
              <a:buNone/>
            </a:pPr>
            <a:endParaRPr lang="fr-FR" dirty="0"/>
          </a:p>
        </p:txBody>
      </p:sp>
      <p:pic>
        <p:nvPicPr>
          <p:cNvPr id="5" name="Image 4"/>
          <p:cNvPicPr/>
          <p:nvPr/>
        </p:nvPicPr>
        <p:blipFill>
          <a:blip r:embed="rId3">
            <a:extLst>
              <a:ext uri="{28A0092B-C50C-407E-A947-70E740481C1C}">
                <a14:useLocalDpi xmlns:a14="http://schemas.microsoft.com/office/drawing/2010/main" val="0"/>
              </a:ext>
            </a:extLst>
          </a:blip>
          <a:stretch>
            <a:fillRect/>
          </a:stretch>
        </p:blipFill>
        <p:spPr>
          <a:xfrm>
            <a:off x="2599112" y="1686229"/>
            <a:ext cx="5879870" cy="4114800"/>
          </a:xfrm>
          <a:prstGeom prst="rect">
            <a:avLst/>
          </a:prstGeom>
        </p:spPr>
      </p:pic>
      <p:sp>
        <p:nvSpPr>
          <p:cNvPr id="2" name="Espace réservé du numéro de diapositive 1">
            <a:extLst>
              <a:ext uri="{FF2B5EF4-FFF2-40B4-BE49-F238E27FC236}">
                <a16:creationId xmlns:a16="http://schemas.microsoft.com/office/drawing/2014/main" id="{998ED89F-ADF3-9CB1-3B27-D3A8A740F0CA}"/>
              </a:ext>
            </a:extLst>
          </p:cNvPr>
          <p:cNvSpPr>
            <a:spLocks noGrp="1"/>
          </p:cNvSpPr>
          <p:nvPr>
            <p:ph type="sldNum" sz="quarter" idx="12"/>
          </p:nvPr>
        </p:nvSpPr>
        <p:spPr/>
        <p:txBody>
          <a:bodyPr/>
          <a:lstStyle/>
          <a:p>
            <a:fld id="{BA06AB71-0B36-4B80-B991-039F7D68F8CB}" type="slidenum">
              <a:rPr lang="fr-FR" smtClean="0"/>
              <a:t>13</a:t>
            </a:fld>
            <a:endParaRPr lang="fr-FR"/>
          </a:p>
        </p:txBody>
      </p:sp>
      <p:sp>
        <p:nvSpPr>
          <p:cNvPr id="4" name="ZoneTexte 3">
            <a:extLst>
              <a:ext uri="{FF2B5EF4-FFF2-40B4-BE49-F238E27FC236}">
                <a16:creationId xmlns:a16="http://schemas.microsoft.com/office/drawing/2014/main" id="{FA31ED1A-979B-AA78-6C43-57A2599B7786}"/>
              </a:ext>
            </a:extLst>
          </p:cNvPr>
          <p:cNvSpPr txBox="1"/>
          <p:nvPr/>
        </p:nvSpPr>
        <p:spPr>
          <a:xfrm>
            <a:off x="2599112" y="6063962"/>
            <a:ext cx="5431781" cy="292388"/>
          </a:xfrm>
          <a:prstGeom prst="rect">
            <a:avLst/>
          </a:prstGeom>
          <a:noFill/>
        </p:spPr>
        <p:txBody>
          <a:bodyPr wrap="square" rtlCol="0">
            <a:spAutoFit/>
          </a:bodyPr>
          <a:lstStyle/>
          <a:p>
            <a:pPr>
              <a:spcAft>
                <a:spcPts val="1000"/>
              </a:spcAft>
            </a:pPr>
            <a:r>
              <a:rPr lang="fr-FR" sz="1300" i="1" dirty="0">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Figure </a:t>
            </a:r>
            <a:r>
              <a:rPr lang="fr-FR" sz="1300" i="1" dirty="0">
                <a:solidFill>
                  <a:srgbClr val="44546A"/>
                </a:solidFill>
                <a:latin typeface="Calibri" panose="020F0502020204030204" pitchFamily="34" charset="0"/>
                <a:ea typeface="Calibri" panose="020F0502020204030204" pitchFamily="34" charset="0"/>
                <a:cs typeface="Times New Roman" panose="02020603050405020304" pitchFamily="18" charset="0"/>
              </a:rPr>
              <a:t>8</a:t>
            </a:r>
            <a:r>
              <a:rPr lang="fr-FR" sz="1300" i="1" dirty="0">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 : </a:t>
            </a:r>
            <a:r>
              <a:rPr lang="fr-FR" sz="1300" i="1" dirty="0">
                <a:solidFill>
                  <a:srgbClr val="44546A"/>
                </a:solidFill>
                <a:latin typeface="Calibri" panose="020F0502020204030204" pitchFamily="34" charset="0"/>
                <a:ea typeface="Calibri" panose="020F0502020204030204" pitchFamily="34" charset="0"/>
                <a:cs typeface="Times New Roman" panose="02020603050405020304" pitchFamily="18" charset="0"/>
              </a:rPr>
              <a:t>Corrélation</a:t>
            </a:r>
            <a:r>
              <a:rPr lang="fr-FR" sz="1300" i="1" dirty="0">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 entre antécédents familiaux et </a:t>
            </a:r>
            <a:r>
              <a:rPr lang="fr-FR" sz="1300" i="1" dirty="0" err="1">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treatment</a:t>
            </a:r>
            <a:endParaRPr lang="fr-FR" sz="1300" i="1" dirty="0">
              <a:solidFill>
                <a:srgbClr val="44546A"/>
              </a:solidFill>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657641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6B409ECA-B691-5B1C-5CCA-878C261674CB}"/>
              </a:ext>
            </a:extLst>
          </p:cNvPr>
          <p:cNvSpPr>
            <a:spLocks noGrp="1"/>
          </p:cNvSpPr>
          <p:nvPr>
            <p:ph idx="1"/>
          </p:nvPr>
        </p:nvSpPr>
        <p:spPr>
          <a:xfrm>
            <a:off x="150208" y="237893"/>
            <a:ext cx="11695427" cy="5406449"/>
          </a:xfrm>
        </p:spPr>
        <p:txBody>
          <a:bodyPr/>
          <a:lstStyle/>
          <a:p>
            <a:pPr marL="0" indent="0">
              <a:buNone/>
            </a:pPr>
            <a:r>
              <a:rPr lang="fr-FR" sz="2300" u="sng" dirty="0" err="1"/>
              <a:t>care_options</a:t>
            </a:r>
            <a:r>
              <a:rPr lang="fr-FR" sz="2300" u="sng" dirty="0"/>
              <a:t> :</a:t>
            </a:r>
            <a:r>
              <a:rPr lang="fr-FR" sz="2300" dirty="0"/>
              <a:t> Connaissez vous les prestations de votre entreprise en matière de santé mentale pour les employés ?</a:t>
            </a:r>
          </a:p>
          <a:p>
            <a:pPr marL="0" indent="0">
              <a:buNone/>
            </a:pPr>
            <a:endParaRPr lang="fr-FR" dirty="0"/>
          </a:p>
        </p:txBody>
      </p:sp>
      <p:pic>
        <p:nvPicPr>
          <p:cNvPr id="6" name="Image 5"/>
          <p:cNvPicPr/>
          <p:nvPr/>
        </p:nvPicPr>
        <p:blipFill>
          <a:blip r:embed="rId3">
            <a:extLst>
              <a:ext uri="{28A0092B-C50C-407E-A947-70E740481C1C}">
                <a14:useLocalDpi xmlns:a14="http://schemas.microsoft.com/office/drawing/2010/main" val="0"/>
              </a:ext>
            </a:extLst>
          </a:blip>
          <a:stretch>
            <a:fillRect/>
          </a:stretch>
        </p:blipFill>
        <p:spPr>
          <a:xfrm>
            <a:off x="3048287" y="1385717"/>
            <a:ext cx="5547074" cy="4665948"/>
          </a:xfrm>
          <a:prstGeom prst="rect">
            <a:avLst/>
          </a:prstGeom>
        </p:spPr>
      </p:pic>
      <p:sp>
        <p:nvSpPr>
          <p:cNvPr id="2" name="Espace réservé du numéro de diapositive 1">
            <a:extLst>
              <a:ext uri="{FF2B5EF4-FFF2-40B4-BE49-F238E27FC236}">
                <a16:creationId xmlns:a16="http://schemas.microsoft.com/office/drawing/2014/main" id="{51E63A46-2A31-84D7-4404-858D4C695F6C}"/>
              </a:ext>
            </a:extLst>
          </p:cNvPr>
          <p:cNvSpPr>
            <a:spLocks noGrp="1"/>
          </p:cNvSpPr>
          <p:nvPr>
            <p:ph type="sldNum" sz="quarter" idx="12"/>
          </p:nvPr>
        </p:nvSpPr>
        <p:spPr/>
        <p:txBody>
          <a:bodyPr/>
          <a:lstStyle/>
          <a:p>
            <a:fld id="{BA06AB71-0B36-4B80-B991-039F7D68F8CB}" type="slidenum">
              <a:rPr lang="fr-FR" smtClean="0"/>
              <a:t>14</a:t>
            </a:fld>
            <a:endParaRPr lang="fr-FR"/>
          </a:p>
        </p:txBody>
      </p:sp>
      <p:sp>
        <p:nvSpPr>
          <p:cNvPr id="4" name="ZoneTexte 3">
            <a:extLst>
              <a:ext uri="{FF2B5EF4-FFF2-40B4-BE49-F238E27FC236}">
                <a16:creationId xmlns:a16="http://schemas.microsoft.com/office/drawing/2014/main" id="{1EF0B551-D632-FB10-6930-1129D51E33F3}"/>
              </a:ext>
            </a:extLst>
          </p:cNvPr>
          <p:cNvSpPr txBox="1"/>
          <p:nvPr/>
        </p:nvSpPr>
        <p:spPr>
          <a:xfrm>
            <a:off x="3048287" y="6246524"/>
            <a:ext cx="5431781" cy="292388"/>
          </a:xfrm>
          <a:prstGeom prst="rect">
            <a:avLst/>
          </a:prstGeom>
          <a:noFill/>
        </p:spPr>
        <p:txBody>
          <a:bodyPr wrap="square" rtlCol="0">
            <a:spAutoFit/>
          </a:bodyPr>
          <a:lstStyle/>
          <a:p>
            <a:r>
              <a:rPr lang="fr-FR" sz="1300" i="1" dirty="0">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Figure </a:t>
            </a:r>
            <a:r>
              <a:rPr lang="fr-FR" sz="1300" i="1" dirty="0">
                <a:solidFill>
                  <a:srgbClr val="44546A"/>
                </a:solidFill>
                <a:latin typeface="Calibri" panose="020F0502020204030204" pitchFamily="34" charset="0"/>
                <a:ea typeface="Calibri" panose="020F0502020204030204" pitchFamily="34" charset="0"/>
                <a:cs typeface="Times New Roman" panose="02020603050405020304" pitchFamily="18" charset="0"/>
              </a:rPr>
              <a:t>9</a:t>
            </a:r>
            <a:r>
              <a:rPr lang="fr-FR" sz="1300" i="1" dirty="0">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 </a:t>
            </a:r>
            <a:r>
              <a:rPr lang="fr-FR" sz="1300" i="1" dirty="0">
                <a:solidFill>
                  <a:srgbClr val="44546A"/>
                </a:solidFill>
                <a:latin typeface="Calibri" panose="020F0502020204030204" pitchFamily="34" charset="0"/>
                <a:ea typeface="Calibri" panose="020F0502020204030204" pitchFamily="34" charset="0"/>
                <a:cs typeface="Times New Roman" panose="02020603050405020304" pitchFamily="18" charset="0"/>
              </a:rPr>
              <a:t>: Corrélation entre </a:t>
            </a:r>
            <a:r>
              <a:rPr lang="fr-FR" sz="1300" i="1" dirty="0" err="1">
                <a:solidFill>
                  <a:srgbClr val="44546A"/>
                </a:solidFill>
                <a:latin typeface="Calibri" panose="020F0502020204030204" pitchFamily="34" charset="0"/>
                <a:ea typeface="Calibri" panose="020F0502020204030204" pitchFamily="34" charset="0"/>
                <a:cs typeface="Times New Roman" panose="02020603050405020304" pitchFamily="18" charset="0"/>
              </a:rPr>
              <a:t>care_options</a:t>
            </a:r>
            <a:r>
              <a:rPr lang="fr-FR" sz="1300" i="1" dirty="0">
                <a:solidFill>
                  <a:srgbClr val="44546A"/>
                </a:solidFill>
                <a:latin typeface="Calibri" panose="020F0502020204030204" pitchFamily="34" charset="0"/>
                <a:ea typeface="Calibri" panose="020F0502020204030204" pitchFamily="34" charset="0"/>
                <a:cs typeface="Times New Roman" panose="02020603050405020304" pitchFamily="18" charset="0"/>
              </a:rPr>
              <a:t> et </a:t>
            </a:r>
            <a:r>
              <a:rPr lang="fr-FR" sz="1300" i="1" dirty="0" err="1">
                <a:solidFill>
                  <a:srgbClr val="44546A"/>
                </a:solidFill>
                <a:latin typeface="Calibri" panose="020F0502020204030204" pitchFamily="34" charset="0"/>
                <a:ea typeface="Calibri" panose="020F0502020204030204" pitchFamily="34" charset="0"/>
                <a:cs typeface="Times New Roman" panose="02020603050405020304" pitchFamily="18" charset="0"/>
              </a:rPr>
              <a:t>treatment</a:t>
            </a:r>
            <a:endParaRPr lang="fr-FR" sz="1300" i="1" dirty="0">
              <a:solidFill>
                <a:srgbClr val="44546A"/>
              </a:solidFill>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939861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6B409ECA-B691-5B1C-5CCA-878C261674CB}"/>
              </a:ext>
            </a:extLst>
          </p:cNvPr>
          <p:cNvSpPr>
            <a:spLocks noGrp="1"/>
          </p:cNvSpPr>
          <p:nvPr>
            <p:ph idx="1"/>
          </p:nvPr>
        </p:nvSpPr>
        <p:spPr>
          <a:xfrm>
            <a:off x="150208" y="237893"/>
            <a:ext cx="11695427" cy="5406449"/>
          </a:xfrm>
        </p:spPr>
        <p:txBody>
          <a:bodyPr/>
          <a:lstStyle/>
          <a:p>
            <a:pPr marL="0" indent="0">
              <a:buNone/>
            </a:pPr>
            <a:r>
              <a:rPr lang="fr-FR" sz="2300" u="sng" dirty="0" err="1"/>
              <a:t>obs_consequence</a:t>
            </a:r>
            <a:r>
              <a:rPr lang="fr-FR" sz="2300" u="sng" dirty="0"/>
              <a:t> :</a:t>
            </a:r>
            <a:r>
              <a:rPr lang="fr-FR" sz="2300" dirty="0"/>
              <a:t> Avez-vous entendu parler ou observé des conséquences négatives pour les collègues souffrant de troubles mentaux sur votre lieu de travail ?</a:t>
            </a:r>
          </a:p>
          <a:p>
            <a:pPr marL="0" indent="0">
              <a:buNone/>
            </a:pPr>
            <a:endParaRPr lang="fr-FR" dirty="0"/>
          </a:p>
        </p:txBody>
      </p:sp>
      <p:pic>
        <p:nvPicPr>
          <p:cNvPr id="5" name="Image 4"/>
          <p:cNvPicPr/>
          <p:nvPr/>
        </p:nvPicPr>
        <p:blipFill>
          <a:blip r:embed="rId3">
            <a:extLst>
              <a:ext uri="{28A0092B-C50C-407E-A947-70E740481C1C}">
                <a14:useLocalDpi xmlns:a14="http://schemas.microsoft.com/office/drawing/2010/main" val="0"/>
              </a:ext>
            </a:extLst>
          </a:blip>
          <a:stretch>
            <a:fillRect/>
          </a:stretch>
        </p:blipFill>
        <p:spPr>
          <a:xfrm>
            <a:off x="3235379" y="1379911"/>
            <a:ext cx="5359980" cy="4463936"/>
          </a:xfrm>
          <a:prstGeom prst="rect">
            <a:avLst/>
          </a:prstGeom>
        </p:spPr>
      </p:pic>
      <p:sp>
        <p:nvSpPr>
          <p:cNvPr id="2" name="Espace réservé du numéro de diapositive 1">
            <a:extLst>
              <a:ext uri="{FF2B5EF4-FFF2-40B4-BE49-F238E27FC236}">
                <a16:creationId xmlns:a16="http://schemas.microsoft.com/office/drawing/2014/main" id="{CBC51E27-0994-726E-6698-37F4055EF8B9}"/>
              </a:ext>
            </a:extLst>
          </p:cNvPr>
          <p:cNvSpPr>
            <a:spLocks noGrp="1"/>
          </p:cNvSpPr>
          <p:nvPr>
            <p:ph type="sldNum" sz="quarter" idx="12"/>
          </p:nvPr>
        </p:nvSpPr>
        <p:spPr/>
        <p:txBody>
          <a:bodyPr/>
          <a:lstStyle/>
          <a:p>
            <a:fld id="{BA06AB71-0B36-4B80-B991-039F7D68F8CB}" type="slidenum">
              <a:rPr lang="fr-FR" smtClean="0"/>
              <a:t>15</a:t>
            </a:fld>
            <a:endParaRPr lang="fr-FR"/>
          </a:p>
        </p:txBody>
      </p:sp>
      <p:sp>
        <p:nvSpPr>
          <p:cNvPr id="4" name="ZoneTexte 3">
            <a:extLst>
              <a:ext uri="{FF2B5EF4-FFF2-40B4-BE49-F238E27FC236}">
                <a16:creationId xmlns:a16="http://schemas.microsoft.com/office/drawing/2014/main" id="{E950DEE8-1228-7BD4-0DCB-7C0D4B88BC3E}"/>
              </a:ext>
            </a:extLst>
          </p:cNvPr>
          <p:cNvSpPr txBox="1"/>
          <p:nvPr/>
        </p:nvSpPr>
        <p:spPr>
          <a:xfrm>
            <a:off x="3235379" y="6190499"/>
            <a:ext cx="5431781" cy="292388"/>
          </a:xfrm>
          <a:prstGeom prst="rect">
            <a:avLst/>
          </a:prstGeom>
          <a:noFill/>
        </p:spPr>
        <p:txBody>
          <a:bodyPr wrap="square" rtlCol="0">
            <a:spAutoFit/>
          </a:bodyPr>
          <a:lstStyle/>
          <a:p>
            <a:r>
              <a:rPr lang="fr-FR" sz="1300" i="1" dirty="0">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Figure 10 </a:t>
            </a:r>
            <a:r>
              <a:rPr lang="fr-FR" sz="1300" i="1" dirty="0">
                <a:solidFill>
                  <a:srgbClr val="44546A"/>
                </a:solidFill>
                <a:latin typeface="Calibri" panose="020F0502020204030204" pitchFamily="34" charset="0"/>
                <a:ea typeface="Calibri" panose="020F0502020204030204" pitchFamily="34" charset="0"/>
                <a:cs typeface="Times New Roman" panose="02020603050405020304" pitchFamily="18" charset="0"/>
              </a:rPr>
              <a:t>: Corrélation entre </a:t>
            </a:r>
            <a:r>
              <a:rPr lang="fr-FR" sz="1300" i="1" dirty="0" err="1">
                <a:solidFill>
                  <a:srgbClr val="44546A"/>
                </a:solidFill>
                <a:latin typeface="Calibri" panose="020F0502020204030204" pitchFamily="34" charset="0"/>
                <a:ea typeface="Calibri" panose="020F0502020204030204" pitchFamily="34" charset="0"/>
                <a:cs typeface="Times New Roman" panose="02020603050405020304" pitchFamily="18" charset="0"/>
              </a:rPr>
              <a:t>obs_consequence</a:t>
            </a:r>
            <a:r>
              <a:rPr lang="fr-FR" sz="1300" i="1" dirty="0">
                <a:solidFill>
                  <a:srgbClr val="44546A"/>
                </a:solidFill>
                <a:latin typeface="Calibri" panose="020F0502020204030204" pitchFamily="34" charset="0"/>
                <a:ea typeface="Calibri" panose="020F0502020204030204" pitchFamily="34" charset="0"/>
                <a:cs typeface="Times New Roman" panose="02020603050405020304" pitchFamily="18" charset="0"/>
              </a:rPr>
              <a:t> et </a:t>
            </a:r>
            <a:r>
              <a:rPr lang="fr-FR" sz="1300" i="1" dirty="0" err="1">
                <a:solidFill>
                  <a:srgbClr val="44546A"/>
                </a:solidFill>
                <a:latin typeface="Calibri" panose="020F0502020204030204" pitchFamily="34" charset="0"/>
                <a:ea typeface="Calibri" panose="020F0502020204030204" pitchFamily="34" charset="0"/>
                <a:cs typeface="Times New Roman" panose="02020603050405020304" pitchFamily="18" charset="0"/>
              </a:rPr>
              <a:t>treatment</a:t>
            </a:r>
            <a:endParaRPr lang="fr-FR" sz="1300" i="1" dirty="0">
              <a:solidFill>
                <a:srgbClr val="44546A"/>
              </a:solidFill>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2914486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6B409ECA-B691-5B1C-5CCA-878C261674CB}"/>
              </a:ext>
            </a:extLst>
          </p:cNvPr>
          <p:cNvSpPr>
            <a:spLocks noGrp="1"/>
          </p:cNvSpPr>
          <p:nvPr>
            <p:ph idx="1"/>
          </p:nvPr>
        </p:nvSpPr>
        <p:spPr>
          <a:xfrm>
            <a:off x="150208" y="237893"/>
            <a:ext cx="11695427" cy="5406449"/>
          </a:xfrm>
        </p:spPr>
        <p:txBody>
          <a:bodyPr>
            <a:normAutofit/>
          </a:bodyPr>
          <a:lstStyle/>
          <a:p>
            <a:pPr marL="0" indent="0">
              <a:buNone/>
            </a:pPr>
            <a:r>
              <a:rPr lang="fr-FR" sz="2300" u="sng" dirty="0"/>
              <a:t>genre :</a:t>
            </a:r>
            <a:endParaRPr lang="fr-FR" sz="2300" dirty="0"/>
          </a:p>
        </p:txBody>
      </p:sp>
      <p:pic>
        <p:nvPicPr>
          <p:cNvPr id="6" name="Image 5"/>
          <p:cNvPicPr/>
          <p:nvPr/>
        </p:nvPicPr>
        <p:blipFill>
          <a:blip r:embed="rId3">
            <a:extLst>
              <a:ext uri="{28A0092B-C50C-407E-A947-70E740481C1C}">
                <a14:useLocalDpi xmlns:a14="http://schemas.microsoft.com/office/drawing/2010/main" val="0"/>
              </a:ext>
            </a:extLst>
          </a:blip>
          <a:stretch>
            <a:fillRect/>
          </a:stretch>
        </p:blipFill>
        <p:spPr>
          <a:xfrm>
            <a:off x="2832531" y="955965"/>
            <a:ext cx="6330780" cy="4779816"/>
          </a:xfrm>
          <a:prstGeom prst="rect">
            <a:avLst/>
          </a:prstGeom>
        </p:spPr>
      </p:pic>
      <p:sp>
        <p:nvSpPr>
          <p:cNvPr id="2" name="Espace réservé du numéro de diapositive 1">
            <a:extLst>
              <a:ext uri="{FF2B5EF4-FFF2-40B4-BE49-F238E27FC236}">
                <a16:creationId xmlns:a16="http://schemas.microsoft.com/office/drawing/2014/main" id="{D85D2A30-397F-A020-ADC0-A3B4211A623C}"/>
              </a:ext>
            </a:extLst>
          </p:cNvPr>
          <p:cNvSpPr>
            <a:spLocks noGrp="1"/>
          </p:cNvSpPr>
          <p:nvPr>
            <p:ph type="sldNum" sz="quarter" idx="12"/>
          </p:nvPr>
        </p:nvSpPr>
        <p:spPr/>
        <p:txBody>
          <a:bodyPr/>
          <a:lstStyle/>
          <a:p>
            <a:fld id="{BA06AB71-0B36-4B80-B991-039F7D68F8CB}" type="slidenum">
              <a:rPr lang="fr-FR" smtClean="0"/>
              <a:t>16</a:t>
            </a:fld>
            <a:endParaRPr lang="fr-FR"/>
          </a:p>
        </p:txBody>
      </p:sp>
      <p:sp>
        <p:nvSpPr>
          <p:cNvPr id="4" name="ZoneTexte 3">
            <a:extLst>
              <a:ext uri="{FF2B5EF4-FFF2-40B4-BE49-F238E27FC236}">
                <a16:creationId xmlns:a16="http://schemas.microsoft.com/office/drawing/2014/main" id="{5232B333-1FEF-6C4F-147F-668653FBC679}"/>
              </a:ext>
            </a:extLst>
          </p:cNvPr>
          <p:cNvSpPr txBox="1"/>
          <p:nvPr/>
        </p:nvSpPr>
        <p:spPr>
          <a:xfrm>
            <a:off x="2832531" y="6063962"/>
            <a:ext cx="5431781" cy="292388"/>
          </a:xfrm>
          <a:prstGeom prst="rect">
            <a:avLst/>
          </a:prstGeom>
          <a:noFill/>
        </p:spPr>
        <p:txBody>
          <a:bodyPr wrap="square" rtlCol="0">
            <a:spAutoFit/>
          </a:bodyPr>
          <a:lstStyle/>
          <a:p>
            <a:r>
              <a:rPr lang="fr-FR" sz="1300" i="1" dirty="0">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Figure </a:t>
            </a:r>
            <a:r>
              <a:rPr lang="fr-FR" sz="1300" i="1" dirty="0">
                <a:solidFill>
                  <a:srgbClr val="44546A"/>
                </a:solidFill>
                <a:latin typeface="Calibri" panose="020F0502020204030204" pitchFamily="34" charset="0"/>
                <a:ea typeface="Calibri" panose="020F0502020204030204" pitchFamily="34" charset="0"/>
                <a:cs typeface="Times New Roman" panose="02020603050405020304" pitchFamily="18" charset="0"/>
              </a:rPr>
              <a:t>11</a:t>
            </a:r>
            <a:r>
              <a:rPr lang="fr-FR" sz="1300" i="1" dirty="0">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 </a:t>
            </a:r>
            <a:r>
              <a:rPr lang="fr-FR" sz="1300" i="1" dirty="0">
                <a:solidFill>
                  <a:srgbClr val="44546A"/>
                </a:solidFill>
                <a:latin typeface="Calibri" panose="020F0502020204030204" pitchFamily="34" charset="0"/>
                <a:ea typeface="Calibri" panose="020F0502020204030204" pitchFamily="34" charset="0"/>
                <a:cs typeface="Times New Roman" panose="02020603050405020304" pitchFamily="18" charset="0"/>
              </a:rPr>
              <a:t>: Corrélation entre genre et </a:t>
            </a:r>
            <a:r>
              <a:rPr lang="fr-FR" sz="1300" i="1" dirty="0" err="1">
                <a:solidFill>
                  <a:srgbClr val="44546A"/>
                </a:solidFill>
                <a:latin typeface="Calibri" panose="020F0502020204030204" pitchFamily="34" charset="0"/>
                <a:ea typeface="Calibri" panose="020F0502020204030204" pitchFamily="34" charset="0"/>
                <a:cs typeface="Times New Roman" panose="02020603050405020304" pitchFamily="18" charset="0"/>
              </a:rPr>
              <a:t>treatment</a:t>
            </a:r>
            <a:endParaRPr lang="fr-FR" sz="1300" i="1" dirty="0">
              <a:solidFill>
                <a:srgbClr val="44546A"/>
              </a:solidFill>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2316087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6B409ECA-B691-5B1C-5CCA-878C261674CB}"/>
              </a:ext>
            </a:extLst>
          </p:cNvPr>
          <p:cNvSpPr>
            <a:spLocks noGrp="1"/>
          </p:cNvSpPr>
          <p:nvPr>
            <p:ph idx="1"/>
          </p:nvPr>
        </p:nvSpPr>
        <p:spPr>
          <a:xfrm>
            <a:off x="150208" y="237893"/>
            <a:ext cx="11695427" cy="5406449"/>
          </a:xfrm>
        </p:spPr>
        <p:txBody>
          <a:bodyPr/>
          <a:lstStyle/>
          <a:p>
            <a:pPr marL="0" indent="0">
              <a:buNone/>
            </a:pPr>
            <a:r>
              <a:rPr lang="fr-FR" sz="2300" u="sng" dirty="0" err="1"/>
              <a:t>benefits</a:t>
            </a:r>
            <a:r>
              <a:rPr lang="fr-FR" sz="2300" u="sng" dirty="0"/>
              <a:t> :</a:t>
            </a:r>
            <a:r>
              <a:rPr lang="fr-FR" sz="2300" dirty="0"/>
              <a:t> Votre employeur offre-t-il des prestations en matière de santé mentale aux employés ?</a:t>
            </a:r>
          </a:p>
          <a:p>
            <a:pPr marL="0" indent="0">
              <a:buNone/>
            </a:pPr>
            <a:endParaRPr lang="fr-FR" dirty="0"/>
          </a:p>
        </p:txBody>
      </p:sp>
      <p:pic>
        <p:nvPicPr>
          <p:cNvPr id="5" name="Image 4"/>
          <p:cNvPicPr/>
          <p:nvPr/>
        </p:nvPicPr>
        <p:blipFill>
          <a:blip r:embed="rId3">
            <a:extLst>
              <a:ext uri="{28A0092B-C50C-407E-A947-70E740481C1C}">
                <a14:useLocalDpi xmlns:a14="http://schemas.microsoft.com/office/drawing/2010/main" val="0"/>
              </a:ext>
            </a:extLst>
          </a:blip>
          <a:stretch>
            <a:fillRect/>
          </a:stretch>
        </p:blipFill>
        <p:spPr>
          <a:xfrm>
            <a:off x="2565860" y="1562794"/>
            <a:ext cx="5996250" cy="4447308"/>
          </a:xfrm>
          <a:prstGeom prst="rect">
            <a:avLst/>
          </a:prstGeom>
        </p:spPr>
      </p:pic>
      <p:sp>
        <p:nvSpPr>
          <p:cNvPr id="2" name="Espace réservé du numéro de diapositive 1">
            <a:extLst>
              <a:ext uri="{FF2B5EF4-FFF2-40B4-BE49-F238E27FC236}">
                <a16:creationId xmlns:a16="http://schemas.microsoft.com/office/drawing/2014/main" id="{852D6146-2910-AB91-B676-E884358C3ADA}"/>
              </a:ext>
            </a:extLst>
          </p:cNvPr>
          <p:cNvSpPr>
            <a:spLocks noGrp="1"/>
          </p:cNvSpPr>
          <p:nvPr>
            <p:ph type="sldNum" sz="quarter" idx="12"/>
          </p:nvPr>
        </p:nvSpPr>
        <p:spPr/>
        <p:txBody>
          <a:bodyPr/>
          <a:lstStyle/>
          <a:p>
            <a:fld id="{BA06AB71-0B36-4B80-B991-039F7D68F8CB}" type="slidenum">
              <a:rPr lang="fr-FR" smtClean="0"/>
              <a:t>17</a:t>
            </a:fld>
            <a:endParaRPr lang="fr-FR"/>
          </a:p>
        </p:txBody>
      </p:sp>
      <p:sp>
        <p:nvSpPr>
          <p:cNvPr id="4" name="ZoneTexte 3">
            <a:extLst>
              <a:ext uri="{FF2B5EF4-FFF2-40B4-BE49-F238E27FC236}">
                <a16:creationId xmlns:a16="http://schemas.microsoft.com/office/drawing/2014/main" id="{7BF16009-C623-FEA5-C718-2396060F5C0B}"/>
              </a:ext>
            </a:extLst>
          </p:cNvPr>
          <p:cNvSpPr txBox="1"/>
          <p:nvPr/>
        </p:nvSpPr>
        <p:spPr>
          <a:xfrm>
            <a:off x="2565860" y="6259947"/>
            <a:ext cx="5431781" cy="292388"/>
          </a:xfrm>
          <a:prstGeom prst="rect">
            <a:avLst/>
          </a:prstGeom>
          <a:noFill/>
        </p:spPr>
        <p:txBody>
          <a:bodyPr wrap="square" rtlCol="0">
            <a:spAutoFit/>
          </a:bodyPr>
          <a:lstStyle/>
          <a:p>
            <a:r>
              <a:rPr lang="fr-FR" sz="1300" i="1" dirty="0">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Figure </a:t>
            </a:r>
            <a:r>
              <a:rPr lang="fr-FR" sz="1300" i="1" dirty="0">
                <a:solidFill>
                  <a:srgbClr val="44546A"/>
                </a:solidFill>
                <a:latin typeface="Calibri" panose="020F0502020204030204" pitchFamily="34" charset="0"/>
                <a:ea typeface="Calibri" panose="020F0502020204030204" pitchFamily="34" charset="0"/>
                <a:cs typeface="Times New Roman" panose="02020603050405020304" pitchFamily="18" charset="0"/>
              </a:rPr>
              <a:t>12</a:t>
            </a:r>
            <a:r>
              <a:rPr lang="fr-FR" sz="1300" i="1" dirty="0">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 </a:t>
            </a:r>
            <a:r>
              <a:rPr lang="fr-FR" sz="1300" i="1" dirty="0">
                <a:solidFill>
                  <a:srgbClr val="44546A"/>
                </a:solidFill>
                <a:latin typeface="Calibri" panose="020F0502020204030204" pitchFamily="34" charset="0"/>
                <a:ea typeface="Calibri" panose="020F0502020204030204" pitchFamily="34" charset="0"/>
                <a:cs typeface="Times New Roman" panose="02020603050405020304" pitchFamily="18" charset="0"/>
              </a:rPr>
              <a:t>: Corrélation entre </a:t>
            </a:r>
            <a:r>
              <a:rPr lang="fr-FR" sz="1300" i="1" dirty="0" err="1">
                <a:solidFill>
                  <a:srgbClr val="44546A"/>
                </a:solidFill>
                <a:latin typeface="Calibri" panose="020F0502020204030204" pitchFamily="34" charset="0"/>
                <a:ea typeface="Calibri" panose="020F0502020204030204" pitchFamily="34" charset="0"/>
                <a:cs typeface="Times New Roman" panose="02020603050405020304" pitchFamily="18" charset="0"/>
              </a:rPr>
              <a:t>benefits</a:t>
            </a:r>
            <a:r>
              <a:rPr lang="fr-FR" sz="1300" i="1" dirty="0">
                <a:solidFill>
                  <a:srgbClr val="44546A"/>
                </a:solidFill>
                <a:latin typeface="Calibri" panose="020F0502020204030204" pitchFamily="34" charset="0"/>
                <a:ea typeface="Calibri" panose="020F0502020204030204" pitchFamily="34" charset="0"/>
                <a:cs typeface="Times New Roman" panose="02020603050405020304" pitchFamily="18" charset="0"/>
              </a:rPr>
              <a:t> et </a:t>
            </a:r>
            <a:r>
              <a:rPr lang="fr-FR" sz="1300" i="1" dirty="0" err="1">
                <a:solidFill>
                  <a:srgbClr val="44546A"/>
                </a:solidFill>
                <a:latin typeface="Calibri" panose="020F0502020204030204" pitchFamily="34" charset="0"/>
                <a:ea typeface="Calibri" panose="020F0502020204030204" pitchFamily="34" charset="0"/>
                <a:cs typeface="Times New Roman" panose="02020603050405020304" pitchFamily="18" charset="0"/>
              </a:rPr>
              <a:t>treatment</a:t>
            </a:r>
            <a:endParaRPr lang="fr-FR" sz="1300" i="1" dirty="0">
              <a:solidFill>
                <a:srgbClr val="44546A"/>
              </a:solidFill>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003181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6B409ECA-B691-5B1C-5CCA-878C261674CB}"/>
              </a:ext>
            </a:extLst>
          </p:cNvPr>
          <p:cNvSpPr>
            <a:spLocks noGrp="1"/>
          </p:cNvSpPr>
          <p:nvPr>
            <p:ph idx="1"/>
          </p:nvPr>
        </p:nvSpPr>
        <p:spPr>
          <a:xfrm>
            <a:off x="150208" y="237893"/>
            <a:ext cx="11695427" cy="5406449"/>
          </a:xfrm>
        </p:spPr>
        <p:txBody>
          <a:bodyPr/>
          <a:lstStyle/>
          <a:p>
            <a:pPr marL="0" indent="0">
              <a:buNone/>
            </a:pPr>
            <a:r>
              <a:rPr lang="fr-FR" sz="2300" u="sng" dirty="0" err="1"/>
              <a:t>mental_health_consequence</a:t>
            </a:r>
            <a:r>
              <a:rPr lang="fr-FR" sz="2300" u="sng" dirty="0"/>
              <a:t> :</a:t>
            </a:r>
            <a:r>
              <a:rPr lang="fr-FR" sz="2300" dirty="0"/>
              <a:t> Pensez-vous que le fait de parler d'un problème de santé mentale à votre employeur aurait des conséquences négatives ?</a:t>
            </a:r>
          </a:p>
          <a:p>
            <a:pPr marL="0" indent="0">
              <a:buNone/>
            </a:pPr>
            <a:endParaRPr lang="fr-FR" dirty="0"/>
          </a:p>
        </p:txBody>
      </p:sp>
      <p:pic>
        <p:nvPicPr>
          <p:cNvPr id="5" name="Image 4"/>
          <p:cNvPicPr/>
          <p:nvPr/>
        </p:nvPicPr>
        <p:blipFill>
          <a:blip r:embed="rId3">
            <a:extLst>
              <a:ext uri="{28A0092B-C50C-407E-A947-70E740481C1C}">
                <a14:useLocalDpi xmlns:a14="http://schemas.microsoft.com/office/drawing/2010/main" val="0"/>
              </a:ext>
            </a:extLst>
          </a:blip>
          <a:stretch>
            <a:fillRect/>
          </a:stretch>
        </p:blipFill>
        <p:spPr>
          <a:xfrm>
            <a:off x="2782135" y="1745670"/>
            <a:ext cx="6229006" cy="4098178"/>
          </a:xfrm>
          <a:prstGeom prst="rect">
            <a:avLst/>
          </a:prstGeom>
        </p:spPr>
      </p:pic>
      <p:sp>
        <p:nvSpPr>
          <p:cNvPr id="2" name="Espace réservé du numéro de diapositive 1">
            <a:extLst>
              <a:ext uri="{FF2B5EF4-FFF2-40B4-BE49-F238E27FC236}">
                <a16:creationId xmlns:a16="http://schemas.microsoft.com/office/drawing/2014/main" id="{096B9616-C70E-F85B-DA04-F7B4E61FECA8}"/>
              </a:ext>
            </a:extLst>
          </p:cNvPr>
          <p:cNvSpPr>
            <a:spLocks noGrp="1"/>
          </p:cNvSpPr>
          <p:nvPr>
            <p:ph type="sldNum" sz="quarter" idx="12"/>
          </p:nvPr>
        </p:nvSpPr>
        <p:spPr/>
        <p:txBody>
          <a:bodyPr/>
          <a:lstStyle/>
          <a:p>
            <a:fld id="{BA06AB71-0B36-4B80-B991-039F7D68F8CB}" type="slidenum">
              <a:rPr lang="fr-FR" smtClean="0"/>
              <a:t>18</a:t>
            </a:fld>
            <a:endParaRPr lang="fr-FR"/>
          </a:p>
        </p:txBody>
      </p:sp>
      <p:sp>
        <p:nvSpPr>
          <p:cNvPr id="4" name="ZoneTexte 3">
            <a:extLst>
              <a:ext uri="{FF2B5EF4-FFF2-40B4-BE49-F238E27FC236}">
                <a16:creationId xmlns:a16="http://schemas.microsoft.com/office/drawing/2014/main" id="{70762B7F-2077-C70F-BD23-A2CF408A0CD5}"/>
              </a:ext>
            </a:extLst>
          </p:cNvPr>
          <p:cNvSpPr txBox="1"/>
          <p:nvPr/>
        </p:nvSpPr>
        <p:spPr>
          <a:xfrm>
            <a:off x="2782135" y="6210156"/>
            <a:ext cx="5431781" cy="292388"/>
          </a:xfrm>
          <a:prstGeom prst="rect">
            <a:avLst/>
          </a:prstGeom>
          <a:noFill/>
        </p:spPr>
        <p:txBody>
          <a:bodyPr wrap="square" rtlCol="0">
            <a:spAutoFit/>
          </a:bodyPr>
          <a:lstStyle/>
          <a:p>
            <a:r>
              <a:rPr lang="fr-FR" sz="1300" i="1" dirty="0">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Figure </a:t>
            </a:r>
            <a:r>
              <a:rPr lang="fr-FR" sz="1300" i="1" dirty="0">
                <a:solidFill>
                  <a:srgbClr val="44546A"/>
                </a:solidFill>
                <a:latin typeface="Calibri" panose="020F0502020204030204" pitchFamily="34" charset="0"/>
                <a:ea typeface="Calibri" panose="020F0502020204030204" pitchFamily="34" charset="0"/>
                <a:cs typeface="Times New Roman" panose="02020603050405020304" pitchFamily="18" charset="0"/>
              </a:rPr>
              <a:t>13</a:t>
            </a:r>
            <a:r>
              <a:rPr lang="fr-FR" sz="1300" i="1" dirty="0">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 </a:t>
            </a:r>
            <a:r>
              <a:rPr lang="fr-FR" sz="1300" i="1" dirty="0">
                <a:solidFill>
                  <a:srgbClr val="44546A"/>
                </a:solidFill>
                <a:latin typeface="Calibri" panose="020F0502020204030204" pitchFamily="34" charset="0"/>
                <a:ea typeface="Calibri" panose="020F0502020204030204" pitchFamily="34" charset="0"/>
                <a:cs typeface="Times New Roman" panose="02020603050405020304" pitchFamily="18" charset="0"/>
              </a:rPr>
              <a:t>: Corrélation entre </a:t>
            </a:r>
            <a:r>
              <a:rPr lang="fr-FR" sz="1300" i="1" dirty="0" err="1">
                <a:solidFill>
                  <a:srgbClr val="44546A"/>
                </a:solidFill>
                <a:latin typeface="Calibri" panose="020F0502020204030204" pitchFamily="34" charset="0"/>
                <a:ea typeface="Calibri" panose="020F0502020204030204" pitchFamily="34" charset="0"/>
                <a:cs typeface="Times New Roman" panose="02020603050405020304" pitchFamily="18" charset="0"/>
              </a:rPr>
              <a:t>mental_health_consequence</a:t>
            </a:r>
            <a:r>
              <a:rPr lang="fr-FR" sz="1300" i="1" dirty="0">
                <a:solidFill>
                  <a:srgbClr val="44546A"/>
                </a:solidFill>
                <a:latin typeface="Calibri" panose="020F0502020204030204" pitchFamily="34" charset="0"/>
                <a:ea typeface="Calibri" panose="020F0502020204030204" pitchFamily="34" charset="0"/>
                <a:cs typeface="Times New Roman" panose="02020603050405020304" pitchFamily="18" charset="0"/>
              </a:rPr>
              <a:t> et </a:t>
            </a:r>
            <a:r>
              <a:rPr lang="fr-FR" sz="1300" i="1" dirty="0" err="1">
                <a:solidFill>
                  <a:srgbClr val="44546A"/>
                </a:solidFill>
                <a:latin typeface="Calibri" panose="020F0502020204030204" pitchFamily="34" charset="0"/>
                <a:ea typeface="Calibri" panose="020F0502020204030204" pitchFamily="34" charset="0"/>
                <a:cs typeface="Times New Roman" panose="02020603050405020304" pitchFamily="18" charset="0"/>
              </a:rPr>
              <a:t>treatment</a:t>
            </a:r>
            <a:endParaRPr lang="fr-FR" sz="1300" i="1" dirty="0">
              <a:solidFill>
                <a:srgbClr val="44546A"/>
              </a:solidFill>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5605994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6B409ECA-B691-5B1C-5CCA-878C261674CB}"/>
              </a:ext>
            </a:extLst>
          </p:cNvPr>
          <p:cNvSpPr>
            <a:spLocks noGrp="1"/>
          </p:cNvSpPr>
          <p:nvPr>
            <p:ph idx="1"/>
          </p:nvPr>
        </p:nvSpPr>
        <p:spPr>
          <a:xfrm>
            <a:off x="150208" y="237894"/>
            <a:ext cx="11695427" cy="2489279"/>
          </a:xfrm>
        </p:spPr>
        <p:txBody>
          <a:bodyPr>
            <a:normAutofit/>
          </a:bodyPr>
          <a:lstStyle/>
          <a:p>
            <a:pPr marL="0" indent="0">
              <a:buNone/>
            </a:pPr>
            <a:r>
              <a:rPr lang="fr-FR" sz="2500" u="sng" dirty="0"/>
              <a:t>2.3 Mise en place d'une base de données analytique</a:t>
            </a:r>
            <a:r>
              <a:rPr lang="fr-FR" sz="2500" dirty="0"/>
              <a:t> :</a:t>
            </a:r>
          </a:p>
          <a:p>
            <a:pPr marL="0" indent="0">
              <a:buNone/>
            </a:pPr>
            <a:r>
              <a:rPr lang="fr-FR" sz="2300" dirty="0"/>
              <a:t>Les données sont nettoyées puis enregistrées dans une base </a:t>
            </a:r>
            <a:r>
              <a:rPr lang="fr-FR" sz="2300" dirty="0" err="1"/>
              <a:t>Sqlite</a:t>
            </a:r>
            <a:r>
              <a:rPr lang="fr-FR" sz="2300" dirty="0"/>
              <a:t>, en vue d'une utilisation postérieure. </a:t>
            </a:r>
          </a:p>
        </p:txBody>
      </p:sp>
      <p:pic>
        <p:nvPicPr>
          <p:cNvPr id="2" name="Image 1"/>
          <p:cNvPicPr>
            <a:picLocks noChangeAspect="1"/>
          </p:cNvPicPr>
          <p:nvPr/>
        </p:nvPicPr>
        <p:blipFill>
          <a:blip r:embed="rId3"/>
          <a:stretch>
            <a:fillRect/>
          </a:stretch>
        </p:blipFill>
        <p:spPr>
          <a:xfrm>
            <a:off x="3663393" y="4130827"/>
            <a:ext cx="8528607" cy="1445166"/>
          </a:xfrm>
          <a:prstGeom prst="rect">
            <a:avLst/>
          </a:prstGeom>
        </p:spPr>
      </p:pic>
      <p:sp>
        <p:nvSpPr>
          <p:cNvPr id="12" name="Espace réservé du contenu 2">
            <a:extLst>
              <a:ext uri="{FF2B5EF4-FFF2-40B4-BE49-F238E27FC236}">
                <a16:creationId xmlns:a16="http://schemas.microsoft.com/office/drawing/2014/main" id="{6B409ECA-B691-5B1C-5CCA-878C261674CB}"/>
              </a:ext>
            </a:extLst>
          </p:cNvPr>
          <p:cNvSpPr txBox="1">
            <a:spLocks/>
          </p:cNvSpPr>
          <p:nvPr/>
        </p:nvSpPr>
        <p:spPr>
          <a:xfrm>
            <a:off x="3670213" y="1694989"/>
            <a:ext cx="7344151" cy="273896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fr-FR" sz="2500" u="sng" dirty="0"/>
              <a:t>Procédure de mise en place</a:t>
            </a:r>
            <a:r>
              <a:rPr lang="fr-FR" sz="2500" dirty="0"/>
              <a:t> : </a:t>
            </a:r>
          </a:p>
          <a:p>
            <a:pPr marL="0" indent="0">
              <a:buFont typeface="Arial" panose="020B0604020202020204" pitchFamily="34" charset="0"/>
              <a:buNone/>
            </a:pPr>
            <a:endParaRPr lang="fr-FR" sz="2500" dirty="0"/>
          </a:p>
          <a:p>
            <a:pPr marL="0" indent="0">
              <a:buNone/>
            </a:pPr>
            <a:r>
              <a:rPr lang="fr-FR" sz="2500" dirty="0"/>
              <a:t>- Plan MCD et MLD</a:t>
            </a:r>
          </a:p>
          <a:p>
            <a:pPr marL="0" indent="0">
              <a:buNone/>
            </a:pPr>
            <a:r>
              <a:rPr lang="fr-FR" sz="2500" dirty="0"/>
              <a:t>- Téléchargement et installation de SQLite</a:t>
            </a:r>
          </a:p>
          <a:p>
            <a:pPr marL="0" indent="0">
              <a:buNone/>
            </a:pPr>
            <a:r>
              <a:rPr lang="fr-FR" sz="2500" dirty="0"/>
              <a:t>- Test de lancement de l'application dans le terminal</a:t>
            </a:r>
          </a:p>
          <a:p>
            <a:pPr marL="0" indent="0">
              <a:buFont typeface="Arial" panose="020B0604020202020204" pitchFamily="34" charset="0"/>
              <a:buNone/>
            </a:pPr>
            <a:endParaRPr lang="fr-FR" dirty="0"/>
          </a:p>
        </p:txBody>
      </p:sp>
      <p:sp>
        <p:nvSpPr>
          <p:cNvPr id="4" name="Espace réservé du numéro de diapositive 3">
            <a:extLst>
              <a:ext uri="{FF2B5EF4-FFF2-40B4-BE49-F238E27FC236}">
                <a16:creationId xmlns:a16="http://schemas.microsoft.com/office/drawing/2014/main" id="{94F67F43-13E9-06D9-2854-D9F31ACF5A34}"/>
              </a:ext>
            </a:extLst>
          </p:cNvPr>
          <p:cNvSpPr>
            <a:spLocks noGrp="1"/>
          </p:cNvSpPr>
          <p:nvPr>
            <p:ph type="sldNum" sz="quarter" idx="12"/>
          </p:nvPr>
        </p:nvSpPr>
        <p:spPr/>
        <p:txBody>
          <a:bodyPr/>
          <a:lstStyle/>
          <a:p>
            <a:fld id="{BA06AB71-0B36-4B80-B991-039F7D68F8CB}" type="slidenum">
              <a:rPr lang="fr-FR" smtClean="0"/>
              <a:t>19</a:t>
            </a:fld>
            <a:endParaRPr lang="fr-FR"/>
          </a:p>
        </p:txBody>
      </p:sp>
      <p:sp>
        <p:nvSpPr>
          <p:cNvPr id="5" name="ZoneTexte 4">
            <a:extLst>
              <a:ext uri="{FF2B5EF4-FFF2-40B4-BE49-F238E27FC236}">
                <a16:creationId xmlns:a16="http://schemas.microsoft.com/office/drawing/2014/main" id="{8DACEBD2-36B6-8C65-9983-36C67DDD8A20}"/>
              </a:ext>
            </a:extLst>
          </p:cNvPr>
          <p:cNvSpPr txBox="1"/>
          <p:nvPr/>
        </p:nvSpPr>
        <p:spPr>
          <a:xfrm>
            <a:off x="150209" y="6219190"/>
            <a:ext cx="3171726" cy="492443"/>
          </a:xfrm>
          <a:prstGeom prst="rect">
            <a:avLst/>
          </a:prstGeom>
          <a:noFill/>
        </p:spPr>
        <p:txBody>
          <a:bodyPr wrap="square" rtlCol="0">
            <a:spAutoFit/>
          </a:bodyPr>
          <a:lstStyle/>
          <a:p>
            <a:pPr>
              <a:spcAft>
                <a:spcPts val="1000"/>
              </a:spcAft>
            </a:pPr>
            <a:r>
              <a:rPr lang="fr-FR" sz="1300" i="1" dirty="0">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Figure </a:t>
            </a:r>
            <a:r>
              <a:rPr lang="fr-FR" sz="1300" i="1" dirty="0">
                <a:solidFill>
                  <a:srgbClr val="44546A"/>
                </a:solidFill>
                <a:latin typeface="Calibri" panose="020F0502020204030204" pitchFamily="34" charset="0"/>
                <a:ea typeface="Calibri" panose="020F0502020204030204" pitchFamily="34" charset="0"/>
                <a:cs typeface="Times New Roman" panose="02020603050405020304" pitchFamily="18" charset="0"/>
              </a:rPr>
              <a:t>14</a:t>
            </a:r>
            <a:r>
              <a:rPr lang="fr-FR" sz="1300" i="1" dirty="0">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 : Modèle relationnel des données de la base de données analytique</a:t>
            </a:r>
          </a:p>
        </p:txBody>
      </p:sp>
      <p:sp>
        <p:nvSpPr>
          <p:cNvPr id="6" name="ZoneTexte 5">
            <a:extLst>
              <a:ext uri="{FF2B5EF4-FFF2-40B4-BE49-F238E27FC236}">
                <a16:creationId xmlns:a16="http://schemas.microsoft.com/office/drawing/2014/main" id="{46851BF7-3108-F744-C083-67B3ECAA1E09}"/>
              </a:ext>
            </a:extLst>
          </p:cNvPr>
          <p:cNvSpPr txBox="1"/>
          <p:nvPr/>
        </p:nvSpPr>
        <p:spPr>
          <a:xfrm>
            <a:off x="3663393" y="5837605"/>
            <a:ext cx="5431781" cy="292388"/>
          </a:xfrm>
          <a:prstGeom prst="rect">
            <a:avLst/>
          </a:prstGeom>
          <a:noFill/>
        </p:spPr>
        <p:txBody>
          <a:bodyPr wrap="square" rtlCol="0">
            <a:spAutoFit/>
          </a:bodyPr>
          <a:lstStyle/>
          <a:p>
            <a:pPr>
              <a:spcAft>
                <a:spcPts val="1000"/>
              </a:spcAft>
            </a:pPr>
            <a:r>
              <a:rPr lang="fr-FR" sz="1300" i="1" dirty="0">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Figure </a:t>
            </a:r>
            <a:r>
              <a:rPr lang="fr-FR" sz="1300" i="1" dirty="0">
                <a:solidFill>
                  <a:srgbClr val="44546A"/>
                </a:solidFill>
                <a:latin typeface="Calibri" panose="020F0502020204030204" pitchFamily="34" charset="0"/>
                <a:ea typeface="Calibri" panose="020F0502020204030204" pitchFamily="34" charset="0"/>
                <a:cs typeface="Times New Roman" panose="02020603050405020304" pitchFamily="18" charset="0"/>
              </a:rPr>
              <a:t>15</a:t>
            </a:r>
            <a:r>
              <a:rPr lang="fr-FR" sz="1300" i="1" dirty="0">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 : </a:t>
            </a:r>
            <a:r>
              <a:rPr lang="fr-FR" sz="1300" i="1" dirty="0">
                <a:solidFill>
                  <a:srgbClr val="44546A"/>
                </a:solidFill>
                <a:latin typeface="Calibri" panose="020F0502020204030204" pitchFamily="34" charset="0"/>
                <a:ea typeface="Calibri" panose="020F0502020204030204" pitchFamily="34" charset="0"/>
                <a:cs typeface="Times New Roman" panose="02020603050405020304" pitchFamily="18" charset="0"/>
              </a:rPr>
              <a:t>Mise en place de </a:t>
            </a:r>
            <a:r>
              <a:rPr lang="fr-FR" sz="1300" i="1" dirty="0">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la base de données analytique</a:t>
            </a:r>
          </a:p>
        </p:txBody>
      </p:sp>
      <p:pic>
        <p:nvPicPr>
          <p:cNvPr id="9" name="Image 8">
            <a:extLst>
              <a:ext uri="{FF2B5EF4-FFF2-40B4-BE49-F238E27FC236}">
                <a16:creationId xmlns:a16="http://schemas.microsoft.com/office/drawing/2014/main" id="{1E7A407F-8705-DF49-757F-47813610F5B3}"/>
              </a:ext>
            </a:extLst>
          </p:cNvPr>
          <p:cNvPicPr>
            <a:picLocks noChangeAspect="1"/>
          </p:cNvPicPr>
          <p:nvPr/>
        </p:nvPicPr>
        <p:blipFill>
          <a:blip r:embed="rId4"/>
          <a:stretch>
            <a:fillRect/>
          </a:stretch>
        </p:blipFill>
        <p:spPr>
          <a:xfrm>
            <a:off x="194610" y="1774921"/>
            <a:ext cx="3309855" cy="4355072"/>
          </a:xfrm>
          <a:prstGeom prst="rect">
            <a:avLst/>
          </a:prstGeom>
        </p:spPr>
      </p:pic>
      <p:sp>
        <p:nvSpPr>
          <p:cNvPr id="7" name="Rectangle 6">
            <a:extLst>
              <a:ext uri="{FF2B5EF4-FFF2-40B4-BE49-F238E27FC236}">
                <a16:creationId xmlns:a16="http://schemas.microsoft.com/office/drawing/2014/main" id="{653CBE2D-1E82-957C-A2FE-EA9E065D2006}"/>
              </a:ext>
            </a:extLst>
          </p:cNvPr>
          <p:cNvSpPr/>
          <p:nvPr/>
        </p:nvSpPr>
        <p:spPr>
          <a:xfrm>
            <a:off x="11196706" y="237893"/>
            <a:ext cx="648929" cy="294968"/>
          </a:xfrm>
          <a:prstGeom prst="rect">
            <a:avLst/>
          </a:prstGeom>
          <a:solidFill>
            <a:srgbClr val="FFC000"/>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400" dirty="0">
                <a:solidFill>
                  <a:schemeClr val="tx1"/>
                </a:solidFill>
              </a:rPr>
              <a:t>C2</a:t>
            </a:r>
          </a:p>
        </p:txBody>
      </p:sp>
      <p:sp>
        <p:nvSpPr>
          <p:cNvPr id="8" name="Rectangle 7">
            <a:extLst>
              <a:ext uri="{FF2B5EF4-FFF2-40B4-BE49-F238E27FC236}">
                <a16:creationId xmlns:a16="http://schemas.microsoft.com/office/drawing/2014/main" id="{35D57FA9-9DF4-95FF-4624-923B5019AB6C}"/>
              </a:ext>
            </a:extLst>
          </p:cNvPr>
          <p:cNvSpPr/>
          <p:nvPr/>
        </p:nvSpPr>
        <p:spPr>
          <a:xfrm>
            <a:off x="11196706" y="611734"/>
            <a:ext cx="648929" cy="294968"/>
          </a:xfrm>
          <a:prstGeom prst="rect">
            <a:avLst/>
          </a:prstGeom>
          <a:solidFill>
            <a:srgbClr val="FFC000"/>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400" dirty="0">
                <a:solidFill>
                  <a:schemeClr val="tx1"/>
                </a:solidFill>
              </a:rPr>
              <a:t>C3</a:t>
            </a:r>
          </a:p>
        </p:txBody>
      </p:sp>
    </p:spTree>
    <p:extLst>
      <p:ext uri="{BB962C8B-B14F-4D97-AF65-F5344CB8AC3E}">
        <p14:creationId xmlns:p14="http://schemas.microsoft.com/office/powerpoint/2010/main" val="290534785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6B409ECA-B691-5B1C-5CCA-878C261674CB}"/>
              </a:ext>
            </a:extLst>
          </p:cNvPr>
          <p:cNvSpPr>
            <a:spLocks noGrp="1"/>
          </p:cNvSpPr>
          <p:nvPr>
            <p:ph idx="1"/>
          </p:nvPr>
        </p:nvSpPr>
        <p:spPr>
          <a:xfrm>
            <a:off x="408918" y="1760669"/>
            <a:ext cx="4290403" cy="3679965"/>
          </a:xfrm>
        </p:spPr>
        <p:txBody>
          <a:bodyPr>
            <a:normAutofit/>
          </a:bodyPr>
          <a:lstStyle/>
          <a:p>
            <a:pPr marL="0" indent="0">
              <a:buNone/>
            </a:pPr>
            <a:r>
              <a:rPr lang="fr-FR" sz="2500" u="sng" dirty="0"/>
              <a:t>3.1 Outils utilisés</a:t>
            </a:r>
            <a:r>
              <a:rPr lang="fr-FR" sz="2500" dirty="0"/>
              <a:t> : </a:t>
            </a:r>
          </a:p>
          <a:p>
            <a:pPr marL="0" indent="0">
              <a:buNone/>
            </a:pPr>
            <a:endParaRPr lang="fr-FR" sz="2300" u="sng" dirty="0"/>
          </a:p>
          <a:p>
            <a:r>
              <a:rPr lang="fr-FR" sz="2300" dirty="0" err="1"/>
              <a:t>Jupyter</a:t>
            </a:r>
            <a:r>
              <a:rPr lang="fr-FR" sz="2300" dirty="0"/>
              <a:t> notebook</a:t>
            </a:r>
          </a:p>
          <a:p>
            <a:r>
              <a:rPr lang="fr-FR" sz="2300" dirty="0"/>
              <a:t>Librairie </a:t>
            </a:r>
            <a:r>
              <a:rPr lang="fr-FR" sz="2300" dirty="0" err="1"/>
              <a:t>Scikit-learn</a:t>
            </a:r>
            <a:endParaRPr lang="fr-FR" sz="2300" dirty="0"/>
          </a:p>
          <a:p>
            <a:pPr marL="0" indent="0">
              <a:buNone/>
            </a:pPr>
            <a:endParaRPr lang="fr-FR" sz="2300" dirty="0"/>
          </a:p>
          <a:p>
            <a:pPr marL="0" indent="0">
              <a:buNone/>
            </a:pPr>
            <a:endParaRPr lang="fr-FR" u="sng" dirty="0"/>
          </a:p>
          <a:p>
            <a:pPr marL="0" indent="0">
              <a:buNone/>
            </a:pPr>
            <a:endParaRPr lang="fr-FR" u="sng" dirty="0"/>
          </a:p>
          <a:p>
            <a:pPr marL="0" indent="0">
              <a:buNone/>
            </a:pPr>
            <a:endParaRPr lang="fr-FR" dirty="0"/>
          </a:p>
        </p:txBody>
      </p:sp>
      <p:sp>
        <p:nvSpPr>
          <p:cNvPr id="2" name="Espace réservé du numéro de diapositive 1">
            <a:extLst>
              <a:ext uri="{FF2B5EF4-FFF2-40B4-BE49-F238E27FC236}">
                <a16:creationId xmlns:a16="http://schemas.microsoft.com/office/drawing/2014/main" id="{D5CB137D-13F4-13C3-AE65-560964CF100E}"/>
              </a:ext>
            </a:extLst>
          </p:cNvPr>
          <p:cNvSpPr>
            <a:spLocks noGrp="1"/>
          </p:cNvSpPr>
          <p:nvPr>
            <p:ph type="sldNum" sz="quarter" idx="12"/>
          </p:nvPr>
        </p:nvSpPr>
        <p:spPr/>
        <p:txBody>
          <a:bodyPr/>
          <a:lstStyle/>
          <a:p>
            <a:fld id="{BA06AB71-0B36-4B80-B991-039F7D68F8CB}" type="slidenum">
              <a:rPr lang="fr-FR" smtClean="0"/>
              <a:t>20</a:t>
            </a:fld>
            <a:endParaRPr lang="fr-FR"/>
          </a:p>
        </p:txBody>
      </p:sp>
      <p:sp>
        <p:nvSpPr>
          <p:cNvPr id="8" name="Titre 1">
            <a:extLst>
              <a:ext uri="{FF2B5EF4-FFF2-40B4-BE49-F238E27FC236}">
                <a16:creationId xmlns:a16="http://schemas.microsoft.com/office/drawing/2014/main" id="{E9C259C4-15CF-5FF1-5FA6-82A0B80722A6}"/>
              </a:ext>
            </a:extLst>
          </p:cNvPr>
          <p:cNvSpPr>
            <a:spLocks noGrp="1"/>
          </p:cNvSpPr>
          <p:nvPr>
            <p:ph type="title"/>
          </p:nvPr>
        </p:nvSpPr>
        <p:spPr>
          <a:xfrm>
            <a:off x="92019" y="1"/>
            <a:ext cx="11495923" cy="844952"/>
          </a:xfrm>
        </p:spPr>
        <p:txBody>
          <a:bodyPr>
            <a:normAutofit fontScale="90000"/>
          </a:bodyPr>
          <a:lstStyle/>
          <a:p>
            <a:r>
              <a:rPr lang="fr-FR" dirty="0"/>
              <a:t>3. Développer un programme d'intelligence artificielle</a:t>
            </a:r>
          </a:p>
        </p:txBody>
      </p:sp>
      <p:sp>
        <p:nvSpPr>
          <p:cNvPr id="4" name="ZoneTexte 3">
            <a:extLst>
              <a:ext uri="{FF2B5EF4-FFF2-40B4-BE49-F238E27FC236}">
                <a16:creationId xmlns:a16="http://schemas.microsoft.com/office/drawing/2014/main" id="{89E3023D-D112-FEBE-C954-0BB1BD353C7E}"/>
              </a:ext>
            </a:extLst>
          </p:cNvPr>
          <p:cNvSpPr txBox="1"/>
          <p:nvPr/>
        </p:nvSpPr>
        <p:spPr>
          <a:xfrm>
            <a:off x="5278056" y="1701478"/>
            <a:ext cx="5555848" cy="3200876"/>
          </a:xfrm>
          <a:prstGeom prst="rect">
            <a:avLst/>
          </a:prstGeom>
          <a:noFill/>
        </p:spPr>
        <p:txBody>
          <a:bodyPr wrap="square" rtlCol="0">
            <a:spAutoFit/>
          </a:bodyPr>
          <a:lstStyle/>
          <a:p>
            <a:pPr marL="0" indent="0">
              <a:buNone/>
            </a:pPr>
            <a:r>
              <a:rPr lang="fr-FR" sz="2300" u="sng" dirty="0"/>
              <a:t>3.2 Modèles comparés</a:t>
            </a:r>
            <a:r>
              <a:rPr lang="fr-FR" sz="2300" dirty="0"/>
              <a:t> : </a:t>
            </a:r>
          </a:p>
          <a:p>
            <a:pPr marL="0" indent="0">
              <a:buNone/>
            </a:pPr>
            <a:endParaRPr lang="fr-FR" sz="2300" dirty="0"/>
          </a:p>
          <a:p>
            <a:pPr marL="0" indent="0">
              <a:buNone/>
            </a:pPr>
            <a:r>
              <a:rPr lang="fr-FR" sz="2300" dirty="0"/>
              <a:t>	- </a:t>
            </a:r>
            <a:r>
              <a:rPr lang="fr-FR" sz="2300" dirty="0" err="1"/>
              <a:t>LogisticRegression</a:t>
            </a:r>
            <a:endParaRPr lang="fr-FR" sz="2300" dirty="0"/>
          </a:p>
          <a:p>
            <a:pPr marL="0" indent="0">
              <a:buNone/>
            </a:pPr>
            <a:r>
              <a:rPr lang="fr-FR" sz="2300" dirty="0"/>
              <a:t>	- </a:t>
            </a:r>
            <a:r>
              <a:rPr lang="fr-FR" sz="2300" dirty="0" err="1"/>
              <a:t>KNeighborsClassifier</a:t>
            </a:r>
            <a:endParaRPr lang="fr-FR" sz="2300" dirty="0"/>
          </a:p>
          <a:p>
            <a:pPr marL="0" indent="0">
              <a:buNone/>
            </a:pPr>
            <a:r>
              <a:rPr lang="fr-FR" sz="2300" dirty="0"/>
              <a:t>	- </a:t>
            </a:r>
            <a:r>
              <a:rPr lang="fr-FR" sz="2300" dirty="0" err="1"/>
              <a:t>DecisionTreeClassifier</a:t>
            </a:r>
            <a:endParaRPr lang="fr-FR" sz="2300" dirty="0"/>
          </a:p>
          <a:p>
            <a:pPr marL="0" indent="0">
              <a:buNone/>
            </a:pPr>
            <a:r>
              <a:rPr lang="fr-FR" sz="2300" dirty="0"/>
              <a:t>	- </a:t>
            </a:r>
            <a:r>
              <a:rPr lang="fr-FR" sz="2300" dirty="0" err="1"/>
              <a:t>AdaBoostClassifier</a:t>
            </a:r>
            <a:endParaRPr lang="fr-FR" sz="2300" dirty="0"/>
          </a:p>
          <a:p>
            <a:pPr marL="0" indent="0">
              <a:buNone/>
            </a:pPr>
            <a:r>
              <a:rPr lang="fr-FR" sz="2300" dirty="0"/>
              <a:t>	- </a:t>
            </a:r>
            <a:r>
              <a:rPr lang="fr-FR" sz="2300" dirty="0" err="1"/>
              <a:t>GradientBoostingClassifier</a:t>
            </a:r>
            <a:endParaRPr lang="fr-FR" sz="2300" dirty="0"/>
          </a:p>
          <a:p>
            <a:pPr marL="0" indent="0">
              <a:buNone/>
            </a:pPr>
            <a:r>
              <a:rPr lang="fr-FR" sz="2300" dirty="0"/>
              <a:t>	- </a:t>
            </a:r>
            <a:r>
              <a:rPr lang="fr-FR" sz="2300" dirty="0" err="1"/>
              <a:t>RandomForestClassifier</a:t>
            </a:r>
            <a:endParaRPr lang="fr-FR" sz="2300" dirty="0"/>
          </a:p>
          <a:p>
            <a:endParaRPr lang="fr-FR" dirty="0"/>
          </a:p>
        </p:txBody>
      </p:sp>
      <p:sp>
        <p:nvSpPr>
          <p:cNvPr id="5" name="Rectangle 4">
            <a:extLst>
              <a:ext uri="{FF2B5EF4-FFF2-40B4-BE49-F238E27FC236}">
                <a16:creationId xmlns:a16="http://schemas.microsoft.com/office/drawing/2014/main" id="{7A18740F-4067-044E-6E8B-D23A1BD51B0C}"/>
              </a:ext>
            </a:extLst>
          </p:cNvPr>
          <p:cNvSpPr/>
          <p:nvPr/>
        </p:nvSpPr>
        <p:spPr>
          <a:xfrm>
            <a:off x="11346581" y="247654"/>
            <a:ext cx="648929" cy="294968"/>
          </a:xfrm>
          <a:prstGeom prst="rect">
            <a:avLst/>
          </a:prstGeom>
          <a:solidFill>
            <a:srgbClr val="FFC000"/>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400" dirty="0">
                <a:solidFill>
                  <a:schemeClr val="tx1"/>
                </a:solidFill>
              </a:rPr>
              <a:t>C5</a:t>
            </a:r>
          </a:p>
        </p:txBody>
      </p:sp>
      <p:sp>
        <p:nvSpPr>
          <p:cNvPr id="6" name="ZoneTexte 5">
            <a:extLst>
              <a:ext uri="{FF2B5EF4-FFF2-40B4-BE49-F238E27FC236}">
                <a16:creationId xmlns:a16="http://schemas.microsoft.com/office/drawing/2014/main" id="{3D310684-7C86-011F-5439-0EB5A6C31DD2}"/>
              </a:ext>
            </a:extLst>
          </p:cNvPr>
          <p:cNvSpPr txBox="1"/>
          <p:nvPr/>
        </p:nvSpPr>
        <p:spPr>
          <a:xfrm>
            <a:off x="235296" y="5494904"/>
            <a:ext cx="11495922" cy="646331"/>
          </a:xfrm>
          <a:prstGeom prst="rect">
            <a:avLst/>
          </a:prstGeom>
          <a:noFill/>
        </p:spPr>
        <p:txBody>
          <a:bodyPr wrap="square" rtlCol="0">
            <a:spAutoFit/>
          </a:bodyPr>
          <a:lstStyle/>
          <a:p>
            <a:r>
              <a:rPr lang="fr-FR" dirty="0"/>
              <a:t>Librairie simple d’utilisation</a:t>
            </a:r>
          </a:p>
          <a:p>
            <a:r>
              <a:rPr lang="fr-FR" dirty="0"/>
              <a:t>Algorithmes qui ressortent le plus lors de la veille technique, dans les problématiques de classification binaire </a:t>
            </a:r>
          </a:p>
        </p:txBody>
      </p:sp>
    </p:spTree>
    <p:extLst>
      <p:ext uri="{BB962C8B-B14F-4D97-AF65-F5344CB8AC3E}">
        <p14:creationId xmlns:p14="http://schemas.microsoft.com/office/powerpoint/2010/main" val="308411913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6B409ECA-B691-5B1C-5CCA-878C261674CB}"/>
              </a:ext>
            </a:extLst>
          </p:cNvPr>
          <p:cNvSpPr>
            <a:spLocks noGrp="1"/>
          </p:cNvSpPr>
          <p:nvPr>
            <p:ph idx="1"/>
          </p:nvPr>
        </p:nvSpPr>
        <p:spPr>
          <a:xfrm>
            <a:off x="103594" y="395138"/>
            <a:ext cx="11695427" cy="5406449"/>
          </a:xfrm>
        </p:spPr>
        <p:txBody>
          <a:bodyPr/>
          <a:lstStyle/>
          <a:p>
            <a:pPr marL="0" indent="0">
              <a:buNone/>
            </a:pPr>
            <a:r>
              <a:rPr lang="fr-FR" sz="2500" u="sng" dirty="0"/>
              <a:t>3.3 Méthode d'entraînement: </a:t>
            </a:r>
            <a:endParaRPr lang="fr-FR" sz="2100" dirty="0"/>
          </a:p>
          <a:p>
            <a:pPr marL="0" indent="0">
              <a:lnSpc>
                <a:spcPct val="150000"/>
              </a:lnSpc>
              <a:buNone/>
            </a:pPr>
            <a:r>
              <a:rPr lang="fr-FR" sz="2100" dirty="0"/>
              <a:t>- Récupération des données</a:t>
            </a:r>
          </a:p>
          <a:p>
            <a:pPr marL="0" indent="0">
              <a:buNone/>
            </a:pPr>
            <a:endParaRPr lang="fr-FR" u="sng" dirty="0"/>
          </a:p>
          <a:p>
            <a:pPr marL="0" indent="0">
              <a:buNone/>
            </a:pPr>
            <a:endParaRPr lang="fr-FR" u="sng" dirty="0"/>
          </a:p>
          <a:p>
            <a:pPr marL="0" indent="0">
              <a:buNone/>
            </a:pPr>
            <a:endParaRPr lang="fr-FR" dirty="0"/>
          </a:p>
        </p:txBody>
      </p:sp>
      <p:pic>
        <p:nvPicPr>
          <p:cNvPr id="4" name="Image 3"/>
          <p:cNvPicPr>
            <a:picLocks noChangeAspect="1"/>
          </p:cNvPicPr>
          <p:nvPr/>
        </p:nvPicPr>
        <p:blipFill>
          <a:blip r:embed="rId3"/>
          <a:stretch>
            <a:fillRect/>
          </a:stretch>
        </p:blipFill>
        <p:spPr>
          <a:xfrm>
            <a:off x="99122" y="1645787"/>
            <a:ext cx="12092878" cy="4433181"/>
          </a:xfrm>
          <a:prstGeom prst="rect">
            <a:avLst/>
          </a:prstGeom>
        </p:spPr>
      </p:pic>
      <p:sp>
        <p:nvSpPr>
          <p:cNvPr id="2" name="Espace réservé du numéro de diapositive 1">
            <a:extLst>
              <a:ext uri="{FF2B5EF4-FFF2-40B4-BE49-F238E27FC236}">
                <a16:creationId xmlns:a16="http://schemas.microsoft.com/office/drawing/2014/main" id="{58ADD691-E428-0337-C932-26805FD730B8}"/>
              </a:ext>
            </a:extLst>
          </p:cNvPr>
          <p:cNvSpPr>
            <a:spLocks noGrp="1"/>
          </p:cNvSpPr>
          <p:nvPr>
            <p:ph type="sldNum" sz="quarter" idx="12"/>
          </p:nvPr>
        </p:nvSpPr>
        <p:spPr/>
        <p:txBody>
          <a:bodyPr/>
          <a:lstStyle/>
          <a:p>
            <a:fld id="{BA06AB71-0B36-4B80-B991-039F7D68F8CB}" type="slidenum">
              <a:rPr lang="fr-FR" smtClean="0"/>
              <a:t>21</a:t>
            </a:fld>
            <a:endParaRPr lang="fr-FR"/>
          </a:p>
        </p:txBody>
      </p:sp>
      <p:sp>
        <p:nvSpPr>
          <p:cNvPr id="5" name="ZoneTexte 4">
            <a:extLst>
              <a:ext uri="{FF2B5EF4-FFF2-40B4-BE49-F238E27FC236}">
                <a16:creationId xmlns:a16="http://schemas.microsoft.com/office/drawing/2014/main" id="{7B9D2B4A-018B-ABFD-F7F2-992AF4CF6E79}"/>
              </a:ext>
            </a:extLst>
          </p:cNvPr>
          <p:cNvSpPr txBox="1"/>
          <p:nvPr/>
        </p:nvSpPr>
        <p:spPr>
          <a:xfrm>
            <a:off x="99122" y="6219442"/>
            <a:ext cx="5431781" cy="292388"/>
          </a:xfrm>
          <a:prstGeom prst="rect">
            <a:avLst/>
          </a:prstGeom>
          <a:noFill/>
        </p:spPr>
        <p:txBody>
          <a:bodyPr wrap="square" rtlCol="0">
            <a:spAutoFit/>
          </a:bodyPr>
          <a:lstStyle/>
          <a:p>
            <a:pPr>
              <a:spcAft>
                <a:spcPts val="1000"/>
              </a:spcAft>
            </a:pPr>
            <a:r>
              <a:rPr lang="fr-FR" sz="1300" i="1" dirty="0">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Figure </a:t>
            </a:r>
            <a:r>
              <a:rPr lang="fr-FR" sz="1300" i="1" dirty="0">
                <a:solidFill>
                  <a:srgbClr val="44546A"/>
                </a:solidFill>
                <a:latin typeface="Calibri" panose="020F0502020204030204" pitchFamily="34" charset="0"/>
                <a:ea typeface="Calibri" panose="020F0502020204030204" pitchFamily="34" charset="0"/>
                <a:cs typeface="Times New Roman" panose="02020603050405020304" pitchFamily="18" charset="0"/>
              </a:rPr>
              <a:t>16</a:t>
            </a:r>
            <a:r>
              <a:rPr lang="fr-FR" sz="1300" i="1" dirty="0">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 : </a:t>
            </a:r>
            <a:r>
              <a:rPr lang="fr-FR" sz="1300" i="1" dirty="0">
                <a:solidFill>
                  <a:srgbClr val="44546A"/>
                </a:solidFill>
                <a:latin typeface="Calibri" panose="020F0502020204030204" pitchFamily="34" charset="0"/>
                <a:ea typeface="Calibri" panose="020F0502020204030204" pitchFamily="34" charset="0"/>
                <a:cs typeface="Times New Roman" panose="02020603050405020304" pitchFamily="18" charset="0"/>
              </a:rPr>
              <a:t>Récupération des données de la base de données analytique</a:t>
            </a:r>
            <a:endParaRPr lang="fr-FR" sz="1300" i="1" dirty="0">
              <a:solidFill>
                <a:srgbClr val="44546A"/>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9" name="Espace réservé du contenu 2">
            <a:extLst>
              <a:ext uri="{FF2B5EF4-FFF2-40B4-BE49-F238E27FC236}">
                <a16:creationId xmlns:a16="http://schemas.microsoft.com/office/drawing/2014/main" id="{4EAD7E72-D1F9-55B6-8085-C447D1460125}"/>
              </a:ext>
            </a:extLst>
          </p:cNvPr>
          <p:cNvSpPr txBox="1">
            <a:spLocks/>
          </p:cNvSpPr>
          <p:nvPr/>
        </p:nvSpPr>
        <p:spPr>
          <a:xfrm>
            <a:off x="582539" y="860141"/>
            <a:ext cx="8526737" cy="101652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fr-FR" sz="2300" dirty="0"/>
          </a:p>
          <a:p>
            <a:pPr marL="0" indent="0">
              <a:buFont typeface="Arial" panose="020B0604020202020204" pitchFamily="34" charset="0"/>
              <a:buNone/>
            </a:pPr>
            <a:endParaRPr lang="fr-FR" u="sng" dirty="0"/>
          </a:p>
          <a:p>
            <a:pPr marL="0" indent="0">
              <a:buFont typeface="Arial" panose="020B0604020202020204" pitchFamily="34" charset="0"/>
              <a:buNone/>
            </a:pPr>
            <a:endParaRPr lang="fr-FR" u="sng" dirty="0"/>
          </a:p>
          <a:p>
            <a:pPr marL="0" indent="0">
              <a:buFont typeface="Arial" panose="020B0604020202020204" pitchFamily="34" charset="0"/>
              <a:buNone/>
            </a:pPr>
            <a:endParaRPr lang="fr-FR" dirty="0"/>
          </a:p>
        </p:txBody>
      </p:sp>
      <p:sp>
        <p:nvSpPr>
          <p:cNvPr id="8" name="Rectangle 7">
            <a:extLst>
              <a:ext uri="{FF2B5EF4-FFF2-40B4-BE49-F238E27FC236}">
                <a16:creationId xmlns:a16="http://schemas.microsoft.com/office/drawing/2014/main" id="{6CE3AE80-D9BB-39A0-D1C0-9BF6450CDC6C}"/>
              </a:ext>
            </a:extLst>
          </p:cNvPr>
          <p:cNvSpPr/>
          <p:nvPr/>
        </p:nvSpPr>
        <p:spPr>
          <a:xfrm>
            <a:off x="11346581" y="247654"/>
            <a:ext cx="648929" cy="294968"/>
          </a:xfrm>
          <a:prstGeom prst="rect">
            <a:avLst/>
          </a:prstGeom>
          <a:solidFill>
            <a:srgbClr val="FFC000"/>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400" dirty="0">
                <a:solidFill>
                  <a:schemeClr val="tx1"/>
                </a:solidFill>
              </a:rPr>
              <a:t>C4</a:t>
            </a:r>
          </a:p>
        </p:txBody>
      </p:sp>
    </p:spTree>
    <p:extLst>
      <p:ext uri="{BB962C8B-B14F-4D97-AF65-F5344CB8AC3E}">
        <p14:creationId xmlns:p14="http://schemas.microsoft.com/office/powerpoint/2010/main" val="134846039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6B409ECA-B691-5B1C-5CCA-878C261674CB}"/>
              </a:ext>
            </a:extLst>
          </p:cNvPr>
          <p:cNvSpPr>
            <a:spLocks noGrp="1"/>
          </p:cNvSpPr>
          <p:nvPr>
            <p:ph idx="1"/>
          </p:nvPr>
        </p:nvSpPr>
        <p:spPr>
          <a:xfrm>
            <a:off x="200574" y="178227"/>
            <a:ext cx="11695427" cy="6563395"/>
          </a:xfrm>
        </p:spPr>
        <p:txBody>
          <a:bodyPr/>
          <a:lstStyle/>
          <a:p>
            <a:pPr marL="0" indent="0">
              <a:buNone/>
            </a:pPr>
            <a:endParaRPr lang="fr-FR" sz="2300" u="sng" dirty="0"/>
          </a:p>
          <a:p>
            <a:pPr marL="0" indent="0">
              <a:buNone/>
            </a:pPr>
            <a:r>
              <a:rPr lang="fr-FR" sz="2300" dirty="0"/>
              <a:t>- Séparation du jeu en entrées et sorties du modèle : </a:t>
            </a:r>
          </a:p>
          <a:p>
            <a:pPr marL="0" indent="0">
              <a:buNone/>
            </a:pPr>
            <a:endParaRPr lang="fr-FR" sz="2300" u="sng" dirty="0"/>
          </a:p>
          <a:p>
            <a:pPr marL="0" indent="0">
              <a:buNone/>
            </a:pPr>
            <a:endParaRPr lang="fr-FR" sz="2300" dirty="0"/>
          </a:p>
          <a:p>
            <a:pPr marL="0" indent="0">
              <a:buNone/>
            </a:pPr>
            <a:endParaRPr lang="fr-FR" sz="2300" dirty="0"/>
          </a:p>
          <a:p>
            <a:pPr marL="0" indent="0">
              <a:buNone/>
            </a:pPr>
            <a:r>
              <a:rPr lang="fr-FR" sz="2300" dirty="0"/>
              <a:t>- Séparation en jeu d'entrainement et de test</a:t>
            </a:r>
          </a:p>
          <a:p>
            <a:pPr marL="0" indent="0">
              <a:buNone/>
            </a:pPr>
            <a:endParaRPr lang="fr-FR" sz="2300" dirty="0"/>
          </a:p>
          <a:p>
            <a:pPr marL="0" indent="0">
              <a:buNone/>
            </a:pPr>
            <a:endParaRPr lang="fr-FR" sz="2300" dirty="0"/>
          </a:p>
          <a:p>
            <a:pPr marL="0" indent="0">
              <a:buNone/>
            </a:pPr>
            <a:endParaRPr lang="fr-FR" sz="2300" dirty="0"/>
          </a:p>
          <a:p>
            <a:pPr marL="0" indent="0">
              <a:buNone/>
            </a:pPr>
            <a:r>
              <a:rPr lang="fr-FR" sz="2300" dirty="0"/>
              <a:t>- Prétraitement de colonnes</a:t>
            </a:r>
          </a:p>
          <a:p>
            <a:pPr marL="0" indent="0">
              <a:buNone/>
            </a:pPr>
            <a:endParaRPr lang="fr-FR" sz="2300" dirty="0"/>
          </a:p>
          <a:p>
            <a:pPr marL="0" indent="0">
              <a:buNone/>
            </a:pPr>
            <a:endParaRPr lang="fr-FR" dirty="0"/>
          </a:p>
        </p:txBody>
      </p:sp>
      <p:pic>
        <p:nvPicPr>
          <p:cNvPr id="2" name="Image 1"/>
          <p:cNvPicPr>
            <a:picLocks noChangeAspect="1"/>
          </p:cNvPicPr>
          <p:nvPr/>
        </p:nvPicPr>
        <p:blipFill>
          <a:blip r:embed="rId3"/>
          <a:stretch>
            <a:fillRect/>
          </a:stretch>
        </p:blipFill>
        <p:spPr>
          <a:xfrm>
            <a:off x="367334" y="1367091"/>
            <a:ext cx="3411260" cy="604527"/>
          </a:xfrm>
          <a:prstGeom prst="rect">
            <a:avLst/>
          </a:prstGeom>
        </p:spPr>
      </p:pic>
      <p:pic>
        <p:nvPicPr>
          <p:cNvPr id="7" name="Image 6"/>
          <p:cNvPicPr>
            <a:picLocks noChangeAspect="1"/>
          </p:cNvPicPr>
          <p:nvPr/>
        </p:nvPicPr>
        <p:blipFill>
          <a:blip r:embed="rId4"/>
          <a:stretch>
            <a:fillRect/>
          </a:stretch>
        </p:blipFill>
        <p:spPr>
          <a:xfrm>
            <a:off x="367334" y="4706510"/>
            <a:ext cx="4876800" cy="981075"/>
          </a:xfrm>
          <a:prstGeom prst="rect">
            <a:avLst/>
          </a:prstGeom>
        </p:spPr>
      </p:pic>
      <p:sp>
        <p:nvSpPr>
          <p:cNvPr id="9" name="Espace réservé du numéro de diapositive 8">
            <a:extLst>
              <a:ext uri="{FF2B5EF4-FFF2-40B4-BE49-F238E27FC236}">
                <a16:creationId xmlns:a16="http://schemas.microsoft.com/office/drawing/2014/main" id="{3CD68400-4099-1D0D-CB47-5485487CDB1C}"/>
              </a:ext>
            </a:extLst>
          </p:cNvPr>
          <p:cNvSpPr>
            <a:spLocks noGrp="1"/>
          </p:cNvSpPr>
          <p:nvPr>
            <p:ph type="sldNum" sz="quarter" idx="12"/>
          </p:nvPr>
        </p:nvSpPr>
        <p:spPr/>
        <p:txBody>
          <a:bodyPr/>
          <a:lstStyle/>
          <a:p>
            <a:fld id="{BA06AB71-0B36-4B80-B991-039F7D68F8CB}" type="slidenum">
              <a:rPr lang="fr-FR" smtClean="0"/>
              <a:t>22</a:t>
            </a:fld>
            <a:endParaRPr lang="fr-FR"/>
          </a:p>
        </p:txBody>
      </p:sp>
      <p:sp>
        <p:nvSpPr>
          <p:cNvPr id="10" name="ZoneTexte 9">
            <a:extLst>
              <a:ext uri="{FF2B5EF4-FFF2-40B4-BE49-F238E27FC236}">
                <a16:creationId xmlns:a16="http://schemas.microsoft.com/office/drawing/2014/main" id="{015D96B3-0542-8E63-8DF5-99B878578EC5}"/>
              </a:ext>
            </a:extLst>
          </p:cNvPr>
          <p:cNvSpPr txBox="1"/>
          <p:nvPr/>
        </p:nvSpPr>
        <p:spPr>
          <a:xfrm>
            <a:off x="3945354" y="1455748"/>
            <a:ext cx="5431781" cy="292388"/>
          </a:xfrm>
          <a:prstGeom prst="rect">
            <a:avLst/>
          </a:prstGeom>
          <a:noFill/>
        </p:spPr>
        <p:txBody>
          <a:bodyPr wrap="square" rtlCol="0">
            <a:spAutoFit/>
          </a:bodyPr>
          <a:lstStyle/>
          <a:p>
            <a:pPr>
              <a:spcAft>
                <a:spcPts val="1000"/>
              </a:spcAft>
            </a:pPr>
            <a:r>
              <a:rPr lang="fr-FR" sz="1300" i="1" dirty="0">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Figure </a:t>
            </a:r>
            <a:r>
              <a:rPr lang="fr-FR" sz="1300" i="1" dirty="0">
                <a:solidFill>
                  <a:srgbClr val="44546A"/>
                </a:solidFill>
                <a:latin typeface="Calibri" panose="020F0502020204030204" pitchFamily="34" charset="0"/>
                <a:ea typeface="Calibri" panose="020F0502020204030204" pitchFamily="34" charset="0"/>
                <a:cs typeface="Times New Roman" panose="02020603050405020304" pitchFamily="18" charset="0"/>
              </a:rPr>
              <a:t>17</a:t>
            </a:r>
            <a:r>
              <a:rPr lang="fr-FR" sz="1300" i="1" dirty="0">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 : </a:t>
            </a:r>
            <a:r>
              <a:rPr lang="fr-FR" sz="1300" i="1" dirty="0">
                <a:solidFill>
                  <a:srgbClr val="44546A"/>
                </a:solidFill>
                <a:latin typeface="Calibri" panose="020F0502020204030204" pitchFamily="34" charset="0"/>
                <a:ea typeface="Calibri" panose="020F0502020204030204" pitchFamily="34" charset="0"/>
                <a:cs typeface="Times New Roman" panose="02020603050405020304" pitchFamily="18" charset="0"/>
              </a:rPr>
              <a:t>Séparation en X et y</a:t>
            </a:r>
            <a:endParaRPr lang="fr-FR" sz="1300" i="1" dirty="0">
              <a:solidFill>
                <a:srgbClr val="44546A"/>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1" name="ZoneTexte 10">
            <a:extLst>
              <a:ext uri="{FF2B5EF4-FFF2-40B4-BE49-F238E27FC236}">
                <a16:creationId xmlns:a16="http://schemas.microsoft.com/office/drawing/2014/main" id="{5CE0C983-DFB0-970D-FDC4-184143389963}"/>
              </a:ext>
            </a:extLst>
          </p:cNvPr>
          <p:cNvSpPr txBox="1"/>
          <p:nvPr/>
        </p:nvSpPr>
        <p:spPr>
          <a:xfrm>
            <a:off x="5459292" y="5050853"/>
            <a:ext cx="5431781" cy="292388"/>
          </a:xfrm>
          <a:prstGeom prst="rect">
            <a:avLst/>
          </a:prstGeom>
          <a:noFill/>
        </p:spPr>
        <p:txBody>
          <a:bodyPr wrap="square" rtlCol="0">
            <a:spAutoFit/>
          </a:bodyPr>
          <a:lstStyle/>
          <a:p>
            <a:pPr>
              <a:spcAft>
                <a:spcPts val="1000"/>
              </a:spcAft>
            </a:pPr>
            <a:r>
              <a:rPr lang="fr-FR" sz="1300" i="1" dirty="0">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Figure 19 : </a:t>
            </a:r>
            <a:r>
              <a:rPr lang="fr-FR" sz="1300" i="1" dirty="0">
                <a:solidFill>
                  <a:srgbClr val="44546A"/>
                </a:solidFill>
                <a:latin typeface="Calibri" panose="020F0502020204030204" pitchFamily="34" charset="0"/>
                <a:ea typeface="Calibri" panose="020F0502020204030204" pitchFamily="34" charset="0"/>
                <a:cs typeface="Times New Roman" panose="02020603050405020304" pitchFamily="18" charset="0"/>
              </a:rPr>
              <a:t>Prétraitement de colonnes</a:t>
            </a:r>
            <a:endParaRPr lang="fr-FR" sz="1300" i="1" dirty="0">
              <a:solidFill>
                <a:srgbClr val="44546A"/>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2" name="ZoneTexte 11">
            <a:extLst>
              <a:ext uri="{FF2B5EF4-FFF2-40B4-BE49-F238E27FC236}">
                <a16:creationId xmlns:a16="http://schemas.microsoft.com/office/drawing/2014/main" id="{C9456917-B3D1-80B9-81A7-7929F1C55848}"/>
              </a:ext>
            </a:extLst>
          </p:cNvPr>
          <p:cNvSpPr txBox="1"/>
          <p:nvPr/>
        </p:nvSpPr>
        <p:spPr>
          <a:xfrm>
            <a:off x="284173" y="3578652"/>
            <a:ext cx="3176222" cy="292388"/>
          </a:xfrm>
          <a:prstGeom prst="rect">
            <a:avLst/>
          </a:prstGeom>
          <a:noFill/>
        </p:spPr>
        <p:txBody>
          <a:bodyPr wrap="square" rtlCol="0">
            <a:spAutoFit/>
          </a:bodyPr>
          <a:lstStyle/>
          <a:p>
            <a:pPr>
              <a:spcAft>
                <a:spcPts val="1000"/>
              </a:spcAft>
            </a:pPr>
            <a:r>
              <a:rPr lang="fr-FR" sz="1300" i="1" dirty="0">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Figure 18 : </a:t>
            </a:r>
            <a:r>
              <a:rPr lang="fr-FR" sz="1300" i="1" dirty="0">
                <a:solidFill>
                  <a:srgbClr val="44546A"/>
                </a:solidFill>
                <a:latin typeface="Calibri" panose="020F0502020204030204" pitchFamily="34" charset="0"/>
                <a:ea typeface="Calibri" panose="020F0502020204030204" pitchFamily="34" charset="0"/>
                <a:cs typeface="Times New Roman" panose="02020603050405020304" pitchFamily="18" charset="0"/>
              </a:rPr>
              <a:t>Séparation en jeux train et test</a:t>
            </a:r>
            <a:endParaRPr lang="fr-FR" sz="1300" i="1" dirty="0">
              <a:solidFill>
                <a:srgbClr val="44546A"/>
              </a:solidFill>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6" name="Image 5">
            <a:extLst>
              <a:ext uri="{FF2B5EF4-FFF2-40B4-BE49-F238E27FC236}">
                <a16:creationId xmlns:a16="http://schemas.microsoft.com/office/drawing/2014/main" id="{328EBC57-5057-BF17-666B-2DD6284C3338}"/>
              </a:ext>
            </a:extLst>
          </p:cNvPr>
          <p:cNvPicPr>
            <a:picLocks noChangeAspect="1"/>
          </p:cNvPicPr>
          <p:nvPr/>
        </p:nvPicPr>
        <p:blipFill>
          <a:blip r:embed="rId5"/>
          <a:stretch>
            <a:fillRect/>
          </a:stretch>
        </p:blipFill>
        <p:spPr>
          <a:xfrm>
            <a:off x="295999" y="3025656"/>
            <a:ext cx="10423222" cy="435184"/>
          </a:xfrm>
          <a:prstGeom prst="rect">
            <a:avLst/>
          </a:prstGeom>
        </p:spPr>
      </p:pic>
    </p:spTree>
    <p:extLst>
      <p:ext uri="{BB962C8B-B14F-4D97-AF65-F5344CB8AC3E}">
        <p14:creationId xmlns:p14="http://schemas.microsoft.com/office/powerpoint/2010/main" val="107524196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6B409ECA-B691-5B1C-5CCA-878C261674CB}"/>
              </a:ext>
            </a:extLst>
          </p:cNvPr>
          <p:cNvSpPr>
            <a:spLocks noGrp="1"/>
          </p:cNvSpPr>
          <p:nvPr>
            <p:ph idx="1"/>
          </p:nvPr>
        </p:nvSpPr>
        <p:spPr>
          <a:xfrm>
            <a:off x="200574" y="178227"/>
            <a:ext cx="11695427" cy="6563395"/>
          </a:xfrm>
        </p:spPr>
        <p:txBody>
          <a:bodyPr/>
          <a:lstStyle/>
          <a:p>
            <a:pPr marL="0" indent="0">
              <a:buNone/>
            </a:pPr>
            <a:r>
              <a:rPr lang="fr-FR" sz="2300" dirty="0"/>
              <a:t>- Entraînement des modèles</a:t>
            </a:r>
          </a:p>
          <a:p>
            <a:pPr marL="0" indent="0">
              <a:buNone/>
            </a:pPr>
            <a:endParaRPr lang="fr-FR" dirty="0"/>
          </a:p>
        </p:txBody>
      </p:sp>
      <p:pic>
        <p:nvPicPr>
          <p:cNvPr id="9" name="Image 8"/>
          <p:cNvPicPr>
            <a:picLocks noChangeAspect="1"/>
          </p:cNvPicPr>
          <p:nvPr/>
        </p:nvPicPr>
        <p:blipFill>
          <a:blip r:embed="rId3"/>
          <a:stretch>
            <a:fillRect/>
          </a:stretch>
        </p:blipFill>
        <p:spPr>
          <a:xfrm>
            <a:off x="362036" y="648912"/>
            <a:ext cx="5915025" cy="1885950"/>
          </a:xfrm>
          <a:prstGeom prst="rect">
            <a:avLst/>
          </a:prstGeom>
        </p:spPr>
      </p:pic>
      <p:pic>
        <p:nvPicPr>
          <p:cNvPr id="10" name="Image 9"/>
          <p:cNvPicPr>
            <a:picLocks noChangeAspect="1"/>
          </p:cNvPicPr>
          <p:nvPr/>
        </p:nvPicPr>
        <p:blipFill>
          <a:blip r:embed="rId4"/>
          <a:stretch>
            <a:fillRect/>
          </a:stretch>
        </p:blipFill>
        <p:spPr>
          <a:xfrm>
            <a:off x="362036" y="2938462"/>
            <a:ext cx="6915150" cy="3067050"/>
          </a:xfrm>
          <a:prstGeom prst="rect">
            <a:avLst/>
          </a:prstGeom>
        </p:spPr>
      </p:pic>
      <p:sp>
        <p:nvSpPr>
          <p:cNvPr id="2" name="Espace réservé du numéro de diapositive 1">
            <a:extLst>
              <a:ext uri="{FF2B5EF4-FFF2-40B4-BE49-F238E27FC236}">
                <a16:creationId xmlns:a16="http://schemas.microsoft.com/office/drawing/2014/main" id="{0695626C-D20B-F8CF-CA9E-BBF6DAFF5B86}"/>
              </a:ext>
            </a:extLst>
          </p:cNvPr>
          <p:cNvSpPr>
            <a:spLocks noGrp="1"/>
          </p:cNvSpPr>
          <p:nvPr>
            <p:ph type="sldNum" sz="quarter" idx="12"/>
          </p:nvPr>
        </p:nvSpPr>
        <p:spPr/>
        <p:txBody>
          <a:bodyPr/>
          <a:lstStyle/>
          <a:p>
            <a:fld id="{BA06AB71-0B36-4B80-B991-039F7D68F8CB}" type="slidenum">
              <a:rPr lang="fr-FR" smtClean="0"/>
              <a:t>23</a:t>
            </a:fld>
            <a:endParaRPr lang="fr-FR"/>
          </a:p>
        </p:txBody>
      </p:sp>
      <p:sp>
        <p:nvSpPr>
          <p:cNvPr id="4" name="ZoneTexte 3">
            <a:extLst>
              <a:ext uri="{FF2B5EF4-FFF2-40B4-BE49-F238E27FC236}">
                <a16:creationId xmlns:a16="http://schemas.microsoft.com/office/drawing/2014/main" id="{7FE85FA9-88D6-4512-61DD-12125AEFF9F2}"/>
              </a:ext>
            </a:extLst>
          </p:cNvPr>
          <p:cNvSpPr txBox="1"/>
          <p:nvPr/>
        </p:nvSpPr>
        <p:spPr>
          <a:xfrm>
            <a:off x="6503405" y="1445693"/>
            <a:ext cx="5431781" cy="292388"/>
          </a:xfrm>
          <a:prstGeom prst="rect">
            <a:avLst/>
          </a:prstGeom>
          <a:noFill/>
        </p:spPr>
        <p:txBody>
          <a:bodyPr wrap="square" rtlCol="0">
            <a:spAutoFit/>
          </a:bodyPr>
          <a:lstStyle/>
          <a:p>
            <a:pPr>
              <a:spcAft>
                <a:spcPts val="1000"/>
              </a:spcAft>
            </a:pPr>
            <a:r>
              <a:rPr lang="fr-FR" sz="1300" i="1" dirty="0">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Figure 20 : </a:t>
            </a:r>
            <a:r>
              <a:rPr lang="fr-FR" sz="1300" i="1" dirty="0">
                <a:solidFill>
                  <a:srgbClr val="44546A"/>
                </a:solidFill>
                <a:latin typeface="Calibri" panose="020F0502020204030204" pitchFamily="34" charset="0"/>
                <a:ea typeface="Calibri" panose="020F0502020204030204" pitchFamily="34" charset="0"/>
                <a:cs typeface="Times New Roman" panose="02020603050405020304" pitchFamily="18" charset="0"/>
              </a:rPr>
              <a:t>Définition du dictionnaire de modèles</a:t>
            </a:r>
            <a:endParaRPr lang="fr-FR" sz="1300" i="1" dirty="0">
              <a:solidFill>
                <a:srgbClr val="44546A"/>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 name="ZoneTexte 4">
            <a:extLst>
              <a:ext uri="{FF2B5EF4-FFF2-40B4-BE49-F238E27FC236}">
                <a16:creationId xmlns:a16="http://schemas.microsoft.com/office/drawing/2014/main" id="{BA518F3C-8F1A-FADB-6672-0F5BB3140DFB}"/>
              </a:ext>
            </a:extLst>
          </p:cNvPr>
          <p:cNvSpPr txBox="1"/>
          <p:nvPr/>
        </p:nvSpPr>
        <p:spPr>
          <a:xfrm>
            <a:off x="7528005" y="4325793"/>
            <a:ext cx="5431781" cy="292388"/>
          </a:xfrm>
          <a:prstGeom prst="rect">
            <a:avLst/>
          </a:prstGeom>
          <a:noFill/>
        </p:spPr>
        <p:txBody>
          <a:bodyPr wrap="square" rtlCol="0">
            <a:spAutoFit/>
          </a:bodyPr>
          <a:lstStyle/>
          <a:p>
            <a:pPr>
              <a:spcAft>
                <a:spcPts val="1000"/>
              </a:spcAft>
            </a:pPr>
            <a:r>
              <a:rPr lang="fr-FR" sz="1300" i="1" dirty="0">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Figure </a:t>
            </a:r>
            <a:r>
              <a:rPr lang="fr-FR" sz="1300" i="1" dirty="0">
                <a:solidFill>
                  <a:srgbClr val="44546A"/>
                </a:solidFill>
                <a:latin typeface="Calibri" panose="020F0502020204030204" pitchFamily="34" charset="0"/>
                <a:ea typeface="Calibri" panose="020F0502020204030204" pitchFamily="34" charset="0"/>
                <a:cs typeface="Times New Roman" panose="02020603050405020304" pitchFamily="18" charset="0"/>
              </a:rPr>
              <a:t>21</a:t>
            </a:r>
            <a:r>
              <a:rPr lang="fr-FR" sz="1300" i="1" dirty="0">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 : </a:t>
            </a:r>
            <a:r>
              <a:rPr lang="fr-FR" sz="1300" i="1" dirty="0">
                <a:solidFill>
                  <a:srgbClr val="44546A"/>
                </a:solidFill>
                <a:latin typeface="Calibri" panose="020F0502020204030204" pitchFamily="34" charset="0"/>
                <a:ea typeface="Calibri" panose="020F0502020204030204" pitchFamily="34" charset="0"/>
                <a:cs typeface="Times New Roman" panose="02020603050405020304" pitchFamily="18" charset="0"/>
              </a:rPr>
              <a:t>Cellule d'entraînement</a:t>
            </a:r>
            <a:endParaRPr lang="fr-FR" sz="1300" i="1" dirty="0">
              <a:solidFill>
                <a:srgbClr val="44546A"/>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6" name="Rectangle 5">
            <a:extLst>
              <a:ext uri="{FF2B5EF4-FFF2-40B4-BE49-F238E27FC236}">
                <a16:creationId xmlns:a16="http://schemas.microsoft.com/office/drawing/2014/main" id="{F41BBC5A-3C5B-A801-096B-19B5705C3457}"/>
              </a:ext>
            </a:extLst>
          </p:cNvPr>
          <p:cNvSpPr/>
          <p:nvPr/>
        </p:nvSpPr>
        <p:spPr>
          <a:xfrm>
            <a:off x="11346581" y="247654"/>
            <a:ext cx="648929" cy="294968"/>
          </a:xfrm>
          <a:prstGeom prst="rect">
            <a:avLst/>
          </a:prstGeom>
          <a:solidFill>
            <a:srgbClr val="FFC000"/>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400" dirty="0">
                <a:solidFill>
                  <a:schemeClr val="tx1"/>
                </a:solidFill>
              </a:rPr>
              <a:t>C6</a:t>
            </a:r>
          </a:p>
        </p:txBody>
      </p:sp>
    </p:spTree>
    <p:extLst>
      <p:ext uri="{BB962C8B-B14F-4D97-AF65-F5344CB8AC3E}">
        <p14:creationId xmlns:p14="http://schemas.microsoft.com/office/powerpoint/2010/main" val="397479066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6B409ECA-B691-5B1C-5CCA-878C261674CB}"/>
              </a:ext>
            </a:extLst>
          </p:cNvPr>
          <p:cNvSpPr>
            <a:spLocks noGrp="1"/>
          </p:cNvSpPr>
          <p:nvPr>
            <p:ph idx="1"/>
          </p:nvPr>
        </p:nvSpPr>
        <p:spPr>
          <a:xfrm>
            <a:off x="200574" y="178227"/>
            <a:ext cx="11695427" cy="6563395"/>
          </a:xfrm>
        </p:spPr>
        <p:txBody>
          <a:bodyPr/>
          <a:lstStyle/>
          <a:p>
            <a:pPr marL="0" indent="0">
              <a:buNone/>
            </a:pPr>
            <a:r>
              <a:rPr lang="fr-FR" sz="2300" dirty="0"/>
              <a:t>- Affichage des résultats</a:t>
            </a:r>
          </a:p>
          <a:p>
            <a:pPr marL="0" indent="0">
              <a:buNone/>
            </a:pPr>
            <a:endParaRPr lang="fr-FR" sz="2300" dirty="0"/>
          </a:p>
          <a:p>
            <a:pPr marL="0" indent="0">
              <a:buNone/>
            </a:pPr>
            <a:endParaRPr lang="fr-FR" sz="2300" dirty="0"/>
          </a:p>
          <a:p>
            <a:pPr marL="0" indent="0">
              <a:buNone/>
            </a:pPr>
            <a:endParaRPr lang="fr-FR" sz="2300" dirty="0"/>
          </a:p>
          <a:p>
            <a:pPr marL="0" indent="0">
              <a:buNone/>
            </a:pPr>
            <a:endParaRPr lang="fr-FR" sz="2300" dirty="0"/>
          </a:p>
          <a:p>
            <a:pPr>
              <a:buFontTx/>
              <a:buChar char="-"/>
            </a:pPr>
            <a:r>
              <a:rPr lang="fr-FR" sz="2300" dirty="0"/>
              <a:t>Enregistrement du meilleur pipeline</a:t>
            </a:r>
          </a:p>
          <a:p>
            <a:pPr>
              <a:buFontTx/>
              <a:buChar char="-"/>
            </a:pPr>
            <a:endParaRPr lang="fr-FR" sz="2300" dirty="0"/>
          </a:p>
          <a:p>
            <a:pPr>
              <a:buFontTx/>
              <a:buChar char="-"/>
            </a:pPr>
            <a:endParaRPr lang="fr-FR" sz="2300" dirty="0"/>
          </a:p>
          <a:p>
            <a:pPr>
              <a:buFontTx/>
              <a:buChar char="-"/>
            </a:pPr>
            <a:r>
              <a:rPr lang="fr-FR" sz="2300" dirty="0"/>
              <a:t>Test du pipeline</a:t>
            </a:r>
          </a:p>
          <a:p>
            <a:pPr marL="0" indent="0">
              <a:buNone/>
            </a:pPr>
            <a:endParaRPr lang="fr-FR" dirty="0"/>
          </a:p>
        </p:txBody>
      </p:sp>
      <p:pic>
        <p:nvPicPr>
          <p:cNvPr id="2" name="Image 1"/>
          <p:cNvPicPr>
            <a:picLocks noChangeAspect="1"/>
          </p:cNvPicPr>
          <p:nvPr/>
        </p:nvPicPr>
        <p:blipFill>
          <a:blip r:embed="rId3"/>
          <a:stretch>
            <a:fillRect/>
          </a:stretch>
        </p:blipFill>
        <p:spPr>
          <a:xfrm>
            <a:off x="154706" y="643968"/>
            <a:ext cx="11741295" cy="1253131"/>
          </a:xfrm>
          <a:prstGeom prst="rect">
            <a:avLst/>
          </a:prstGeom>
        </p:spPr>
      </p:pic>
      <p:pic>
        <p:nvPicPr>
          <p:cNvPr id="4" name="Image 3"/>
          <p:cNvPicPr>
            <a:picLocks noChangeAspect="1"/>
          </p:cNvPicPr>
          <p:nvPr/>
        </p:nvPicPr>
        <p:blipFill>
          <a:blip r:embed="rId4"/>
          <a:stretch>
            <a:fillRect/>
          </a:stretch>
        </p:blipFill>
        <p:spPr>
          <a:xfrm>
            <a:off x="200574" y="2891831"/>
            <a:ext cx="7562850" cy="333375"/>
          </a:xfrm>
          <a:prstGeom prst="rect">
            <a:avLst/>
          </a:prstGeom>
        </p:spPr>
      </p:pic>
      <p:sp>
        <p:nvSpPr>
          <p:cNvPr id="5" name="Espace réservé du numéro de diapositive 4">
            <a:extLst>
              <a:ext uri="{FF2B5EF4-FFF2-40B4-BE49-F238E27FC236}">
                <a16:creationId xmlns:a16="http://schemas.microsoft.com/office/drawing/2014/main" id="{9BE1398E-0022-1DE4-38CF-7379D9288645}"/>
              </a:ext>
            </a:extLst>
          </p:cNvPr>
          <p:cNvSpPr>
            <a:spLocks noGrp="1"/>
          </p:cNvSpPr>
          <p:nvPr>
            <p:ph type="sldNum" sz="quarter" idx="12"/>
          </p:nvPr>
        </p:nvSpPr>
        <p:spPr/>
        <p:txBody>
          <a:bodyPr/>
          <a:lstStyle/>
          <a:p>
            <a:fld id="{BA06AB71-0B36-4B80-B991-039F7D68F8CB}" type="slidenum">
              <a:rPr lang="fr-FR" smtClean="0"/>
              <a:t>24</a:t>
            </a:fld>
            <a:endParaRPr lang="fr-FR"/>
          </a:p>
        </p:txBody>
      </p:sp>
      <p:sp>
        <p:nvSpPr>
          <p:cNvPr id="6" name="ZoneTexte 5">
            <a:extLst>
              <a:ext uri="{FF2B5EF4-FFF2-40B4-BE49-F238E27FC236}">
                <a16:creationId xmlns:a16="http://schemas.microsoft.com/office/drawing/2014/main" id="{F533E3E0-D2AF-FFB2-94A6-EFA18EBD41E7}"/>
              </a:ext>
            </a:extLst>
          </p:cNvPr>
          <p:cNvSpPr txBox="1"/>
          <p:nvPr/>
        </p:nvSpPr>
        <p:spPr>
          <a:xfrm>
            <a:off x="154706" y="2032786"/>
            <a:ext cx="5431781" cy="292388"/>
          </a:xfrm>
          <a:prstGeom prst="rect">
            <a:avLst/>
          </a:prstGeom>
          <a:noFill/>
        </p:spPr>
        <p:txBody>
          <a:bodyPr wrap="square" rtlCol="0">
            <a:spAutoFit/>
          </a:bodyPr>
          <a:lstStyle/>
          <a:p>
            <a:pPr>
              <a:spcAft>
                <a:spcPts val="1000"/>
              </a:spcAft>
            </a:pPr>
            <a:r>
              <a:rPr lang="fr-FR" sz="1300" i="1" dirty="0">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Figure </a:t>
            </a:r>
            <a:r>
              <a:rPr lang="fr-FR" sz="1300" i="1" dirty="0">
                <a:solidFill>
                  <a:srgbClr val="44546A"/>
                </a:solidFill>
                <a:latin typeface="Calibri" panose="020F0502020204030204" pitchFamily="34" charset="0"/>
                <a:ea typeface="Calibri" panose="020F0502020204030204" pitchFamily="34" charset="0"/>
                <a:cs typeface="Times New Roman" panose="02020603050405020304" pitchFamily="18" charset="0"/>
              </a:rPr>
              <a:t>22</a:t>
            </a:r>
            <a:r>
              <a:rPr lang="fr-FR" sz="1300" i="1" dirty="0">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 : Résultats</a:t>
            </a:r>
          </a:p>
        </p:txBody>
      </p:sp>
      <p:sp>
        <p:nvSpPr>
          <p:cNvPr id="7" name="ZoneTexte 6">
            <a:extLst>
              <a:ext uri="{FF2B5EF4-FFF2-40B4-BE49-F238E27FC236}">
                <a16:creationId xmlns:a16="http://schemas.microsoft.com/office/drawing/2014/main" id="{9AACD983-966E-0E5D-4175-BCEDA8C5F5FC}"/>
              </a:ext>
            </a:extLst>
          </p:cNvPr>
          <p:cNvSpPr txBox="1"/>
          <p:nvPr/>
        </p:nvSpPr>
        <p:spPr>
          <a:xfrm>
            <a:off x="154705" y="3313730"/>
            <a:ext cx="5431781" cy="292388"/>
          </a:xfrm>
          <a:prstGeom prst="rect">
            <a:avLst/>
          </a:prstGeom>
          <a:noFill/>
        </p:spPr>
        <p:txBody>
          <a:bodyPr wrap="square" rtlCol="0">
            <a:spAutoFit/>
          </a:bodyPr>
          <a:lstStyle/>
          <a:p>
            <a:pPr>
              <a:spcAft>
                <a:spcPts val="1000"/>
              </a:spcAft>
            </a:pPr>
            <a:r>
              <a:rPr lang="fr-FR" sz="1300" i="1" dirty="0">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Figure </a:t>
            </a:r>
            <a:r>
              <a:rPr lang="fr-FR" sz="1300" i="1" dirty="0">
                <a:solidFill>
                  <a:srgbClr val="44546A"/>
                </a:solidFill>
                <a:latin typeface="Calibri" panose="020F0502020204030204" pitchFamily="34" charset="0"/>
                <a:ea typeface="Calibri" panose="020F0502020204030204" pitchFamily="34" charset="0"/>
                <a:cs typeface="Times New Roman" panose="02020603050405020304" pitchFamily="18" charset="0"/>
              </a:rPr>
              <a:t>23</a:t>
            </a:r>
            <a:r>
              <a:rPr lang="fr-FR" sz="1300" i="1" dirty="0">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 : Sauvegarde</a:t>
            </a:r>
          </a:p>
        </p:txBody>
      </p:sp>
      <p:pic>
        <p:nvPicPr>
          <p:cNvPr id="9" name="Image 8">
            <a:extLst>
              <a:ext uri="{FF2B5EF4-FFF2-40B4-BE49-F238E27FC236}">
                <a16:creationId xmlns:a16="http://schemas.microsoft.com/office/drawing/2014/main" id="{2BB564FE-7BAA-FEC2-D094-6A103ABF5AF5}"/>
              </a:ext>
            </a:extLst>
          </p:cNvPr>
          <p:cNvPicPr>
            <a:picLocks noChangeAspect="1"/>
          </p:cNvPicPr>
          <p:nvPr/>
        </p:nvPicPr>
        <p:blipFill>
          <a:blip r:embed="rId5"/>
          <a:stretch>
            <a:fillRect/>
          </a:stretch>
        </p:blipFill>
        <p:spPr>
          <a:xfrm>
            <a:off x="200573" y="4150809"/>
            <a:ext cx="7844183" cy="2528964"/>
          </a:xfrm>
          <a:prstGeom prst="rect">
            <a:avLst/>
          </a:prstGeom>
        </p:spPr>
      </p:pic>
      <p:sp>
        <p:nvSpPr>
          <p:cNvPr id="10" name="ZoneTexte 9">
            <a:extLst>
              <a:ext uri="{FF2B5EF4-FFF2-40B4-BE49-F238E27FC236}">
                <a16:creationId xmlns:a16="http://schemas.microsoft.com/office/drawing/2014/main" id="{643998BD-C7CA-CE2C-ECDD-219BBF85C1EF}"/>
              </a:ext>
            </a:extLst>
          </p:cNvPr>
          <p:cNvSpPr txBox="1"/>
          <p:nvPr/>
        </p:nvSpPr>
        <p:spPr>
          <a:xfrm>
            <a:off x="8224187" y="5122903"/>
            <a:ext cx="5431781" cy="292388"/>
          </a:xfrm>
          <a:prstGeom prst="rect">
            <a:avLst/>
          </a:prstGeom>
          <a:noFill/>
        </p:spPr>
        <p:txBody>
          <a:bodyPr wrap="square" rtlCol="0">
            <a:spAutoFit/>
          </a:bodyPr>
          <a:lstStyle/>
          <a:p>
            <a:pPr>
              <a:spcAft>
                <a:spcPts val="1000"/>
              </a:spcAft>
            </a:pPr>
            <a:r>
              <a:rPr lang="fr-FR" sz="1300" i="1" dirty="0">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Figure </a:t>
            </a:r>
            <a:r>
              <a:rPr lang="fr-FR" sz="1300" i="1" dirty="0">
                <a:solidFill>
                  <a:srgbClr val="44546A"/>
                </a:solidFill>
                <a:latin typeface="Calibri" panose="020F0502020204030204" pitchFamily="34" charset="0"/>
                <a:ea typeface="Calibri" panose="020F0502020204030204" pitchFamily="34" charset="0"/>
                <a:cs typeface="Times New Roman" panose="02020603050405020304" pitchFamily="18" charset="0"/>
              </a:rPr>
              <a:t>24</a:t>
            </a:r>
            <a:r>
              <a:rPr lang="fr-FR" sz="1300" i="1" dirty="0">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 : Test de prédiction</a:t>
            </a:r>
          </a:p>
        </p:txBody>
      </p:sp>
    </p:spTree>
    <p:extLst>
      <p:ext uri="{BB962C8B-B14F-4D97-AF65-F5344CB8AC3E}">
        <p14:creationId xmlns:p14="http://schemas.microsoft.com/office/powerpoint/2010/main" val="367529998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6B409ECA-B691-5B1C-5CCA-878C261674CB}"/>
              </a:ext>
            </a:extLst>
          </p:cNvPr>
          <p:cNvSpPr>
            <a:spLocks noGrp="1"/>
          </p:cNvSpPr>
          <p:nvPr>
            <p:ph idx="1"/>
          </p:nvPr>
        </p:nvSpPr>
        <p:spPr>
          <a:xfrm>
            <a:off x="6744938" y="1428576"/>
            <a:ext cx="5847714" cy="6563395"/>
          </a:xfrm>
        </p:spPr>
        <p:txBody>
          <a:bodyPr>
            <a:normAutofit/>
          </a:bodyPr>
          <a:lstStyle/>
          <a:p>
            <a:pPr marL="0" indent="0">
              <a:buNone/>
            </a:pPr>
            <a:r>
              <a:rPr lang="fr-FR" sz="2300" dirty="0"/>
              <a:t>Précision = vrais positifs / </a:t>
            </a:r>
          </a:p>
          <a:p>
            <a:pPr marL="0" indent="0">
              <a:buNone/>
            </a:pPr>
            <a:r>
              <a:rPr lang="fr-FR" sz="2300" dirty="0"/>
              <a:t>(vrais positifs + faux positifs)</a:t>
            </a:r>
          </a:p>
          <a:p>
            <a:pPr marL="0" indent="0">
              <a:buNone/>
            </a:pPr>
            <a:endParaRPr lang="fr-FR" sz="2300" dirty="0"/>
          </a:p>
          <a:p>
            <a:pPr marL="0" indent="0">
              <a:buNone/>
            </a:pPr>
            <a:r>
              <a:rPr lang="fr-FR" sz="2300" dirty="0" err="1"/>
              <a:t>Recall</a:t>
            </a:r>
            <a:r>
              <a:rPr lang="fr-FR" sz="2300" dirty="0"/>
              <a:t> = vrais positifs / </a:t>
            </a:r>
          </a:p>
          <a:p>
            <a:pPr marL="0" indent="0">
              <a:buNone/>
            </a:pPr>
            <a:r>
              <a:rPr lang="fr-FR" sz="2300" dirty="0"/>
              <a:t>(vrais positifs + faux négatifs)</a:t>
            </a:r>
          </a:p>
        </p:txBody>
      </p:sp>
      <p:sp>
        <p:nvSpPr>
          <p:cNvPr id="5" name="Espace réservé du numéro de diapositive 4">
            <a:extLst>
              <a:ext uri="{FF2B5EF4-FFF2-40B4-BE49-F238E27FC236}">
                <a16:creationId xmlns:a16="http://schemas.microsoft.com/office/drawing/2014/main" id="{9BE1398E-0022-1DE4-38CF-7379D9288645}"/>
              </a:ext>
            </a:extLst>
          </p:cNvPr>
          <p:cNvSpPr>
            <a:spLocks noGrp="1"/>
          </p:cNvSpPr>
          <p:nvPr>
            <p:ph type="sldNum" sz="quarter" idx="12"/>
          </p:nvPr>
        </p:nvSpPr>
        <p:spPr/>
        <p:txBody>
          <a:bodyPr/>
          <a:lstStyle/>
          <a:p>
            <a:fld id="{BA06AB71-0B36-4B80-B991-039F7D68F8CB}" type="slidenum">
              <a:rPr lang="fr-FR" smtClean="0"/>
              <a:t>25</a:t>
            </a:fld>
            <a:endParaRPr lang="fr-FR"/>
          </a:p>
        </p:txBody>
      </p:sp>
      <p:sp>
        <p:nvSpPr>
          <p:cNvPr id="7" name="ZoneTexte 6">
            <a:extLst>
              <a:ext uri="{FF2B5EF4-FFF2-40B4-BE49-F238E27FC236}">
                <a16:creationId xmlns:a16="http://schemas.microsoft.com/office/drawing/2014/main" id="{9AACD983-966E-0E5D-4175-BCEDA8C5F5FC}"/>
              </a:ext>
            </a:extLst>
          </p:cNvPr>
          <p:cNvSpPr txBox="1"/>
          <p:nvPr/>
        </p:nvSpPr>
        <p:spPr>
          <a:xfrm>
            <a:off x="664219" y="5356955"/>
            <a:ext cx="5431781" cy="292388"/>
          </a:xfrm>
          <a:prstGeom prst="rect">
            <a:avLst/>
          </a:prstGeom>
          <a:noFill/>
        </p:spPr>
        <p:txBody>
          <a:bodyPr wrap="square" rtlCol="0">
            <a:spAutoFit/>
          </a:bodyPr>
          <a:lstStyle/>
          <a:p>
            <a:pPr>
              <a:spcAft>
                <a:spcPts val="1000"/>
              </a:spcAft>
            </a:pPr>
            <a:r>
              <a:rPr lang="fr-FR" sz="1300" i="1" dirty="0">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Figure </a:t>
            </a:r>
            <a:r>
              <a:rPr lang="fr-FR" sz="1300" i="1" dirty="0">
                <a:solidFill>
                  <a:srgbClr val="44546A"/>
                </a:solidFill>
                <a:latin typeface="Calibri" panose="020F0502020204030204" pitchFamily="34" charset="0"/>
                <a:ea typeface="Calibri" panose="020F0502020204030204" pitchFamily="34" charset="0"/>
                <a:cs typeface="Times New Roman" panose="02020603050405020304" pitchFamily="18" charset="0"/>
              </a:rPr>
              <a:t>25</a:t>
            </a:r>
            <a:r>
              <a:rPr lang="fr-FR" sz="1300" i="1" dirty="0">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 : Matrice de confusion</a:t>
            </a:r>
          </a:p>
        </p:txBody>
      </p:sp>
      <p:pic>
        <p:nvPicPr>
          <p:cNvPr id="11" name="Image 10">
            <a:extLst>
              <a:ext uri="{FF2B5EF4-FFF2-40B4-BE49-F238E27FC236}">
                <a16:creationId xmlns:a16="http://schemas.microsoft.com/office/drawing/2014/main" id="{56552452-B7EB-C284-3A5D-473DE86A02E6}"/>
              </a:ext>
            </a:extLst>
          </p:cNvPr>
          <p:cNvPicPr>
            <a:picLocks noChangeAspect="1"/>
          </p:cNvPicPr>
          <p:nvPr/>
        </p:nvPicPr>
        <p:blipFill>
          <a:blip r:embed="rId3"/>
          <a:stretch>
            <a:fillRect/>
          </a:stretch>
        </p:blipFill>
        <p:spPr>
          <a:xfrm>
            <a:off x="755869" y="1208657"/>
            <a:ext cx="4892464" cy="4000847"/>
          </a:xfrm>
          <a:prstGeom prst="rect">
            <a:avLst/>
          </a:prstGeom>
        </p:spPr>
      </p:pic>
    </p:spTree>
    <p:extLst>
      <p:ext uri="{BB962C8B-B14F-4D97-AF65-F5344CB8AC3E}">
        <p14:creationId xmlns:p14="http://schemas.microsoft.com/office/powerpoint/2010/main" val="361479798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6B409ECA-B691-5B1C-5CCA-878C261674CB}"/>
              </a:ext>
            </a:extLst>
          </p:cNvPr>
          <p:cNvSpPr>
            <a:spLocks noGrp="1"/>
          </p:cNvSpPr>
          <p:nvPr>
            <p:ph idx="1"/>
          </p:nvPr>
        </p:nvSpPr>
        <p:spPr>
          <a:xfrm>
            <a:off x="87562" y="1296365"/>
            <a:ext cx="11695427" cy="4484559"/>
          </a:xfrm>
        </p:spPr>
        <p:txBody>
          <a:bodyPr/>
          <a:lstStyle/>
          <a:p>
            <a:pPr marL="0" indent="0">
              <a:buNone/>
            </a:pPr>
            <a:r>
              <a:rPr lang="fr-FR" sz="2500" u="sng" dirty="0"/>
              <a:t>4.1 Analyse du besoin fonctionnel côté </a:t>
            </a:r>
            <a:r>
              <a:rPr lang="fr-FR" sz="2500" u="sng" dirty="0" err="1"/>
              <a:t>back-end</a:t>
            </a:r>
            <a:endParaRPr lang="fr-FR" sz="2500" u="sng" dirty="0"/>
          </a:p>
          <a:p>
            <a:pPr marL="0" indent="0">
              <a:buNone/>
            </a:pPr>
            <a:endParaRPr lang="fr-FR" dirty="0"/>
          </a:p>
        </p:txBody>
      </p:sp>
      <p:sp>
        <p:nvSpPr>
          <p:cNvPr id="5" name="Espace réservé du numéro de diapositive 4">
            <a:extLst>
              <a:ext uri="{FF2B5EF4-FFF2-40B4-BE49-F238E27FC236}">
                <a16:creationId xmlns:a16="http://schemas.microsoft.com/office/drawing/2014/main" id="{9BE1398E-0022-1DE4-38CF-7379D9288645}"/>
              </a:ext>
            </a:extLst>
          </p:cNvPr>
          <p:cNvSpPr>
            <a:spLocks noGrp="1"/>
          </p:cNvSpPr>
          <p:nvPr>
            <p:ph type="sldNum" sz="quarter" idx="12"/>
          </p:nvPr>
        </p:nvSpPr>
        <p:spPr/>
        <p:txBody>
          <a:bodyPr/>
          <a:lstStyle/>
          <a:p>
            <a:fld id="{BA06AB71-0B36-4B80-B991-039F7D68F8CB}" type="slidenum">
              <a:rPr lang="fr-FR" smtClean="0"/>
              <a:t>26</a:t>
            </a:fld>
            <a:endParaRPr lang="fr-FR"/>
          </a:p>
        </p:txBody>
      </p:sp>
      <p:sp>
        <p:nvSpPr>
          <p:cNvPr id="8" name="Titre 1">
            <a:extLst>
              <a:ext uri="{FF2B5EF4-FFF2-40B4-BE49-F238E27FC236}">
                <a16:creationId xmlns:a16="http://schemas.microsoft.com/office/drawing/2014/main" id="{FF682C41-B17E-1D86-F2F2-F06B7FF08134}"/>
              </a:ext>
            </a:extLst>
          </p:cNvPr>
          <p:cNvSpPr>
            <a:spLocks noGrp="1"/>
          </p:cNvSpPr>
          <p:nvPr>
            <p:ph type="title"/>
          </p:nvPr>
        </p:nvSpPr>
        <p:spPr>
          <a:xfrm>
            <a:off x="87562" y="178227"/>
            <a:ext cx="11495923" cy="844952"/>
          </a:xfrm>
        </p:spPr>
        <p:txBody>
          <a:bodyPr>
            <a:normAutofit/>
          </a:bodyPr>
          <a:lstStyle/>
          <a:p>
            <a:r>
              <a:rPr lang="fr-FR" dirty="0"/>
              <a:t>4. </a:t>
            </a:r>
            <a:r>
              <a:rPr lang="fr-FR" sz="4400" dirty="0"/>
              <a:t>Développement de l’application</a:t>
            </a:r>
            <a:endParaRPr lang="fr-FR" dirty="0"/>
          </a:p>
        </p:txBody>
      </p:sp>
      <p:sp>
        <p:nvSpPr>
          <p:cNvPr id="10" name="ZoneTexte 9">
            <a:extLst>
              <a:ext uri="{FF2B5EF4-FFF2-40B4-BE49-F238E27FC236}">
                <a16:creationId xmlns:a16="http://schemas.microsoft.com/office/drawing/2014/main" id="{02B291DA-FA4C-32F7-6602-2322ED065CA0}"/>
              </a:ext>
            </a:extLst>
          </p:cNvPr>
          <p:cNvSpPr txBox="1"/>
          <p:nvPr/>
        </p:nvSpPr>
        <p:spPr>
          <a:xfrm>
            <a:off x="664219" y="6296721"/>
            <a:ext cx="5431781" cy="292388"/>
          </a:xfrm>
          <a:prstGeom prst="rect">
            <a:avLst/>
          </a:prstGeom>
          <a:noFill/>
        </p:spPr>
        <p:txBody>
          <a:bodyPr wrap="square" rtlCol="0">
            <a:spAutoFit/>
          </a:bodyPr>
          <a:lstStyle/>
          <a:p>
            <a:pPr>
              <a:spcAft>
                <a:spcPts val="1000"/>
              </a:spcAft>
            </a:pPr>
            <a:r>
              <a:rPr lang="fr-FR" sz="1300" i="1" dirty="0">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Figure 26 : </a:t>
            </a:r>
            <a:r>
              <a:rPr lang="fr-FR" sz="1300" i="1" dirty="0">
                <a:solidFill>
                  <a:srgbClr val="44546A"/>
                </a:solidFill>
                <a:latin typeface="Calibri" panose="020F0502020204030204" pitchFamily="34" charset="0"/>
                <a:ea typeface="Calibri" panose="020F0502020204030204" pitchFamily="34" charset="0"/>
                <a:cs typeface="Times New Roman" panose="02020603050405020304" pitchFamily="18" charset="0"/>
              </a:rPr>
              <a:t>F</a:t>
            </a:r>
            <a:r>
              <a:rPr lang="fr-FR" sz="1300" i="1" dirty="0">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ormalisation des fonctionnalités de l'application</a:t>
            </a:r>
          </a:p>
        </p:txBody>
      </p:sp>
      <p:pic>
        <p:nvPicPr>
          <p:cNvPr id="4" name="Image 3">
            <a:extLst>
              <a:ext uri="{FF2B5EF4-FFF2-40B4-BE49-F238E27FC236}">
                <a16:creationId xmlns:a16="http://schemas.microsoft.com/office/drawing/2014/main" id="{B58CD4A5-B837-25AA-2877-33D20C33A28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4219" y="2036559"/>
            <a:ext cx="9495570" cy="4032078"/>
          </a:xfrm>
          <a:prstGeom prst="rect">
            <a:avLst/>
          </a:prstGeom>
        </p:spPr>
      </p:pic>
      <p:sp>
        <p:nvSpPr>
          <p:cNvPr id="2" name="Rectangle 1">
            <a:extLst>
              <a:ext uri="{FF2B5EF4-FFF2-40B4-BE49-F238E27FC236}">
                <a16:creationId xmlns:a16="http://schemas.microsoft.com/office/drawing/2014/main" id="{DB482D99-764B-DAD2-5065-CEC5D5B9571D}"/>
              </a:ext>
            </a:extLst>
          </p:cNvPr>
          <p:cNvSpPr/>
          <p:nvPr/>
        </p:nvSpPr>
        <p:spPr>
          <a:xfrm>
            <a:off x="11346581" y="247654"/>
            <a:ext cx="648929" cy="294968"/>
          </a:xfrm>
          <a:prstGeom prst="rect">
            <a:avLst/>
          </a:prstGeom>
          <a:solidFill>
            <a:srgbClr val="FFC000"/>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400" dirty="0">
                <a:solidFill>
                  <a:schemeClr val="tx1"/>
                </a:solidFill>
              </a:rPr>
              <a:t>C9</a:t>
            </a:r>
          </a:p>
        </p:txBody>
      </p:sp>
    </p:spTree>
    <p:extLst>
      <p:ext uri="{BB962C8B-B14F-4D97-AF65-F5344CB8AC3E}">
        <p14:creationId xmlns:p14="http://schemas.microsoft.com/office/powerpoint/2010/main" val="353824812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6B409ECA-B691-5B1C-5CCA-878C261674CB}"/>
              </a:ext>
            </a:extLst>
          </p:cNvPr>
          <p:cNvSpPr>
            <a:spLocks noGrp="1"/>
          </p:cNvSpPr>
          <p:nvPr>
            <p:ph idx="1"/>
          </p:nvPr>
        </p:nvSpPr>
        <p:spPr>
          <a:xfrm>
            <a:off x="92019" y="182014"/>
            <a:ext cx="8519477" cy="6563395"/>
          </a:xfrm>
        </p:spPr>
        <p:txBody>
          <a:bodyPr>
            <a:normAutofit/>
          </a:bodyPr>
          <a:lstStyle/>
          <a:p>
            <a:pPr marL="0" indent="0">
              <a:buNone/>
            </a:pPr>
            <a:r>
              <a:rPr lang="fr-FR" sz="2500" u="sng" dirty="0"/>
              <a:t>4.2 Analyse du besoin fonctionnel côté </a:t>
            </a:r>
            <a:r>
              <a:rPr lang="fr-FR" sz="2500" u="sng" dirty="0" err="1"/>
              <a:t>front-end</a:t>
            </a:r>
            <a:endParaRPr lang="fr-FR" sz="2500" u="sng" dirty="0"/>
          </a:p>
          <a:p>
            <a:pPr marL="0" indent="0">
              <a:buNone/>
            </a:pPr>
            <a:endParaRPr lang="fr-FR" sz="2500" u="sng" dirty="0"/>
          </a:p>
          <a:p>
            <a:pPr marL="0" indent="0">
              <a:buNone/>
            </a:pPr>
            <a:endParaRPr lang="fr-FR" sz="2300" dirty="0"/>
          </a:p>
          <a:p>
            <a:pPr marL="0" indent="0">
              <a:buNone/>
            </a:pPr>
            <a:endParaRPr lang="fr-FR" sz="2300" dirty="0"/>
          </a:p>
          <a:p>
            <a:pPr marL="0" indent="0">
              <a:buNone/>
            </a:pPr>
            <a:endParaRPr lang="fr-FR" sz="2300" dirty="0"/>
          </a:p>
          <a:p>
            <a:pPr marL="0" indent="0">
              <a:buNone/>
            </a:pPr>
            <a:endParaRPr lang="fr-FR" sz="2300" dirty="0"/>
          </a:p>
          <a:p>
            <a:pPr marL="0" indent="0">
              <a:buNone/>
            </a:pPr>
            <a:endParaRPr lang="fr-FR" sz="2300" dirty="0"/>
          </a:p>
          <a:p>
            <a:pPr marL="0" indent="0">
              <a:buNone/>
            </a:pPr>
            <a:endParaRPr lang="fr-FR" sz="2300" dirty="0"/>
          </a:p>
          <a:p>
            <a:pPr marL="0" indent="0">
              <a:buNone/>
            </a:pPr>
            <a:endParaRPr lang="fr-FR" sz="2300" dirty="0"/>
          </a:p>
          <a:p>
            <a:pPr marL="0" indent="0">
              <a:buNone/>
            </a:pPr>
            <a:endParaRPr lang="fr-FR" sz="2300" dirty="0"/>
          </a:p>
          <a:p>
            <a:pPr marL="0" indent="0">
              <a:buNone/>
            </a:pPr>
            <a:endParaRPr lang="fr-FR" sz="2300" dirty="0"/>
          </a:p>
        </p:txBody>
      </p:sp>
      <p:pic>
        <p:nvPicPr>
          <p:cNvPr id="6" name="Imag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02918" y="253086"/>
            <a:ext cx="2956816" cy="5913632"/>
          </a:xfrm>
          <a:prstGeom prst="rect">
            <a:avLst/>
          </a:prstGeom>
        </p:spPr>
      </p:pic>
      <p:sp>
        <p:nvSpPr>
          <p:cNvPr id="2" name="Espace réservé du numéro de diapositive 1">
            <a:extLst>
              <a:ext uri="{FF2B5EF4-FFF2-40B4-BE49-F238E27FC236}">
                <a16:creationId xmlns:a16="http://schemas.microsoft.com/office/drawing/2014/main" id="{2072E990-D5A1-07FE-55AF-A1121BE84B74}"/>
              </a:ext>
            </a:extLst>
          </p:cNvPr>
          <p:cNvSpPr>
            <a:spLocks noGrp="1"/>
          </p:cNvSpPr>
          <p:nvPr>
            <p:ph type="sldNum" sz="quarter" idx="12"/>
          </p:nvPr>
        </p:nvSpPr>
        <p:spPr/>
        <p:txBody>
          <a:bodyPr/>
          <a:lstStyle/>
          <a:p>
            <a:fld id="{BA06AB71-0B36-4B80-B991-039F7D68F8CB}" type="slidenum">
              <a:rPr lang="fr-FR" smtClean="0"/>
              <a:t>27</a:t>
            </a:fld>
            <a:endParaRPr lang="fr-FR" dirty="0"/>
          </a:p>
        </p:txBody>
      </p:sp>
      <p:sp>
        <p:nvSpPr>
          <p:cNvPr id="4" name="ZoneTexte 3">
            <a:extLst>
              <a:ext uri="{FF2B5EF4-FFF2-40B4-BE49-F238E27FC236}">
                <a16:creationId xmlns:a16="http://schemas.microsoft.com/office/drawing/2014/main" id="{B0F8D779-244A-CD97-EDA4-BCA4E918FAB0}"/>
              </a:ext>
            </a:extLst>
          </p:cNvPr>
          <p:cNvSpPr txBox="1"/>
          <p:nvPr/>
        </p:nvSpPr>
        <p:spPr>
          <a:xfrm>
            <a:off x="1932266" y="4585264"/>
            <a:ext cx="5431781" cy="292388"/>
          </a:xfrm>
          <a:prstGeom prst="rect">
            <a:avLst/>
          </a:prstGeom>
          <a:noFill/>
        </p:spPr>
        <p:txBody>
          <a:bodyPr wrap="square" rtlCol="0">
            <a:spAutoFit/>
          </a:bodyPr>
          <a:lstStyle/>
          <a:p>
            <a:pPr>
              <a:spcAft>
                <a:spcPts val="1000"/>
              </a:spcAft>
            </a:pPr>
            <a:r>
              <a:rPr lang="fr-FR" sz="1300" i="1" dirty="0">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Figure 27 : Maquette p</a:t>
            </a:r>
            <a:r>
              <a:rPr lang="fr-FR" sz="1300" i="1" dirty="0">
                <a:solidFill>
                  <a:srgbClr val="44546A"/>
                </a:solidFill>
                <a:latin typeface="Calibri" panose="020F0502020204030204" pitchFamily="34" charset="0"/>
                <a:ea typeface="Calibri" panose="020F0502020204030204" pitchFamily="34" charset="0"/>
                <a:cs typeface="Times New Roman" panose="02020603050405020304" pitchFamily="18" charset="0"/>
              </a:rPr>
              <a:t>age de connexion</a:t>
            </a:r>
            <a:endParaRPr lang="fr-FR" sz="1300" i="1" dirty="0">
              <a:solidFill>
                <a:srgbClr val="44546A"/>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9" name="ZoneTexte 8">
            <a:extLst>
              <a:ext uri="{FF2B5EF4-FFF2-40B4-BE49-F238E27FC236}">
                <a16:creationId xmlns:a16="http://schemas.microsoft.com/office/drawing/2014/main" id="{04212801-5706-D45D-89CC-FCEAA63EEF87}"/>
              </a:ext>
            </a:extLst>
          </p:cNvPr>
          <p:cNvSpPr txBox="1"/>
          <p:nvPr/>
        </p:nvSpPr>
        <p:spPr>
          <a:xfrm>
            <a:off x="7302918" y="6246524"/>
            <a:ext cx="4955980" cy="292388"/>
          </a:xfrm>
          <a:prstGeom prst="rect">
            <a:avLst/>
          </a:prstGeom>
          <a:noFill/>
        </p:spPr>
        <p:txBody>
          <a:bodyPr wrap="square" rtlCol="0">
            <a:spAutoFit/>
          </a:bodyPr>
          <a:lstStyle/>
          <a:p>
            <a:pPr>
              <a:spcAft>
                <a:spcPts val="1000"/>
              </a:spcAft>
            </a:pPr>
            <a:r>
              <a:rPr lang="fr-FR" sz="1300" i="1" dirty="0">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Figure 28 : Maquette visuelle de l’application</a:t>
            </a:r>
          </a:p>
        </p:txBody>
      </p:sp>
      <p:pic>
        <p:nvPicPr>
          <p:cNvPr id="8" name="Image 7">
            <a:extLst>
              <a:ext uri="{FF2B5EF4-FFF2-40B4-BE49-F238E27FC236}">
                <a16:creationId xmlns:a16="http://schemas.microsoft.com/office/drawing/2014/main" id="{D1BB2E9A-3A1F-71F2-75DA-EB666089A1F4}"/>
              </a:ext>
            </a:extLst>
          </p:cNvPr>
          <p:cNvPicPr>
            <a:picLocks noChangeAspect="1"/>
          </p:cNvPicPr>
          <p:nvPr/>
        </p:nvPicPr>
        <p:blipFill>
          <a:blip r:embed="rId4"/>
          <a:stretch>
            <a:fillRect/>
          </a:stretch>
        </p:blipFill>
        <p:spPr>
          <a:xfrm>
            <a:off x="1932266" y="1770619"/>
            <a:ext cx="2956816" cy="2636748"/>
          </a:xfrm>
          <a:prstGeom prst="rect">
            <a:avLst/>
          </a:prstGeom>
        </p:spPr>
      </p:pic>
    </p:spTree>
    <p:extLst>
      <p:ext uri="{BB962C8B-B14F-4D97-AF65-F5344CB8AC3E}">
        <p14:creationId xmlns:p14="http://schemas.microsoft.com/office/powerpoint/2010/main" val="5281281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6B409ECA-B691-5B1C-5CCA-878C261674CB}"/>
              </a:ext>
            </a:extLst>
          </p:cNvPr>
          <p:cNvSpPr>
            <a:spLocks noGrp="1"/>
          </p:cNvSpPr>
          <p:nvPr>
            <p:ph idx="1"/>
          </p:nvPr>
        </p:nvSpPr>
        <p:spPr>
          <a:xfrm>
            <a:off x="92019" y="182014"/>
            <a:ext cx="8519477" cy="6563395"/>
          </a:xfrm>
        </p:spPr>
        <p:txBody>
          <a:bodyPr>
            <a:normAutofit/>
          </a:bodyPr>
          <a:lstStyle/>
          <a:p>
            <a:pPr marL="0" indent="0">
              <a:buNone/>
            </a:pPr>
            <a:r>
              <a:rPr lang="fr-FR" sz="2500" u="sng" dirty="0"/>
              <a:t>4.3 Analyse du besoin d’une base de donnée de prédictions</a:t>
            </a:r>
          </a:p>
          <a:p>
            <a:pPr marL="0" indent="0">
              <a:buNone/>
            </a:pPr>
            <a:endParaRPr lang="fr-FR" sz="2300" dirty="0"/>
          </a:p>
          <a:p>
            <a:pPr marL="0" indent="0">
              <a:buNone/>
            </a:pPr>
            <a:endParaRPr lang="fr-FR" sz="2300" dirty="0"/>
          </a:p>
          <a:p>
            <a:pPr marL="0" indent="0">
              <a:buNone/>
            </a:pPr>
            <a:endParaRPr lang="fr-FR" sz="2300" dirty="0"/>
          </a:p>
          <a:p>
            <a:pPr marL="0" indent="0">
              <a:buNone/>
            </a:pPr>
            <a:endParaRPr lang="fr-FR" sz="2300" dirty="0"/>
          </a:p>
          <a:p>
            <a:pPr marL="0" indent="0">
              <a:buNone/>
            </a:pPr>
            <a:endParaRPr lang="fr-FR" sz="2300" dirty="0"/>
          </a:p>
          <a:p>
            <a:pPr marL="0" indent="0">
              <a:buNone/>
            </a:pPr>
            <a:endParaRPr lang="fr-FR" sz="2300" dirty="0"/>
          </a:p>
          <a:p>
            <a:pPr marL="0" indent="0">
              <a:buNone/>
            </a:pPr>
            <a:endParaRPr lang="fr-FR" sz="2300" dirty="0"/>
          </a:p>
          <a:p>
            <a:pPr marL="0" indent="0">
              <a:buNone/>
            </a:pPr>
            <a:endParaRPr lang="fr-FR" sz="2300" dirty="0"/>
          </a:p>
          <a:p>
            <a:pPr marL="0" indent="0">
              <a:buNone/>
            </a:pPr>
            <a:endParaRPr lang="fr-FR" sz="2300" dirty="0"/>
          </a:p>
        </p:txBody>
      </p:sp>
      <p:sp>
        <p:nvSpPr>
          <p:cNvPr id="2" name="Espace réservé du numéro de diapositive 1">
            <a:extLst>
              <a:ext uri="{FF2B5EF4-FFF2-40B4-BE49-F238E27FC236}">
                <a16:creationId xmlns:a16="http://schemas.microsoft.com/office/drawing/2014/main" id="{2072E990-D5A1-07FE-55AF-A1121BE84B74}"/>
              </a:ext>
            </a:extLst>
          </p:cNvPr>
          <p:cNvSpPr>
            <a:spLocks noGrp="1"/>
          </p:cNvSpPr>
          <p:nvPr>
            <p:ph type="sldNum" sz="quarter" idx="12"/>
          </p:nvPr>
        </p:nvSpPr>
        <p:spPr/>
        <p:txBody>
          <a:bodyPr/>
          <a:lstStyle/>
          <a:p>
            <a:fld id="{BA06AB71-0B36-4B80-B991-039F7D68F8CB}" type="slidenum">
              <a:rPr lang="fr-FR" smtClean="0"/>
              <a:t>28</a:t>
            </a:fld>
            <a:endParaRPr lang="fr-FR" dirty="0"/>
          </a:p>
        </p:txBody>
      </p:sp>
      <p:pic>
        <p:nvPicPr>
          <p:cNvPr id="5" name="Image 4">
            <a:extLst>
              <a:ext uri="{FF2B5EF4-FFF2-40B4-BE49-F238E27FC236}">
                <a16:creationId xmlns:a16="http://schemas.microsoft.com/office/drawing/2014/main" id="{CC6B5CDF-DAEE-6237-C5A2-289A721BBE56}"/>
              </a:ext>
            </a:extLst>
          </p:cNvPr>
          <p:cNvPicPr>
            <a:picLocks noChangeAspect="1"/>
          </p:cNvPicPr>
          <p:nvPr/>
        </p:nvPicPr>
        <p:blipFill>
          <a:blip r:embed="rId3"/>
          <a:stretch>
            <a:fillRect/>
          </a:stretch>
        </p:blipFill>
        <p:spPr>
          <a:xfrm>
            <a:off x="288788" y="1102073"/>
            <a:ext cx="10151576" cy="5254277"/>
          </a:xfrm>
          <a:prstGeom prst="rect">
            <a:avLst/>
          </a:prstGeom>
        </p:spPr>
      </p:pic>
      <p:sp>
        <p:nvSpPr>
          <p:cNvPr id="7" name="ZoneTexte 6">
            <a:extLst>
              <a:ext uri="{FF2B5EF4-FFF2-40B4-BE49-F238E27FC236}">
                <a16:creationId xmlns:a16="http://schemas.microsoft.com/office/drawing/2014/main" id="{2228EE0D-5937-81D4-7C07-3E19D3A84FF6}"/>
              </a:ext>
            </a:extLst>
          </p:cNvPr>
          <p:cNvSpPr txBox="1"/>
          <p:nvPr/>
        </p:nvSpPr>
        <p:spPr>
          <a:xfrm>
            <a:off x="288788" y="6356350"/>
            <a:ext cx="5431781" cy="292388"/>
          </a:xfrm>
          <a:prstGeom prst="rect">
            <a:avLst/>
          </a:prstGeom>
          <a:noFill/>
        </p:spPr>
        <p:txBody>
          <a:bodyPr wrap="square" rtlCol="0">
            <a:spAutoFit/>
          </a:bodyPr>
          <a:lstStyle/>
          <a:p>
            <a:pPr>
              <a:spcAft>
                <a:spcPts val="1000"/>
              </a:spcAft>
            </a:pPr>
            <a:r>
              <a:rPr lang="fr-FR" sz="1300" i="1" dirty="0">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Figure </a:t>
            </a:r>
            <a:r>
              <a:rPr lang="fr-FR" sz="1300" i="1" dirty="0">
                <a:solidFill>
                  <a:srgbClr val="44546A"/>
                </a:solidFill>
                <a:latin typeface="Calibri" panose="020F0502020204030204" pitchFamily="34" charset="0"/>
                <a:ea typeface="Calibri" panose="020F0502020204030204" pitchFamily="34" charset="0"/>
                <a:cs typeface="Times New Roman" panose="02020603050405020304" pitchFamily="18" charset="0"/>
              </a:rPr>
              <a:t>29</a:t>
            </a:r>
            <a:r>
              <a:rPr lang="fr-FR" sz="1300" i="1" dirty="0">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 : Modèle </a:t>
            </a:r>
            <a:r>
              <a:rPr lang="fr-FR" sz="1300" i="1" dirty="0">
                <a:solidFill>
                  <a:srgbClr val="44546A"/>
                </a:solidFill>
                <a:latin typeface="Calibri" panose="020F0502020204030204" pitchFamily="34" charset="0"/>
                <a:ea typeface="Calibri" panose="020F0502020204030204" pitchFamily="34" charset="0"/>
                <a:cs typeface="Times New Roman" panose="02020603050405020304" pitchFamily="18" charset="0"/>
              </a:rPr>
              <a:t>conceptuel</a:t>
            </a:r>
            <a:r>
              <a:rPr lang="fr-FR" sz="1300" i="1" dirty="0">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 des données</a:t>
            </a:r>
          </a:p>
        </p:txBody>
      </p:sp>
      <p:sp>
        <p:nvSpPr>
          <p:cNvPr id="4" name="Rectangle 3">
            <a:extLst>
              <a:ext uri="{FF2B5EF4-FFF2-40B4-BE49-F238E27FC236}">
                <a16:creationId xmlns:a16="http://schemas.microsoft.com/office/drawing/2014/main" id="{9642F436-6C52-8B9D-D466-FC1DD408E222}"/>
              </a:ext>
            </a:extLst>
          </p:cNvPr>
          <p:cNvSpPr/>
          <p:nvPr/>
        </p:nvSpPr>
        <p:spPr>
          <a:xfrm>
            <a:off x="11346581" y="247654"/>
            <a:ext cx="648929" cy="294968"/>
          </a:xfrm>
          <a:prstGeom prst="rect">
            <a:avLst/>
          </a:prstGeom>
          <a:solidFill>
            <a:srgbClr val="FFC000"/>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400" dirty="0">
                <a:solidFill>
                  <a:schemeClr val="tx1"/>
                </a:solidFill>
              </a:rPr>
              <a:t>C10</a:t>
            </a:r>
          </a:p>
        </p:txBody>
      </p:sp>
    </p:spTree>
    <p:extLst>
      <p:ext uri="{BB962C8B-B14F-4D97-AF65-F5344CB8AC3E}">
        <p14:creationId xmlns:p14="http://schemas.microsoft.com/office/powerpoint/2010/main" val="98349299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C9B7E411-3CEE-5F26-04B6-EA29AF114C2E}"/>
              </a:ext>
            </a:extLst>
          </p:cNvPr>
          <p:cNvSpPr>
            <a:spLocks noGrp="1"/>
          </p:cNvSpPr>
          <p:nvPr>
            <p:ph type="sldNum" sz="quarter" idx="12"/>
          </p:nvPr>
        </p:nvSpPr>
        <p:spPr/>
        <p:txBody>
          <a:bodyPr/>
          <a:lstStyle/>
          <a:p>
            <a:fld id="{BA06AB71-0B36-4B80-B991-039F7D68F8CB}" type="slidenum">
              <a:rPr lang="fr-FR" smtClean="0"/>
              <a:t>29</a:t>
            </a:fld>
            <a:endParaRPr lang="fr-FR"/>
          </a:p>
        </p:txBody>
      </p:sp>
      <p:sp>
        <p:nvSpPr>
          <p:cNvPr id="5" name="ZoneTexte 4">
            <a:extLst>
              <a:ext uri="{FF2B5EF4-FFF2-40B4-BE49-F238E27FC236}">
                <a16:creationId xmlns:a16="http://schemas.microsoft.com/office/drawing/2014/main" id="{6238CFE9-5C26-1DE5-30D4-E68EF81CAFAE}"/>
              </a:ext>
            </a:extLst>
          </p:cNvPr>
          <p:cNvSpPr txBox="1"/>
          <p:nvPr/>
        </p:nvSpPr>
        <p:spPr>
          <a:xfrm>
            <a:off x="296010" y="6392718"/>
            <a:ext cx="5431781" cy="292388"/>
          </a:xfrm>
          <a:prstGeom prst="rect">
            <a:avLst/>
          </a:prstGeom>
          <a:noFill/>
        </p:spPr>
        <p:txBody>
          <a:bodyPr wrap="square" rtlCol="0">
            <a:spAutoFit/>
          </a:bodyPr>
          <a:lstStyle/>
          <a:p>
            <a:pPr>
              <a:spcAft>
                <a:spcPts val="1000"/>
              </a:spcAft>
            </a:pPr>
            <a:r>
              <a:rPr lang="fr-FR" sz="1300" i="1" dirty="0">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Figure </a:t>
            </a:r>
            <a:r>
              <a:rPr lang="fr-FR" sz="1300" i="1" dirty="0">
                <a:solidFill>
                  <a:srgbClr val="44546A"/>
                </a:solidFill>
                <a:latin typeface="Calibri" panose="020F0502020204030204" pitchFamily="34" charset="0"/>
                <a:ea typeface="Calibri" panose="020F0502020204030204" pitchFamily="34" charset="0"/>
                <a:cs typeface="Times New Roman" panose="02020603050405020304" pitchFamily="18" charset="0"/>
              </a:rPr>
              <a:t>30</a:t>
            </a:r>
            <a:r>
              <a:rPr lang="fr-FR" sz="1300" i="1" dirty="0">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 : Modèle </a:t>
            </a:r>
            <a:r>
              <a:rPr lang="fr-FR" sz="1300" i="1" dirty="0">
                <a:solidFill>
                  <a:srgbClr val="44546A"/>
                </a:solidFill>
                <a:latin typeface="Calibri" panose="020F0502020204030204" pitchFamily="34" charset="0"/>
                <a:ea typeface="Calibri" panose="020F0502020204030204" pitchFamily="34" charset="0"/>
                <a:cs typeface="Times New Roman" panose="02020603050405020304" pitchFamily="18" charset="0"/>
              </a:rPr>
              <a:t>relationnel</a:t>
            </a:r>
            <a:r>
              <a:rPr lang="fr-FR" sz="1300" i="1" dirty="0">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 des données</a:t>
            </a:r>
          </a:p>
        </p:txBody>
      </p:sp>
      <p:pic>
        <p:nvPicPr>
          <p:cNvPr id="6" name="Image 5">
            <a:extLst>
              <a:ext uri="{FF2B5EF4-FFF2-40B4-BE49-F238E27FC236}">
                <a16:creationId xmlns:a16="http://schemas.microsoft.com/office/drawing/2014/main" id="{760E7514-A696-4FB4-6B38-66A0375636C9}"/>
              </a:ext>
            </a:extLst>
          </p:cNvPr>
          <p:cNvPicPr>
            <a:picLocks noChangeAspect="1"/>
          </p:cNvPicPr>
          <p:nvPr/>
        </p:nvPicPr>
        <p:blipFill>
          <a:blip r:embed="rId3"/>
          <a:stretch>
            <a:fillRect/>
          </a:stretch>
        </p:blipFill>
        <p:spPr>
          <a:xfrm>
            <a:off x="296010" y="136525"/>
            <a:ext cx="10306399" cy="6096743"/>
          </a:xfrm>
          <a:prstGeom prst="rect">
            <a:avLst/>
          </a:prstGeom>
        </p:spPr>
      </p:pic>
    </p:spTree>
    <p:extLst>
      <p:ext uri="{BB962C8B-B14F-4D97-AF65-F5344CB8AC3E}">
        <p14:creationId xmlns:p14="http://schemas.microsoft.com/office/powerpoint/2010/main" val="40450717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2072E990-D5A1-07FE-55AF-A1121BE84B74}"/>
              </a:ext>
            </a:extLst>
          </p:cNvPr>
          <p:cNvSpPr>
            <a:spLocks noGrp="1"/>
          </p:cNvSpPr>
          <p:nvPr>
            <p:ph type="sldNum" sz="quarter" idx="12"/>
          </p:nvPr>
        </p:nvSpPr>
        <p:spPr/>
        <p:txBody>
          <a:bodyPr/>
          <a:lstStyle/>
          <a:p>
            <a:fld id="{BA06AB71-0B36-4B80-B991-039F7D68F8CB}" type="slidenum">
              <a:rPr lang="fr-FR" smtClean="0"/>
              <a:t>30</a:t>
            </a:fld>
            <a:endParaRPr lang="fr-FR" dirty="0"/>
          </a:p>
        </p:txBody>
      </p:sp>
      <p:sp>
        <p:nvSpPr>
          <p:cNvPr id="12" name="Espace réservé du contenu 2">
            <a:extLst>
              <a:ext uri="{FF2B5EF4-FFF2-40B4-BE49-F238E27FC236}">
                <a16:creationId xmlns:a16="http://schemas.microsoft.com/office/drawing/2014/main" id="{CB5625BA-CF46-87C4-5BAB-F7D8EFBDAD88}"/>
              </a:ext>
            </a:extLst>
          </p:cNvPr>
          <p:cNvSpPr>
            <a:spLocks noGrp="1"/>
          </p:cNvSpPr>
          <p:nvPr>
            <p:ph idx="1"/>
          </p:nvPr>
        </p:nvSpPr>
        <p:spPr>
          <a:xfrm>
            <a:off x="2497732" y="2857030"/>
            <a:ext cx="7373651" cy="454593"/>
          </a:xfrm>
        </p:spPr>
        <p:txBody>
          <a:bodyPr>
            <a:normAutofit/>
          </a:bodyPr>
          <a:lstStyle/>
          <a:p>
            <a:pPr marL="0" indent="0">
              <a:buNone/>
            </a:pPr>
            <a:r>
              <a:rPr lang="fr-FR" sz="2500" u="sng" dirty="0"/>
              <a:t>4.4 Réponse apportée pour la partie fonctionnalité</a:t>
            </a:r>
          </a:p>
          <a:p>
            <a:pPr marL="0" indent="0">
              <a:buNone/>
            </a:pPr>
            <a:endParaRPr lang="fr-FR" sz="2300" dirty="0"/>
          </a:p>
          <a:p>
            <a:pPr marL="0" indent="0">
              <a:buNone/>
            </a:pPr>
            <a:endParaRPr lang="fr-FR" sz="2300" dirty="0"/>
          </a:p>
          <a:p>
            <a:pPr marL="0" indent="0">
              <a:buNone/>
            </a:pPr>
            <a:endParaRPr lang="fr-FR" sz="2300" dirty="0"/>
          </a:p>
          <a:p>
            <a:pPr marL="0" indent="0">
              <a:buNone/>
            </a:pPr>
            <a:endParaRPr lang="fr-FR" sz="2300" dirty="0"/>
          </a:p>
          <a:p>
            <a:pPr marL="0" indent="0">
              <a:buNone/>
            </a:pPr>
            <a:endParaRPr lang="fr-FR" sz="2300" dirty="0"/>
          </a:p>
          <a:p>
            <a:pPr marL="0" indent="0">
              <a:buNone/>
            </a:pPr>
            <a:endParaRPr lang="fr-FR" sz="2300" dirty="0"/>
          </a:p>
          <a:p>
            <a:pPr marL="0" indent="0">
              <a:buNone/>
            </a:pPr>
            <a:endParaRPr lang="fr-FR" sz="2300" dirty="0"/>
          </a:p>
          <a:p>
            <a:pPr marL="0" indent="0">
              <a:buNone/>
            </a:pPr>
            <a:endParaRPr lang="fr-FR" sz="2300" dirty="0"/>
          </a:p>
          <a:p>
            <a:pPr marL="0" indent="0">
              <a:buNone/>
            </a:pPr>
            <a:endParaRPr lang="fr-FR" sz="2300" dirty="0"/>
          </a:p>
        </p:txBody>
      </p:sp>
    </p:spTree>
    <p:extLst>
      <p:ext uri="{BB962C8B-B14F-4D97-AF65-F5344CB8AC3E}">
        <p14:creationId xmlns:p14="http://schemas.microsoft.com/office/powerpoint/2010/main" val="66025924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2072E990-D5A1-07FE-55AF-A1121BE84B74}"/>
              </a:ext>
            </a:extLst>
          </p:cNvPr>
          <p:cNvSpPr>
            <a:spLocks noGrp="1"/>
          </p:cNvSpPr>
          <p:nvPr>
            <p:ph type="sldNum" sz="quarter" idx="12"/>
          </p:nvPr>
        </p:nvSpPr>
        <p:spPr/>
        <p:txBody>
          <a:bodyPr/>
          <a:lstStyle/>
          <a:p>
            <a:fld id="{BA06AB71-0B36-4B80-B991-039F7D68F8CB}" type="slidenum">
              <a:rPr lang="fr-FR" smtClean="0"/>
              <a:t>31</a:t>
            </a:fld>
            <a:endParaRPr lang="fr-FR" dirty="0"/>
          </a:p>
        </p:txBody>
      </p:sp>
      <p:sp>
        <p:nvSpPr>
          <p:cNvPr id="4" name="ZoneTexte 3">
            <a:extLst>
              <a:ext uri="{FF2B5EF4-FFF2-40B4-BE49-F238E27FC236}">
                <a16:creationId xmlns:a16="http://schemas.microsoft.com/office/drawing/2014/main" id="{B0F8D779-244A-CD97-EDA4-BCA4E918FAB0}"/>
              </a:ext>
            </a:extLst>
          </p:cNvPr>
          <p:cNvSpPr txBox="1"/>
          <p:nvPr/>
        </p:nvSpPr>
        <p:spPr>
          <a:xfrm>
            <a:off x="8775564" y="5742892"/>
            <a:ext cx="3301655" cy="492443"/>
          </a:xfrm>
          <a:prstGeom prst="rect">
            <a:avLst/>
          </a:prstGeom>
          <a:noFill/>
        </p:spPr>
        <p:txBody>
          <a:bodyPr wrap="square" rtlCol="0">
            <a:spAutoFit/>
          </a:bodyPr>
          <a:lstStyle/>
          <a:p>
            <a:pPr>
              <a:spcAft>
                <a:spcPts val="1000"/>
              </a:spcAft>
            </a:pPr>
            <a:r>
              <a:rPr lang="fr-FR" sz="1300" i="1" dirty="0">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Figure 31 : Fonctionnalité de prédiction de l’API</a:t>
            </a:r>
          </a:p>
        </p:txBody>
      </p:sp>
      <p:pic>
        <p:nvPicPr>
          <p:cNvPr id="7" name="Image 6">
            <a:extLst>
              <a:ext uri="{FF2B5EF4-FFF2-40B4-BE49-F238E27FC236}">
                <a16:creationId xmlns:a16="http://schemas.microsoft.com/office/drawing/2014/main" id="{7AA08103-538B-19D2-1719-4811C8285952}"/>
              </a:ext>
            </a:extLst>
          </p:cNvPr>
          <p:cNvPicPr>
            <a:picLocks noChangeAspect="1"/>
          </p:cNvPicPr>
          <p:nvPr/>
        </p:nvPicPr>
        <p:blipFill>
          <a:blip r:embed="rId3"/>
          <a:stretch>
            <a:fillRect/>
          </a:stretch>
        </p:blipFill>
        <p:spPr>
          <a:xfrm>
            <a:off x="3102015" y="119604"/>
            <a:ext cx="5551217" cy="6601871"/>
          </a:xfrm>
          <a:prstGeom prst="rect">
            <a:avLst/>
          </a:prstGeom>
        </p:spPr>
      </p:pic>
      <p:sp>
        <p:nvSpPr>
          <p:cNvPr id="3" name="Rectangle 2">
            <a:extLst>
              <a:ext uri="{FF2B5EF4-FFF2-40B4-BE49-F238E27FC236}">
                <a16:creationId xmlns:a16="http://schemas.microsoft.com/office/drawing/2014/main" id="{85122AD0-B816-D600-3CE3-C186B9BF1DC0}"/>
              </a:ext>
            </a:extLst>
          </p:cNvPr>
          <p:cNvSpPr/>
          <p:nvPr/>
        </p:nvSpPr>
        <p:spPr>
          <a:xfrm>
            <a:off x="11346581" y="247654"/>
            <a:ext cx="648929" cy="294968"/>
          </a:xfrm>
          <a:prstGeom prst="rect">
            <a:avLst/>
          </a:prstGeom>
          <a:solidFill>
            <a:srgbClr val="FFC000"/>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400" dirty="0">
                <a:solidFill>
                  <a:schemeClr val="tx1"/>
                </a:solidFill>
              </a:rPr>
              <a:t>C7</a:t>
            </a:r>
          </a:p>
        </p:txBody>
      </p:sp>
      <p:sp>
        <p:nvSpPr>
          <p:cNvPr id="5" name="Rectangle 4">
            <a:extLst>
              <a:ext uri="{FF2B5EF4-FFF2-40B4-BE49-F238E27FC236}">
                <a16:creationId xmlns:a16="http://schemas.microsoft.com/office/drawing/2014/main" id="{A1586991-E5E3-BDFC-6A48-84C1C3E5B45D}"/>
              </a:ext>
            </a:extLst>
          </p:cNvPr>
          <p:cNvSpPr/>
          <p:nvPr/>
        </p:nvSpPr>
        <p:spPr>
          <a:xfrm>
            <a:off x="11346581" y="603396"/>
            <a:ext cx="648929" cy="294968"/>
          </a:xfrm>
          <a:prstGeom prst="rect">
            <a:avLst/>
          </a:prstGeom>
          <a:solidFill>
            <a:srgbClr val="FFC000"/>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400" dirty="0">
                <a:solidFill>
                  <a:schemeClr val="tx1"/>
                </a:solidFill>
              </a:rPr>
              <a:t>C11</a:t>
            </a:r>
          </a:p>
        </p:txBody>
      </p:sp>
    </p:spTree>
    <p:extLst>
      <p:ext uri="{BB962C8B-B14F-4D97-AF65-F5344CB8AC3E}">
        <p14:creationId xmlns:p14="http://schemas.microsoft.com/office/powerpoint/2010/main" val="316132066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B43EAA50-324B-5536-C9EB-45900FE9CD33}"/>
              </a:ext>
            </a:extLst>
          </p:cNvPr>
          <p:cNvSpPr>
            <a:spLocks noGrp="1"/>
          </p:cNvSpPr>
          <p:nvPr>
            <p:ph type="sldNum" sz="quarter" idx="12"/>
          </p:nvPr>
        </p:nvSpPr>
        <p:spPr/>
        <p:txBody>
          <a:bodyPr/>
          <a:lstStyle/>
          <a:p>
            <a:fld id="{BA06AB71-0B36-4B80-B991-039F7D68F8CB}" type="slidenum">
              <a:rPr lang="fr-FR" smtClean="0"/>
              <a:t>32</a:t>
            </a:fld>
            <a:endParaRPr lang="fr-FR"/>
          </a:p>
        </p:txBody>
      </p:sp>
      <p:pic>
        <p:nvPicPr>
          <p:cNvPr id="8" name="Image 7">
            <a:extLst>
              <a:ext uri="{FF2B5EF4-FFF2-40B4-BE49-F238E27FC236}">
                <a16:creationId xmlns:a16="http://schemas.microsoft.com/office/drawing/2014/main" id="{64A50A99-0429-75B1-49C4-2B4679A3477A}"/>
              </a:ext>
            </a:extLst>
          </p:cNvPr>
          <p:cNvPicPr>
            <a:picLocks noChangeAspect="1"/>
          </p:cNvPicPr>
          <p:nvPr/>
        </p:nvPicPr>
        <p:blipFill>
          <a:blip r:embed="rId3"/>
          <a:stretch>
            <a:fillRect/>
          </a:stretch>
        </p:blipFill>
        <p:spPr>
          <a:xfrm>
            <a:off x="2359046" y="2116406"/>
            <a:ext cx="6164378" cy="2625187"/>
          </a:xfrm>
          <a:prstGeom prst="rect">
            <a:avLst/>
          </a:prstGeom>
        </p:spPr>
      </p:pic>
      <p:sp>
        <p:nvSpPr>
          <p:cNvPr id="10" name="ZoneTexte 9">
            <a:extLst>
              <a:ext uri="{FF2B5EF4-FFF2-40B4-BE49-F238E27FC236}">
                <a16:creationId xmlns:a16="http://schemas.microsoft.com/office/drawing/2014/main" id="{85DEA9E9-3F50-22CA-61B6-8B9A1E3E0BBB}"/>
              </a:ext>
            </a:extLst>
          </p:cNvPr>
          <p:cNvSpPr txBox="1"/>
          <p:nvPr/>
        </p:nvSpPr>
        <p:spPr>
          <a:xfrm>
            <a:off x="2359046" y="4995100"/>
            <a:ext cx="5431781" cy="292388"/>
          </a:xfrm>
          <a:prstGeom prst="rect">
            <a:avLst/>
          </a:prstGeom>
          <a:noFill/>
        </p:spPr>
        <p:txBody>
          <a:bodyPr wrap="square" rtlCol="0">
            <a:spAutoFit/>
          </a:bodyPr>
          <a:lstStyle/>
          <a:p>
            <a:pPr>
              <a:spcAft>
                <a:spcPts val="1000"/>
              </a:spcAft>
            </a:pPr>
            <a:r>
              <a:rPr lang="fr-FR" sz="1300" i="1" dirty="0">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Figure </a:t>
            </a:r>
            <a:r>
              <a:rPr lang="fr-FR" sz="1300" i="1" dirty="0">
                <a:solidFill>
                  <a:srgbClr val="44546A"/>
                </a:solidFill>
                <a:latin typeface="Calibri" panose="020F0502020204030204" pitchFamily="34" charset="0"/>
                <a:ea typeface="Calibri" panose="020F0502020204030204" pitchFamily="34" charset="0"/>
                <a:cs typeface="Times New Roman" panose="02020603050405020304" pitchFamily="18" charset="0"/>
              </a:rPr>
              <a:t>32</a:t>
            </a:r>
            <a:r>
              <a:rPr lang="fr-FR" sz="1300" i="1" dirty="0">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 : Page de </a:t>
            </a:r>
            <a:r>
              <a:rPr lang="fr-FR" sz="1300" i="1" dirty="0" err="1">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connextion</a:t>
            </a:r>
            <a:endParaRPr lang="fr-FR" sz="1300" i="1" dirty="0">
              <a:solidFill>
                <a:srgbClr val="44546A"/>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1" name="Espace réservé du contenu 2">
            <a:extLst>
              <a:ext uri="{FF2B5EF4-FFF2-40B4-BE49-F238E27FC236}">
                <a16:creationId xmlns:a16="http://schemas.microsoft.com/office/drawing/2014/main" id="{70F4B2F8-A283-7627-78D3-F064146BCEA8}"/>
              </a:ext>
            </a:extLst>
          </p:cNvPr>
          <p:cNvSpPr>
            <a:spLocks noGrp="1"/>
          </p:cNvSpPr>
          <p:nvPr>
            <p:ph idx="1"/>
          </p:nvPr>
        </p:nvSpPr>
        <p:spPr>
          <a:xfrm>
            <a:off x="92019" y="182015"/>
            <a:ext cx="7338927" cy="628213"/>
          </a:xfrm>
        </p:spPr>
        <p:txBody>
          <a:bodyPr>
            <a:normAutofit/>
          </a:bodyPr>
          <a:lstStyle/>
          <a:p>
            <a:pPr marL="0" indent="0">
              <a:buNone/>
            </a:pPr>
            <a:r>
              <a:rPr lang="fr-FR" sz="2500" u="sng" dirty="0"/>
              <a:t>4.5 Réponse apportée pour la partie </a:t>
            </a:r>
            <a:r>
              <a:rPr lang="fr-FR" sz="2500" u="sng" dirty="0" err="1"/>
              <a:t>front-end</a:t>
            </a:r>
            <a:endParaRPr lang="fr-FR" sz="2500" u="sng" dirty="0"/>
          </a:p>
          <a:p>
            <a:pPr marL="0" indent="0">
              <a:buNone/>
            </a:pPr>
            <a:endParaRPr lang="fr-FR" sz="2300" dirty="0"/>
          </a:p>
          <a:p>
            <a:pPr marL="0" indent="0">
              <a:buNone/>
            </a:pPr>
            <a:endParaRPr lang="fr-FR" sz="2300" dirty="0"/>
          </a:p>
          <a:p>
            <a:pPr marL="0" indent="0">
              <a:buNone/>
            </a:pPr>
            <a:endParaRPr lang="fr-FR" sz="2300" dirty="0"/>
          </a:p>
          <a:p>
            <a:pPr marL="0" indent="0">
              <a:buNone/>
            </a:pPr>
            <a:endParaRPr lang="fr-FR" sz="2300" dirty="0"/>
          </a:p>
          <a:p>
            <a:pPr marL="0" indent="0">
              <a:buNone/>
            </a:pPr>
            <a:endParaRPr lang="fr-FR" sz="2300" dirty="0"/>
          </a:p>
          <a:p>
            <a:pPr marL="0" indent="0">
              <a:buNone/>
            </a:pPr>
            <a:endParaRPr lang="fr-FR" sz="2300" dirty="0"/>
          </a:p>
          <a:p>
            <a:pPr marL="0" indent="0">
              <a:buNone/>
            </a:pPr>
            <a:endParaRPr lang="fr-FR" sz="2300" dirty="0"/>
          </a:p>
          <a:p>
            <a:pPr marL="0" indent="0">
              <a:buNone/>
            </a:pPr>
            <a:endParaRPr lang="fr-FR" sz="2300" dirty="0"/>
          </a:p>
          <a:p>
            <a:pPr marL="0" indent="0">
              <a:buNone/>
            </a:pPr>
            <a:endParaRPr lang="fr-FR" sz="2300" dirty="0"/>
          </a:p>
        </p:txBody>
      </p:sp>
      <p:sp>
        <p:nvSpPr>
          <p:cNvPr id="3" name="Rectangle 2">
            <a:extLst>
              <a:ext uri="{FF2B5EF4-FFF2-40B4-BE49-F238E27FC236}">
                <a16:creationId xmlns:a16="http://schemas.microsoft.com/office/drawing/2014/main" id="{7B948004-DDB9-1195-8858-8213AC1F2BE0}"/>
              </a:ext>
            </a:extLst>
          </p:cNvPr>
          <p:cNvSpPr/>
          <p:nvPr/>
        </p:nvSpPr>
        <p:spPr>
          <a:xfrm>
            <a:off x="11272186" y="224303"/>
            <a:ext cx="648929" cy="294968"/>
          </a:xfrm>
          <a:prstGeom prst="rect">
            <a:avLst/>
          </a:prstGeom>
          <a:solidFill>
            <a:srgbClr val="FFC000"/>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400" dirty="0">
                <a:solidFill>
                  <a:schemeClr val="tx1"/>
                </a:solidFill>
              </a:rPr>
              <a:t>C13</a:t>
            </a:r>
          </a:p>
        </p:txBody>
      </p:sp>
    </p:spTree>
    <p:extLst>
      <p:ext uri="{BB962C8B-B14F-4D97-AF65-F5344CB8AC3E}">
        <p14:creationId xmlns:p14="http://schemas.microsoft.com/office/powerpoint/2010/main" val="9498433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4" descr="Une image contenant texte, capture d’écran, Police"/>
          <p:cNvPicPr/>
          <p:nvPr/>
        </p:nvPicPr>
        <p:blipFill>
          <a:blip r:embed="rId3">
            <a:extLst>
              <a:ext uri="{28A0092B-C50C-407E-A947-70E740481C1C}">
                <a14:useLocalDpi xmlns:a14="http://schemas.microsoft.com/office/drawing/2010/main" val="0"/>
              </a:ext>
            </a:extLst>
          </a:blip>
          <a:stretch>
            <a:fillRect/>
          </a:stretch>
        </p:blipFill>
        <p:spPr>
          <a:xfrm>
            <a:off x="174567" y="613056"/>
            <a:ext cx="4964592" cy="5743294"/>
          </a:xfrm>
          <a:prstGeom prst="rect">
            <a:avLst/>
          </a:prstGeom>
        </p:spPr>
      </p:pic>
      <p:pic>
        <p:nvPicPr>
          <p:cNvPr id="9" name="Image 8" descr="Une image contenant texte, capture d’écran, Police&#10;&#10;Description générée automatiquement"/>
          <p:cNvPicPr/>
          <p:nvPr/>
        </p:nvPicPr>
        <p:blipFill>
          <a:blip r:embed="rId4">
            <a:extLst>
              <a:ext uri="{28A0092B-C50C-407E-A947-70E740481C1C}">
                <a14:useLocalDpi xmlns:a14="http://schemas.microsoft.com/office/drawing/2010/main" val="0"/>
              </a:ext>
            </a:extLst>
          </a:blip>
          <a:stretch>
            <a:fillRect/>
          </a:stretch>
        </p:blipFill>
        <p:spPr>
          <a:xfrm>
            <a:off x="5399540" y="1284790"/>
            <a:ext cx="6510809" cy="4977114"/>
          </a:xfrm>
          <a:prstGeom prst="rect">
            <a:avLst/>
          </a:prstGeom>
        </p:spPr>
      </p:pic>
      <p:sp>
        <p:nvSpPr>
          <p:cNvPr id="2" name="Espace réservé du numéro de diapositive 1">
            <a:extLst>
              <a:ext uri="{FF2B5EF4-FFF2-40B4-BE49-F238E27FC236}">
                <a16:creationId xmlns:a16="http://schemas.microsoft.com/office/drawing/2014/main" id="{B43EAA50-324B-5536-C9EB-45900FE9CD33}"/>
              </a:ext>
            </a:extLst>
          </p:cNvPr>
          <p:cNvSpPr>
            <a:spLocks noGrp="1"/>
          </p:cNvSpPr>
          <p:nvPr>
            <p:ph type="sldNum" sz="quarter" idx="12"/>
          </p:nvPr>
        </p:nvSpPr>
        <p:spPr/>
        <p:txBody>
          <a:bodyPr/>
          <a:lstStyle/>
          <a:p>
            <a:fld id="{BA06AB71-0B36-4B80-B991-039F7D68F8CB}" type="slidenum">
              <a:rPr lang="fr-FR" smtClean="0"/>
              <a:t>33</a:t>
            </a:fld>
            <a:endParaRPr lang="fr-FR"/>
          </a:p>
        </p:txBody>
      </p:sp>
      <p:sp>
        <p:nvSpPr>
          <p:cNvPr id="4" name="ZoneTexte 3">
            <a:extLst>
              <a:ext uri="{FF2B5EF4-FFF2-40B4-BE49-F238E27FC236}">
                <a16:creationId xmlns:a16="http://schemas.microsoft.com/office/drawing/2014/main" id="{E0FB1136-83DB-B2C2-5E8A-5203A60B8BA6}"/>
              </a:ext>
            </a:extLst>
          </p:cNvPr>
          <p:cNvSpPr txBox="1"/>
          <p:nvPr/>
        </p:nvSpPr>
        <p:spPr>
          <a:xfrm>
            <a:off x="174567" y="6490538"/>
            <a:ext cx="5431781" cy="292388"/>
          </a:xfrm>
          <a:prstGeom prst="rect">
            <a:avLst/>
          </a:prstGeom>
          <a:noFill/>
        </p:spPr>
        <p:txBody>
          <a:bodyPr wrap="square" rtlCol="0">
            <a:spAutoFit/>
          </a:bodyPr>
          <a:lstStyle/>
          <a:p>
            <a:pPr>
              <a:spcAft>
                <a:spcPts val="1000"/>
              </a:spcAft>
            </a:pPr>
            <a:r>
              <a:rPr lang="fr-FR" sz="1300" i="1" dirty="0">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Figure </a:t>
            </a:r>
            <a:r>
              <a:rPr lang="fr-FR" sz="1300" i="1" dirty="0">
                <a:solidFill>
                  <a:srgbClr val="44546A"/>
                </a:solidFill>
                <a:latin typeface="Calibri" panose="020F0502020204030204" pitchFamily="34" charset="0"/>
                <a:ea typeface="Calibri" panose="020F0502020204030204" pitchFamily="34" charset="0"/>
                <a:cs typeface="Times New Roman" panose="02020603050405020304" pitchFamily="18" charset="0"/>
              </a:rPr>
              <a:t>33</a:t>
            </a:r>
            <a:r>
              <a:rPr lang="fr-FR" sz="1300" i="1" dirty="0">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 : Haut de page application</a:t>
            </a:r>
          </a:p>
        </p:txBody>
      </p:sp>
      <p:sp>
        <p:nvSpPr>
          <p:cNvPr id="6" name="ZoneTexte 5">
            <a:extLst>
              <a:ext uri="{FF2B5EF4-FFF2-40B4-BE49-F238E27FC236}">
                <a16:creationId xmlns:a16="http://schemas.microsoft.com/office/drawing/2014/main" id="{356F9AB9-C0B4-8FBC-248A-E778146FE9F2}"/>
              </a:ext>
            </a:extLst>
          </p:cNvPr>
          <p:cNvSpPr txBox="1"/>
          <p:nvPr/>
        </p:nvSpPr>
        <p:spPr>
          <a:xfrm>
            <a:off x="5414315" y="6523533"/>
            <a:ext cx="5431781" cy="292388"/>
          </a:xfrm>
          <a:prstGeom prst="rect">
            <a:avLst/>
          </a:prstGeom>
          <a:noFill/>
        </p:spPr>
        <p:txBody>
          <a:bodyPr wrap="square" rtlCol="0">
            <a:spAutoFit/>
          </a:bodyPr>
          <a:lstStyle/>
          <a:p>
            <a:pPr>
              <a:spcAft>
                <a:spcPts val="1000"/>
              </a:spcAft>
            </a:pPr>
            <a:r>
              <a:rPr lang="fr-FR" sz="1300" i="1" dirty="0">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Figure 34 : Bas de page application</a:t>
            </a:r>
          </a:p>
        </p:txBody>
      </p:sp>
    </p:spTree>
    <p:extLst>
      <p:ext uri="{BB962C8B-B14F-4D97-AF65-F5344CB8AC3E}">
        <p14:creationId xmlns:p14="http://schemas.microsoft.com/office/powerpoint/2010/main" val="127104700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6B409ECA-B691-5B1C-5CCA-878C261674CB}"/>
              </a:ext>
            </a:extLst>
          </p:cNvPr>
          <p:cNvSpPr>
            <a:spLocks noGrp="1"/>
          </p:cNvSpPr>
          <p:nvPr>
            <p:ph idx="1"/>
          </p:nvPr>
        </p:nvSpPr>
        <p:spPr>
          <a:xfrm>
            <a:off x="142385" y="106753"/>
            <a:ext cx="11891725" cy="6563395"/>
          </a:xfrm>
        </p:spPr>
        <p:txBody>
          <a:bodyPr>
            <a:normAutofit/>
          </a:bodyPr>
          <a:lstStyle/>
          <a:p>
            <a:pPr marL="0" indent="0">
              <a:buNone/>
            </a:pPr>
            <a:r>
              <a:rPr lang="fr-FR" sz="2500" u="sng" dirty="0"/>
              <a:t>4.6 </a:t>
            </a:r>
            <a:r>
              <a:rPr lang="fr-FR" sz="2500" u="sng" dirty="0" err="1"/>
              <a:t>Produre</a:t>
            </a:r>
            <a:r>
              <a:rPr lang="fr-FR" sz="2500" u="sng" dirty="0"/>
              <a:t> de mise en place de la base de données des prédictions</a:t>
            </a:r>
            <a:r>
              <a:rPr lang="fr-FR" sz="2500" dirty="0"/>
              <a:t> :</a:t>
            </a:r>
          </a:p>
          <a:p>
            <a:pPr marL="0" indent="0">
              <a:buNone/>
            </a:pPr>
            <a:endParaRPr lang="fr-FR" sz="2300" dirty="0"/>
          </a:p>
          <a:p>
            <a:pPr marL="0" indent="0">
              <a:buNone/>
            </a:pPr>
            <a:r>
              <a:rPr lang="fr-FR" sz="2300" dirty="0"/>
              <a:t>- Création des tables inspirées du script SQL obtenu sur </a:t>
            </a:r>
            <a:r>
              <a:rPr lang="fr-FR" sz="2300" dirty="0" err="1"/>
              <a:t>Jmerise</a:t>
            </a:r>
            <a:r>
              <a:rPr lang="fr-FR" sz="2300" dirty="0"/>
              <a:t> à partir du MCD</a:t>
            </a:r>
          </a:p>
        </p:txBody>
      </p:sp>
      <p:sp>
        <p:nvSpPr>
          <p:cNvPr id="4" name="Espace réservé du numéro de diapositive 3">
            <a:extLst>
              <a:ext uri="{FF2B5EF4-FFF2-40B4-BE49-F238E27FC236}">
                <a16:creationId xmlns:a16="http://schemas.microsoft.com/office/drawing/2014/main" id="{F9591056-74FE-7CD8-4B47-108A8ACA3AAA}"/>
              </a:ext>
            </a:extLst>
          </p:cNvPr>
          <p:cNvSpPr>
            <a:spLocks noGrp="1"/>
          </p:cNvSpPr>
          <p:nvPr>
            <p:ph type="sldNum" sz="quarter" idx="12"/>
          </p:nvPr>
        </p:nvSpPr>
        <p:spPr/>
        <p:txBody>
          <a:bodyPr/>
          <a:lstStyle/>
          <a:p>
            <a:fld id="{BA06AB71-0B36-4B80-B991-039F7D68F8CB}" type="slidenum">
              <a:rPr lang="fr-FR" smtClean="0"/>
              <a:t>34</a:t>
            </a:fld>
            <a:endParaRPr lang="fr-FR"/>
          </a:p>
        </p:txBody>
      </p:sp>
      <p:sp>
        <p:nvSpPr>
          <p:cNvPr id="5" name="ZoneTexte 4">
            <a:extLst>
              <a:ext uri="{FF2B5EF4-FFF2-40B4-BE49-F238E27FC236}">
                <a16:creationId xmlns:a16="http://schemas.microsoft.com/office/drawing/2014/main" id="{F6F03360-0CD2-B815-C7F0-9C4856DCE3EF}"/>
              </a:ext>
            </a:extLst>
          </p:cNvPr>
          <p:cNvSpPr txBox="1"/>
          <p:nvPr/>
        </p:nvSpPr>
        <p:spPr>
          <a:xfrm>
            <a:off x="365044" y="5609244"/>
            <a:ext cx="5431781" cy="292388"/>
          </a:xfrm>
          <a:prstGeom prst="rect">
            <a:avLst/>
          </a:prstGeom>
          <a:noFill/>
        </p:spPr>
        <p:txBody>
          <a:bodyPr wrap="square" rtlCol="0">
            <a:spAutoFit/>
          </a:bodyPr>
          <a:lstStyle/>
          <a:p>
            <a:pPr>
              <a:spcAft>
                <a:spcPts val="1000"/>
              </a:spcAft>
            </a:pPr>
            <a:r>
              <a:rPr lang="fr-FR" sz="1300" i="1" dirty="0">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Figure 35 : Création de la table </a:t>
            </a:r>
            <a:r>
              <a:rPr lang="fr-FR" sz="1300" i="1" dirty="0">
                <a:solidFill>
                  <a:srgbClr val="44546A"/>
                </a:solidFill>
                <a:latin typeface="Calibri" panose="020F0502020204030204" pitchFamily="34" charset="0"/>
                <a:ea typeface="Calibri" panose="020F0502020204030204" pitchFamily="34" charset="0"/>
                <a:cs typeface="Times New Roman" panose="02020603050405020304" pitchFamily="18" charset="0"/>
              </a:rPr>
              <a:t>user</a:t>
            </a:r>
            <a:r>
              <a:rPr lang="fr-FR" sz="1300" i="1" dirty="0">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 et </a:t>
            </a:r>
            <a:r>
              <a:rPr lang="fr-FR" sz="1300" i="1" dirty="0">
                <a:solidFill>
                  <a:srgbClr val="44546A"/>
                </a:solidFill>
                <a:latin typeface="Calibri" panose="020F0502020204030204" pitchFamily="34" charset="0"/>
                <a:ea typeface="Calibri" panose="020F0502020204030204" pitchFamily="34" charset="0"/>
                <a:cs typeface="Times New Roman" panose="02020603050405020304" pitchFamily="18" charset="0"/>
              </a:rPr>
              <a:t>insertion des données</a:t>
            </a:r>
            <a:endParaRPr lang="fr-FR" sz="1300" i="1" dirty="0">
              <a:solidFill>
                <a:srgbClr val="44546A"/>
              </a:solidFill>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7" name="Image 6">
            <a:extLst>
              <a:ext uri="{FF2B5EF4-FFF2-40B4-BE49-F238E27FC236}">
                <a16:creationId xmlns:a16="http://schemas.microsoft.com/office/drawing/2014/main" id="{B8790AE9-106F-6F7D-5AEA-4A06A49015A9}"/>
              </a:ext>
            </a:extLst>
          </p:cNvPr>
          <p:cNvPicPr>
            <a:picLocks noChangeAspect="1"/>
          </p:cNvPicPr>
          <p:nvPr/>
        </p:nvPicPr>
        <p:blipFill>
          <a:blip r:embed="rId3"/>
          <a:stretch>
            <a:fillRect/>
          </a:stretch>
        </p:blipFill>
        <p:spPr>
          <a:xfrm>
            <a:off x="350607" y="1529595"/>
            <a:ext cx="10892437" cy="3895909"/>
          </a:xfrm>
          <a:prstGeom prst="rect">
            <a:avLst/>
          </a:prstGeom>
        </p:spPr>
      </p:pic>
    </p:spTree>
    <p:extLst>
      <p:ext uri="{BB962C8B-B14F-4D97-AF65-F5344CB8AC3E}">
        <p14:creationId xmlns:p14="http://schemas.microsoft.com/office/powerpoint/2010/main" val="341258654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1F9E3D16-181D-A5F5-9937-2F99DEF85850}"/>
              </a:ext>
            </a:extLst>
          </p:cNvPr>
          <p:cNvSpPr>
            <a:spLocks noGrp="1"/>
          </p:cNvSpPr>
          <p:nvPr>
            <p:ph type="sldNum" sz="quarter" idx="12"/>
          </p:nvPr>
        </p:nvSpPr>
        <p:spPr/>
        <p:txBody>
          <a:bodyPr/>
          <a:lstStyle/>
          <a:p>
            <a:fld id="{BA06AB71-0B36-4B80-B991-039F7D68F8CB}" type="slidenum">
              <a:rPr lang="fr-FR" smtClean="0"/>
              <a:t>35</a:t>
            </a:fld>
            <a:endParaRPr lang="fr-FR"/>
          </a:p>
        </p:txBody>
      </p:sp>
      <p:sp>
        <p:nvSpPr>
          <p:cNvPr id="3" name="ZoneTexte 2">
            <a:extLst>
              <a:ext uri="{FF2B5EF4-FFF2-40B4-BE49-F238E27FC236}">
                <a16:creationId xmlns:a16="http://schemas.microsoft.com/office/drawing/2014/main" id="{29DA944F-A898-9D8B-9FE0-DB826DEE5432}"/>
              </a:ext>
            </a:extLst>
          </p:cNvPr>
          <p:cNvSpPr txBox="1"/>
          <p:nvPr/>
        </p:nvSpPr>
        <p:spPr>
          <a:xfrm>
            <a:off x="304812" y="6538912"/>
            <a:ext cx="5431781" cy="292388"/>
          </a:xfrm>
          <a:prstGeom prst="rect">
            <a:avLst/>
          </a:prstGeom>
          <a:noFill/>
        </p:spPr>
        <p:txBody>
          <a:bodyPr wrap="square" rtlCol="0">
            <a:spAutoFit/>
          </a:bodyPr>
          <a:lstStyle/>
          <a:p>
            <a:pPr>
              <a:spcAft>
                <a:spcPts val="1000"/>
              </a:spcAft>
            </a:pPr>
            <a:r>
              <a:rPr lang="fr-FR" sz="1300" i="1" dirty="0">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Figure 36 : Création de la table questionnaires</a:t>
            </a:r>
          </a:p>
        </p:txBody>
      </p:sp>
      <p:pic>
        <p:nvPicPr>
          <p:cNvPr id="6" name="Image 5">
            <a:extLst>
              <a:ext uri="{FF2B5EF4-FFF2-40B4-BE49-F238E27FC236}">
                <a16:creationId xmlns:a16="http://schemas.microsoft.com/office/drawing/2014/main" id="{2748AC66-4C4D-5CE3-9630-6DACED35C983}"/>
              </a:ext>
            </a:extLst>
          </p:cNvPr>
          <p:cNvPicPr>
            <a:picLocks noChangeAspect="1"/>
          </p:cNvPicPr>
          <p:nvPr/>
        </p:nvPicPr>
        <p:blipFill>
          <a:blip r:embed="rId3"/>
          <a:stretch>
            <a:fillRect/>
          </a:stretch>
        </p:blipFill>
        <p:spPr>
          <a:xfrm>
            <a:off x="304812" y="172894"/>
            <a:ext cx="6553177" cy="6279393"/>
          </a:xfrm>
          <a:prstGeom prst="rect">
            <a:avLst/>
          </a:prstGeom>
        </p:spPr>
      </p:pic>
      <p:sp>
        <p:nvSpPr>
          <p:cNvPr id="4" name="ZoneTexte 3"/>
          <p:cNvSpPr txBox="1"/>
          <p:nvPr/>
        </p:nvSpPr>
        <p:spPr>
          <a:xfrm>
            <a:off x="7178601" y="348400"/>
            <a:ext cx="5437804" cy="2215991"/>
          </a:xfrm>
          <a:prstGeom prst="rect">
            <a:avLst/>
          </a:prstGeom>
          <a:noFill/>
        </p:spPr>
        <p:txBody>
          <a:bodyPr wrap="square" rtlCol="0">
            <a:spAutoFit/>
          </a:bodyPr>
          <a:lstStyle/>
          <a:p>
            <a:r>
              <a:rPr lang="fr-FR" sz="2300" dirty="0"/>
              <a:t>- Test d'une insertion dans la base d’un questionnaire en python</a:t>
            </a:r>
          </a:p>
          <a:p>
            <a:endParaRPr lang="fr-FR" sz="2300" dirty="0"/>
          </a:p>
          <a:p>
            <a:r>
              <a:rPr lang="fr-FR" sz="2300" dirty="0"/>
              <a:t>- Test d’insertion via </a:t>
            </a:r>
            <a:r>
              <a:rPr lang="fr-FR" sz="2300" dirty="0" err="1"/>
              <a:t>FastAPI</a:t>
            </a:r>
            <a:endParaRPr lang="fr-FR" sz="2300" dirty="0"/>
          </a:p>
          <a:p>
            <a:endParaRPr lang="fr-FR" sz="2300" dirty="0"/>
          </a:p>
          <a:p>
            <a:r>
              <a:rPr lang="fr-FR" sz="2300" dirty="0"/>
              <a:t>- Tester d’insertion via l'application</a:t>
            </a:r>
          </a:p>
        </p:txBody>
      </p:sp>
    </p:spTree>
    <p:extLst>
      <p:ext uri="{BB962C8B-B14F-4D97-AF65-F5344CB8AC3E}">
        <p14:creationId xmlns:p14="http://schemas.microsoft.com/office/powerpoint/2010/main" val="50931057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p:cNvSpPr txBox="1"/>
          <p:nvPr/>
        </p:nvSpPr>
        <p:spPr>
          <a:xfrm>
            <a:off x="274320" y="224444"/>
            <a:ext cx="11446626" cy="3308598"/>
          </a:xfrm>
          <a:prstGeom prst="rect">
            <a:avLst/>
          </a:prstGeom>
          <a:noFill/>
        </p:spPr>
        <p:txBody>
          <a:bodyPr wrap="square" rtlCol="0">
            <a:spAutoFit/>
          </a:bodyPr>
          <a:lstStyle/>
          <a:p>
            <a:r>
              <a:rPr lang="fr-FR" sz="2500" u="sng" dirty="0"/>
              <a:t>4.7 Monitorage de l'application</a:t>
            </a:r>
          </a:p>
          <a:p>
            <a:endParaRPr lang="fr-FR" sz="2300" dirty="0"/>
          </a:p>
          <a:p>
            <a:r>
              <a:rPr lang="fr-FR" sz="2300" dirty="0"/>
              <a:t>Script python de </a:t>
            </a:r>
            <a:r>
              <a:rPr lang="fr-FR" sz="2300" dirty="0" err="1"/>
              <a:t>tracking</a:t>
            </a:r>
            <a:r>
              <a:rPr lang="fr-FR" sz="2300" dirty="0"/>
              <a:t> des performances</a:t>
            </a:r>
          </a:p>
          <a:p>
            <a:endParaRPr lang="fr-FR" sz="2300" dirty="0"/>
          </a:p>
          <a:p>
            <a:r>
              <a:rPr lang="fr-FR" sz="2300" dirty="0"/>
              <a:t>Effectue des requêtes d'API toutes les 5 secondes, les questionnaires insérés lors des tests sont automatiquement effacés de la base.</a:t>
            </a:r>
          </a:p>
          <a:p>
            <a:endParaRPr lang="fr-FR" sz="2300" dirty="0"/>
          </a:p>
          <a:p>
            <a:r>
              <a:rPr lang="fr-FR" sz="2300" dirty="0"/>
              <a:t>Envoi d'un mail en cas d'erreur</a:t>
            </a:r>
          </a:p>
          <a:p>
            <a:endParaRPr lang="fr-FR" sz="2300" u="sng" dirty="0"/>
          </a:p>
        </p:txBody>
      </p:sp>
      <p:sp>
        <p:nvSpPr>
          <p:cNvPr id="3" name="Espace réservé du numéro de diapositive 2">
            <a:extLst>
              <a:ext uri="{FF2B5EF4-FFF2-40B4-BE49-F238E27FC236}">
                <a16:creationId xmlns:a16="http://schemas.microsoft.com/office/drawing/2014/main" id="{9B6B62C4-31E2-59AD-FC2B-F1CE071E4464}"/>
              </a:ext>
            </a:extLst>
          </p:cNvPr>
          <p:cNvSpPr>
            <a:spLocks noGrp="1"/>
          </p:cNvSpPr>
          <p:nvPr>
            <p:ph type="sldNum" sz="quarter" idx="12"/>
          </p:nvPr>
        </p:nvSpPr>
        <p:spPr/>
        <p:txBody>
          <a:bodyPr/>
          <a:lstStyle/>
          <a:p>
            <a:fld id="{BA06AB71-0B36-4B80-B991-039F7D68F8CB}" type="slidenum">
              <a:rPr lang="fr-FR" smtClean="0"/>
              <a:t>36</a:t>
            </a:fld>
            <a:endParaRPr lang="fr-FR"/>
          </a:p>
        </p:txBody>
      </p:sp>
      <p:pic>
        <p:nvPicPr>
          <p:cNvPr id="5" name="Image 4">
            <a:extLst>
              <a:ext uri="{FF2B5EF4-FFF2-40B4-BE49-F238E27FC236}">
                <a16:creationId xmlns:a16="http://schemas.microsoft.com/office/drawing/2014/main" id="{EE5A752F-DFCD-8B60-9208-DC887933D782}"/>
              </a:ext>
            </a:extLst>
          </p:cNvPr>
          <p:cNvPicPr>
            <a:picLocks noChangeAspect="1"/>
          </p:cNvPicPr>
          <p:nvPr/>
        </p:nvPicPr>
        <p:blipFill>
          <a:blip r:embed="rId3"/>
          <a:stretch>
            <a:fillRect/>
          </a:stretch>
        </p:blipFill>
        <p:spPr>
          <a:xfrm>
            <a:off x="989495" y="3861642"/>
            <a:ext cx="3656776" cy="1462711"/>
          </a:xfrm>
          <a:prstGeom prst="rect">
            <a:avLst/>
          </a:prstGeom>
        </p:spPr>
      </p:pic>
      <p:sp>
        <p:nvSpPr>
          <p:cNvPr id="6" name="ZoneTexte 5">
            <a:extLst>
              <a:ext uri="{FF2B5EF4-FFF2-40B4-BE49-F238E27FC236}">
                <a16:creationId xmlns:a16="http://schemas.microsoft.com/office/drawing/2014/main" id="{74EDA618-F1EC-9DA2-E06A-A28B0D5ADC3D}"/>
              </a:ext>
            </a:extLst>
          </p:cNvPr>
          <p:cNvSpPr txBox="1"/>
          <p:nvPr/>
        </p:nvSpPr>
        <p:spPr>
          <a:xfrm>
            <a:off x="896898" y="5360565"/>
            <a:ext cx="5431781" cy="292388"/>
          </a:xfrm>
          <a:prstGeom prst="rect">
            <a:avLst/>
          </a:prstGeom>
          <a:noFill/>
        </p:spPr>
        <p:txBody>
          <a:bodyPr wrap="square" rtlCol="0">
            <a:spAutoFit/>
          </a:bodyPr>
          <a:lstStyle/>
          <a:p>
            <a:pPr>
              <a:spcAft>
                <a:spcPts val="1000"/>
              </a:spcAft>
            </a:pPr>
            <a:r>
              <a:rPr lang="fr-FR" sz="1300" i="1" dirty="0">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Figure 37 : </a:t>
            </a:r>
            <a:r>
              <a:rPr lang="fr-FR" sz="1300" i="1" dirty="0">
                <a:solidFill>
                  <a:srgbClr val="44546A"/>
                </a:solidFill>
                <a:latin typeface="Calibri" panose="020F0502020204030204" pitchFamily="34" charset="0"/>
                <a:ea typeface="Calibri" panose="020F0502020204030204" pitchFamily="34" charset="0"/>
                <a:cs typeface="Times New Roman" panose="02020603050405020304" pitchFamily="18" charset="0"/>
              </a:rPr>
              <a:t>Exemple de mails reçus avec une erreur</a:t>
            </a:r>
            <a:endParaRPr lang="fr-FR" sz="1300" i="1" dirty="0">
              <a:solidFill>
                <a:srgbClr val="44546A"/>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Rectangle 3">
            <a:extLst>
              <a:ext uri="{FF2B5EF4-FFF2-40B4-BE49-F238E27FC236}">
                <a16:creationId xmlns:a16="http://schemas.microsoft.com/office/drawing/2014/main" id="{70B7D3CF-DF35-EA9F-3C3A-16F0EA0AAF14}"/>
              </a:ext>
            </a:extLst>
          </p:cNvPr>
          <p:cNvSpPr/>
          <p:nvPr/>
        </p:nvSpPr>
        <p:spPr>
          <a:xfrm>
            <a:off x="11029335" y="363340"/>
            <a:ext cx="648929" cy="294968"/>
          </a:xfrm>
          <a:prstGeom prst="rect">
            <a:avLst/>
          </a:prstGeom>
          <a:solidFill>
            <a:srgbClr val="FFC000"/>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400" dirty="0">
                <a:solidFill>
                  <a:schemeClr val="tx1"/>
                </a:solidFill>
              </a:rPr>
              <a:t>C15</a:t>
            </a:r>
          </a:p>
        </p:txBody>
      </p:sp>
    </p:spTree>
    <p:extLst>
      <p:ext uri="{BB962C8B-B14F-4D97-AF65-F5344CB8AC3E}">
        <p14:creationId xmlns:p14="http://schemas.microsoft.com/office/powerpoint/2010/main" val="238451207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p:cNvSpPr txBox="1"/>
          <p:nvPr/>
        </p:nvSpPr>
        <p:spPr>
          <a:xfrm>
            <a:off x="145279" y="224443"/>
            <a:ext cx="6665719" cy="2600712"/>
          </a:xfrm>
          <a:prstGeom prst="rect">
            <a:avLst/>
          </a:prstGeom>
          <a:noFill/>
        </p:spPr>
        <p:txBody>
          <a:bodyPr wrap="square" rtlCol="0">
            <a:spAutoFit/>
          </a:bodyPr>
          <a:lstStyle/>
          <a:p>
            <a:r>
              <a:rPr lang="fr-FR" sz="2500" u="sng" dirty="0"/>
              <a:t>4.8 Tests automatisés</a:t>
            </a:r>
          </a:p>
          <a:p>
            <a:endParaRPr lang="fr-FR" sz="2300" u="sng" dirty="0"/>
          </a:p>
          <a:p>
            <a:r>
              <a:rPr lang="fr-FR" sz="2300" dirty="0"/>
              <a:t>Fichier .</a:t>
            </a:r>
            <a:r>
              <a:rPr lang="fr-FR" sz="2300" dirty="0" err="1"/>
              <a:t>yml</a:t>
            </a:r>
            <a:r>
              <a:rPr lang="fr-FR" sz="2300" dirty="0"/>
              <a:t> à la racine du répertoire </a:t>
            </a:r>
            <a:r>
              <a:rPr lang="fr-FR" sz="2300" dirty="0" err="1"/>
              <a:t>Github</a:t>
            </a:r>
            <a:r>
              <a:rPr lang="fr-FR" sz="2300" dirty="0"/>
              <a:t>.</a:t>
            </a:r>
          </a:p>
          <a:p>
            <a:endParaRPr lang="fr-FR" sz="2300" dirty="0"/>
          </a:p>
          <a:p>
            <a:r>
              <a:rPr lang="fr-FR" sz="2300" dirty="0"/>
              <a:t>Le fichier lance le script de test </a:t>
            </a:r>
            <a:r>
              <a:rPr lang="fr-FR" sz="2300" dirty="0" err="1"/>
              <a:t>Pytest</a:t>
            </a:r>
            <a:r>
              <a:rPr lang="fr-FR" sz="2300" dirty="0"/>
              <a:t> à chaque push et pull sur </a:t>
            </a:r>
            <a:r>
              <a:rPr lang="fr-FR" sz="2300" dirty="0" err="1"/>
              <a:t>github</a:t>
            </a:r>
            <a:r>
              <a:rPr lang="fr-FR" sz="2300" dirty="0"/>
              <a:t>.</a:t>
            </a:r>
          </a:p>
          <a:p>
            <a:endParaRPr lang="fr-FR" sz="2300" dirty="0"/>
          </a:p>
        </p:txBody>
      </p:sp>
      <p:pic>
        <p:nvPicPr>
          <p:cNvPr id="3" name="Image 2"/>
          <p:cNvPicPr>
            <a:picLocks noChangeAspect="1"/>
          </p:cNvPicPr>
          <p:nvPr/>
        </p:nvPicPr>
        <p:blipFill>
          <a:blip r:embed="rId3"/>
          <a:stretch>
            <a:fillRect/>
          </a:stretch>
        </p:blipFill>
        <p:spPr>
          <a:xfrm>
            <a:off x="6939978" y="257773"/>
            <a:ext cx="4252741" cy="6098577"/>
          </a:xfrm>
          <a:prstGeom prst="rect">
            <a:avLst/>
          </a:prstGeom>
        </p:spPr>
      </p:pic>
      <p:sp>
        <p:nvSpPr>
          <p:cNvPr id="5" name="Espace réservé du numéro de diapositive 4">
            <a:extLst>
              <a:ext uri="{FF2B5EF4-FFF2-40B4-BE49-F238E27FC236}">
                <a16:creationId xmlns:a16="http://schemas.microsoft.com/office/drawing/2014/main" id="{DD8B8DDE-C5A7-9CE8-93A7-58AB08487FE8}"/>
              </a:ext>
            </a:extLst>
          </p:cNvPr>
          <p:cNvSpPr>
            <a:spLocks noGrp="1"/>
          </p:cNvSpPr>
          <p:nvPr>
            <p:ph type="sldNum" sz="quarter" idx="12"/>
          </p:nvPr>
        </p:nvSpPr>
        <p:spPr/>
        <p:txBody>
          <a:bodyPr/>
          <a:lstStyle/>
          <a:p>
            <a:fld id="{BA06AB71-0B36-4B80-B991-039F7D68F8CB}" type="slidenum">
              <a:rPr lang="fr-FR" smtClean="0"/>
              <a:t>37</a:t>
            </a:fld>
            <a:endParaRPr lang="fr-FR" dirty="0"/>
          </a:p>
        </p:txBody>
      </p:sp>
      <p:sp>
        <p:nvSpPr>
          <p:cNvPr id="6" name="ZoneTexte 5">
            <a:extLst>
              <a:ext uri="{FF2B5EF4-FFF2-40B4-BE49-F238E27FC236}">
                <a16:creationId xmlns:a16="http://schemas.microsoft.com/office/drawing/2014/main" id="{5159B86C-8E2C-EB3B-C9F6-355B12B2A402}"/>
              </a:ext>
            </a:extLst>
          </p:cNvPr>
          <p:cNvSpPr txBox="1"/>
          <p:nvPr/>
        </p:nvSpPr>
        <p:spPr>
          <a:xfrm>
            <a:off x="6939978" y="6429087"/>
            <a:ext cx="5431781" cy="292388"/>
          </a:xfrm>
          <a:prstGeom prst="rect">
            <a:avLst/>
          </a:prstGeom>
          <a:noFill/>
        </p:spPr>
        <p:txBody>
          <a:bodyPr wrap="square" rtlCol="0">
            <a:spAutoFit/>
          </a:bodyPr>
          <a:lstStyle/>
          <a:p>
            <a:pPr>
              <a:spcAft>
                <a:spcPts val="1000"/>
              </a:spcAft>
            </a:pPr>
            <a:r>
              <a:rPr lang="fr-FR" sz="1300" i="1" dirty="0">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Figure </a:t>
            </a:r>
            <a:r>
              <a:rPr lang="fr-FR" sz="1300" i="1" dirty="0">
                <a:solidFill>
                  <a:srgbClr val="44546A"/>
                </a:solidFill>
                <a:latin typeface="Calibri" panose="020F0502020204030204" pitchFamily="34" charset="0"/>
                <a:ea typeface="Calibri" panose="020F0502020204030204" pitchFamily="34" charset="0"/>
                <a:cs typeface="Times New Roman" panose="02020603050405020304" pitchFamily="18" charset="0"/>
              </a:rPr>
              <a:t>39</a:t>
            </a:r>
            <a:r>
              <a:rPr lang="fr-FR" sz="1300" i="1" dirty="0">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 : Fichier .</a:t>
            </a:r>
            <a:r>
              <a:rPr lang="fr-FR" sz="1300" i="1" dirty="0" err="1">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yml</a:t>
            </a:r>
            <a:r>
              <a:rPr lang="fr-FR" sz="1300" i="1" dirty="0">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 pour </a:t>
            </a:r>
            <a:r>
              <a:rPr lang="fr-FR" sz="1300" i="1" dirty="0" err="1">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Github</a:t>
            </a:r>
            <a:r>
              <a:rPr lang="fr-FR" sz="1300" i="1" dirty="0">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 actions</a:t>
            </a:r>
          </a:p>
        </p:txBody>
      </p:sp>
      <p:sp>
        <p:nvSpPr>
          <p:cNvPr id="4" name="Rectangle 3">
            <a:extLst>
              <a:ext uri="{FF2B5EF4-FFF2-40B4-BE49-F238E27FC236}">
                <a16:creationId xmlns:a16="http://schemas.microsoft.com/office/drawing/2014/main" id="{E7B24DBD-F522-1D7F-3CF6-DB8D99FFBA46}"/>
              </a:ext>
            </a:extLst>
          </p:cNvPr>
          <p:cNvSpPr/>
          <p:nvPr/>
        </p:nvSpPr>
        <p:spPr>
          <a:xfrm>
            <a:off x="11346581" y="603396"/>
            <a:ext cx="648929" cy="294968"/>
          </a:xfrm>
          <a:prstGeom prst="rect">
            <a:avLst/>
          </a:prstGeom>
          <a:solidFill>
            <a:srgbClr val="FFC000"/>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400" dirty="0">
                <a:solidFill>
                  <a:schemeClr val="tx1"/>
                </a:solidFill>
              </a:rPr>
              <a:t>C12</a:t>
            </a:r>
          </a:p>
        </p:txBody>
      </p:sp>
      <p:pic>
        <p:nvPicPr>
          <p:cNvPr id="8" name="Image 7">
            <a:extLst>
              <a:ext uri="{FF2B5EF4-FFF2-40B4-BE49-F238E27FC236}">
                <a16:creationId xmlns:a16="http://schemas.microsoft.com/office/drawing/2014/main" id="{2D2EBAE7-C055-D9D8-6360-95E086DA293A}"/>
              </a:ext>
            </a:extLst>
          </p:cNvPr>
          <p:cNvPicPr>
            <a:picLocks noChangeAspect="1"/>
          </p:cNvPicPr>
          <p:nvPr/>
        </p:nvPicPr>
        <p:blipFill>
          <a:blip r:embed="rId4"/>
          <a:stretch>
            <a:fillRect/>
          </a:stretch>
        </p:blipFill>
        <p:spPr>
          <a:xfrm>
            <a:off x="258500" y="2711068"/>
            <a:ext cx="2496274" cy="4010407"/>
          </a:xfrm>
          <a:prstGeom prst="rect">
            <a:avLst/>
          </a:prstGeom>
        </p:spPr>
      </p:pic>
      <p:sp>
        <p:nvSpPr>
          <p:cNvPr id="9" name="ZoneTexte 8">
            <a:extLst>
              <a:ext uri="{FF2B5EF4-FFF2-40B4-BE49-F238E27FC236}">
                <a16:creationId xmlns:a16="http://schemas.microsoft.com/office/drawing/2014/main" id="{FA18C5D7-1A0E-1893-2489-3D0DB84EEC04}"/>
              </a:ext>
            </a:extLst>
          </p:cNvPr>
          <p:cNvSpPr txBox="1"/>
          <p:nvPr/>
        </p:nvSpPr>
        <p:spPr>
          <a:xfrm>
            <a:off x="2867995" y="6331040"/>
            <a:ext cx="3736326" cy="302517"/>
          </a:xfrm>
          <a:prstGeom prst="rect">
            <a:avLst/>
          </a:prstGeom>
          <a:noFill/>
        </p:spPr>
        <p:txBody>
          <a:bodyPr wrap="square" rtlCol="0">
            <a:spAutoFit/>
          </a:bodyPr>
          <a:lstStyle/>
          <a:p>
            <a:pPr>
              <a:spcAft>
                <a:spcPts val="1000"/>
              </a:spcAft>
            </a:pPr>
            <a:r>
              <a:rPr lang="fr-FR" sz="1300" i="1" dirty="0">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Figure </a:t>
            </a:r>
            <a:r>
              <a:rPr lang="fr-FR" sz="1300" i="1" dirty="0">
                <a:solidFill>
                  <a:srgbClr val="44546A"/>
                </a:solidFill>
                <a:latin typeface="Calibri" panose="020F0502020204030204" pitchFamily="34" charset="0"/>
                <a:ea typeface="Calibri" panose="020F0502020204030204" pitchFamily="34" charset="0"/>
                <a:cs typeface="Times New Roman" panose="02020603050405020304" pitchFamily="18" charset="0"/>
              </a:rPr>
              <a:t>38</a:t>
            </a:r>
            <a:r>
              <a:rPr lang="fr-FR" sz="1300" i="1" dirty="0">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 : </a:t>
            </a:r>
            <a:r>
              <a:rPr lang="fr-FR" sz="1300" i="1" dirty="0">
                <a:solidFill>
                  <a:srgbClr val="44546A"/>
                </a:solidFill>
                <a:latin typeface="Calibri" panose="020F0502020204030204" pitchFamily="34" charset="0"/>
                <a:ea typeface="Calibri" panose="020F0502020204030204" pitchFamily="34" charset="0"/>
                <a:cs typeface="Times New Roman" panose="02020603050405020304" pitchFamily="18" charset="0"/>
              </a:rPr>
              <a:t>Tests réussis sur </a:t>
            </a:r>
            <a:r>
              <a:rPr lang="fr-FR" sz="1300" i="1" dirty="0" err="1">
                <a:solidFill>
                  <a:srgbClr val="44546A"/>
                </a:solidFill>
                <a:latin typeface="Calibri" panose="020F0502020204030204" pitchFamily="34" charset="0"/>
                <a:ea typeface="Calibri" panose="020F0502020204030204" pitchFamily="34" charset="0"/>
                <a:cs typeface="Times New Roman" panose="02020603050405020304" pitchFamily="18" charset="0"/>
              </a:rPr>
              <a:t>Github</a:t>
            </a:r>
            <a:r>
              <a:rPr lang="fr-FR" sz="1300" i="1" dirty="0">
                <a:solidFill>
                  <a:srgbClr val="44546A"/>
                </a:solidFill>
                <a:latin typeface="Calibri" panose="020F0502020204030204" pitchFamily="34" charset="0"/>
                <a:ea typeface="Calibri" panose="020F0502020204030204" pitchFamily="34" charset="0"/>
                <a:cs typeface="Times New Roman" panose="02020603050405020304" pitchFamily="18" charset="0"/>
              </a:rPr>
              <a:t> actions</a:t>
            </a:r>
            <a:endParaRPr lang="fr-FR" sz="1300" i="1" dirty="0">
              <a:solidFill>
                <a:srgbClr val="44546A"/>
              </a:solidFill>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66180580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ce réservé du numéro de diapositive 4">
            <a:extLst>
              <a:ext uri="{FF2B5EF4-FFF2-40B4-BE49-F238E27FC236}">
                <a16:creationId xmlns:a16="http://schemas.microsoft.com/office/drawing/2014/main" id="{DD8B8DDE-C5A7-9CE8-93A7-58AB08487FE8}"/>
              </a:ext>
            </a:extLst>
          </p:cNvPr>
          <p:cNvSpPr>
            <a:spLocks noGrp="1"/>
          </p:cNvSpPr>
          <p:nvPr>
            <p:ph type="sldNum" sz="quarter" idx="12"/>
          </p:nvPr>
        </p:nvSpPr>
        <p:spPr/>
        <p:txBody>
          <a:bodyPr/>
          <a:lstStyle/>
          <a:p>
            <a:fld id="{BA06AB71-0B36-4B80-B991-039F7D68F8CB}" type="slidenum">
              <a:rPr lang="fr-FR" smtClean="0"/>
              <a:t>38</a:t>
            </a:fld>
            <a:endParaRPr lang="fr-FR" dirty="0"/>
          </a:p>
        </p:txBody>
      </p:sp>
      <p:sp>
        <p:nvSpPr>
          <p:cNvPr id="6" name="ZoneTexte 5">
            <a:extLst>
              <a:ext uri="{FF2B5EF4-FFF2-40B4-BE49-F238E27FC236}">
                <a16:creationId xmlns:a16="http://schemas.microsoft.com/office/drawing/2014/main" id="{5159B86C-8E2C-EB3B-C9F6-355B12B2A402}"/>
              </a:ext>
            </a:extLst>
          </p:cNvPr>
          <p:cNvSpPr txBox="1"/>
          <p:nvPr/>
        </p:nvSpPr>
        <p:spPr>
          <a:xfrm>
            <a:off x="1539432" y="5841371"/>
            <a:ext cx="5431781" cy="292388"/>
          </a:xfrm>
          <a:prstGeom prst="rect">
            <a:avLst/>
          </a:prstGeom>
          <a:noFill/>
        </p:spPr>
        <p:txBody>
          <a:bodyPr wrap="square" rtlCol="0">
            <a:spAutoFit/>
          </a:bodyPr>
          <a:lstStyle/>
          <a:p>
            <a:pPr>
              <a:spcAft>
                <a:spcPts val="1000"/>
              </a:spcAft>
            </a:pPr>
            <a:r>
              <a:rPr lang="fr-FR" sz="1300" i="1" dirty="0">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Figure </a:t>
            </a:r>
            <a:r>
              <a:rPr lang="fr-FR" sz="1300" i="1" dirty="0">
                <a:solidFill>
                  <a:srgbClr val="44546A"/>
                </a:solidFill>
                <a:latin typeface="Calibri" panose="020F0502020204030204" pitchFamily="34" charset="0"/>
                <a:ea typeface="Calibri" panose="020F0502020204030204" pitchFamily="34" charset="0"/>
                <a:cs typeface="Times New Roman" panose="02020603050405020304" pitchFamily="18" charset="0"/>
              </a:rPr>
              <a:t>39</a:t>
            </a:r>
            <a:r>
              <a:rPr lang="fr-FR" sz="1300" i="1" dirty="0">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 : Script de test de l’API</a:t>
            </a:r>
          </a:p>
        </p:txBody>
      </p:sp>
      <p:pic>
        <p:nvPicPr>
          <p:cNvPr id="7" name="Image 6">
            <a:extLst>
              <a:ext uri="{FF2B5EF4-FFF2-40B4-BE49-F238E27FC236}">
                <a16:creationId xmlns:a16="http://schemas.microsoft.com/office/drawing/2014/main" id="{5D3BF8B7-2C7E-4918-08DB-F8F22DE08DDB}"/>
              </a:ext>
            </a:extLst>
          </p:cNvPr>
          <p:cNvPicPr>
            <a:picLocks noChangeAspect="1"/>
          </p:cNvPicPr>
          <p:nvPr/>
        </p:nvPicPr>
        <p:blipFill>
          <a:blip r:embed="rId3"/>
          <a:stretch>
            <a:fillRect/>
          </a:stretch>
        </p:blipFill>
        <p:spPr>
          <a:xfrm>
            <a:off x="1539432" y="444110"/>
            <a:ext cx="8159049" cy="5148491"/>
          </a:xfrm>
          <a:prstGeom prst="rect">
            <a:avLst/>
          </a:prstGeom>
        </p:spPr>
      </p:pic>
    </p:spTree>
    <p:extLst>
      <p:ext uri="{BB962C8B-B14F-4D97-AF65-F5344CB8AC3E}">
        <p14:creationId xmlns:p14="http://schemas.microsoft.com/office/powerpoint/2010/main" val="238621345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ce réservé du numéro de diapositive 4">
            <a:extLst>
              <a:ext uri="{FF2B5EF4-FFF2-40B4-BE49-F238E27FC236}">
                <a16:creationId xmlns:a16="http://schemas.microsoft.com/office/drawing/2014/main" id="{DD8B8DDE-C5A7-9CE8-93A7-58AB08487FE8}"/>
              </a:ext>
            </a:extLst>
          </p:cNvPr>
          <p:cNvSpPr>
            <a:spLocks noGrp="1"/>
          </p:cNvSpPr>
          <p:nvPr>
            <p:ph type="sldNum" sz="quarter" idx="12"/>
          </p:nvPr>
        </p:nvSpPr>
        <p:spPr/>
        <p:txBody>
          <a:bodyPr/>
          <a:lstStyle/>
          <a:p>
            <a:fld id="{BA06AB71-0B36-4B80-B991-039F7D68F8CB}" type="slidenum">
              <a:rPr lang="fr-FR" smtClean="0"/>
              <a:t>39</a:t>
            </a:fld>
            <a:endParaRPr lang="fr-FR" dirty="0"/>
          </a:p>
        </p:txBody>
      </p:sp>
      <p:sp>
        <p:nvSpPr>
          <p:cNvPr id="2" name="ZoneTexte 1">
            <a:extLst>
              <a:ext uri="{FF2B5EF4-FFF2-40B4-BE49-F238E27FC236}">
                <a16:creationId xmlns:a16="http://schemas.microsoft.com/office/drawing/2014/main" id="{2E90C11F-8091-7377-C872-B8BC996E8E1B}"/>
              </a:ext>
            </a:extLst>
          </p:cNvPr>
          <p:cNvSpPr txBox="1"/>
          <p:nvPr/>
        </p:nvSpPr>
        <p:spPr>
          <a:xfrm>
            <a:off x="145279" y="212868"/>
            <a:ext cx="5431781" cy="6463308"/>
          </a:xfrm>
          <a:prstGeom prst="rect">
            <a:avLst/>
          </a:prstGeom>
          <a:noFill/>
        </p:spPr>
        <p:txBody>
          <a:bodyPr wrap="square" rtlCol="0">
            <a:spAutoFit/>
          </a:bodyPr>
          <a:lstStyle/>
          <a:p>
            <a:r>
              <a:rPr lang="fr-FR" sz="2500" u="sng" dirty="0"/>
              <a:t>4.9 Lancement de l’application</a:t>
            </a:r>
          </a:p>
          <a:p>
            <a:endParaRPr lang="fr-FR" sz="2500" u="sng" dirty="0"/>
          </a:p>
          <a:p>
            <a:endParaRPr lang="fr-FR" sz="2100" dirty="0"/>
          </a:p>
          <a:p>
            <a:r>
              <a:rPr lang="fr-FR" sz="2300" dirty="0"/>
              <a:t>Il faut au préalable avoir créé deux environnements virtuels, un dans app et un dans api, puis installer les requirements.txt,</a:t>
            </a:r>
          </a:p>
          <a:p>
            <a:r>
              <a:rPr lang="fr-FR" sz="2300" dirty="0"/>
              <a:t>et </a:t>
            </a:r>
            <a:r>
              <a:rPr lang="fr-FR" sz="2300" dirty="0" err="1"/>
              <a:t>éxécuter</a:t>
            </a:r>
            <a:r>
              <a:rPr lang="fr-FR" sz="2300" dirty="0"/>
              <a:t> le script .bat.</a:t>
            </a:r>
          </a:p>
          <a:p>
            <a:endParaRPr lang="fr-FR" sz="2300" dirty="0"/>
          </a:p>
          <a:p>
            <a:r>
              <a:rPr lang="fr-FR" sz="2300" dirty="0"/>
              <a:t>Le script ouvre 3 terminaux, ce qui permet de lancer à la fois le back, le front, et le </a:t>
            </a:r>
            <a:r>
              <a:rPr lang="fr-FR" sz="2300" dirty="0" err="1"/>
              <a:t>tracking</a:t>
            </a:r>
            <a:r>
              <a:rPr lang="fr-FR" sz="2300" dirty="0"/>
              <a:t>.</a:t>
            </a:r>
          </a:p>
          <a:p>
            <a:endParaRPr lang="fr-FR" sz="2300" dirty="0"/>
          </a:p>
          <a:p>
            <a:endParaRPr lang="fr-FR" sz="2300" dirty="0"/>
          </a:p>
          <a:p>
            <a:endParaRPr lang="fr-FR" sz="2300" dirty="0"/>
          </a:p>
          <a:p>
            <a:r>
              <a:rPr lang="fr-FR" sz="2300" dirty="0"/>
              <a:t>Démonstration vidéo</a:t>
            </a:r>
          </a:p>
          <a:p>
            <a:endParaRPr lang="fr-FR" sz="2100" dirty="0"/>
          </a:p>
          <a:p>
            <a:endParaRPr lang="fr-FR" sz="2300" u="sng" dirty="0"/>
          </a:p>
          <a:p>
            <a:endParaRPr lang="fr-FR" sz="2300" dirty="0"/>
          </a:p>
        </p:txBody>
      </p:sp>
      <p:pic>
        <p:nvPicPr>
          <p:cNvPr id="4" name="Image 3">
            <a:extLst>
              <a:ext uri="{FF2B5EF4-FFF2-40B4-BE49-F238E27FC236}">
                <a16:creationId xmlns:a16="http://schemas.microsoft.com/office/drawing/2014/main" id="{B7515140-3145-E3DB-A7ED-5F8E4A476A5A}"/>
              </a:ext>
            </a:extLst>
          </p:cNvPr>
          <p:cNvPicPr>
            <a:picLocks noChangeAspect="1"/>
          </p:cNvPicPr>
          <p:nvPr/>
        </p:nvPicPr>
        <p:blipFill>
          <a:blip r:embed="rId3"/>
          <a:stretch>
            <a:fillRect/>
          </a:stretch>
        </p:blipFill>
        <p:spPr>
          <a:xfrm>
            <a:off x="5640729" y="994193"/>
            <a:ext cx="5355220" cy="5170556"/>
          </a:xfrm>
          <a:prstGeom prst="rect">
            <a:avLst/>
          </a:prstGeom>
        </p:spPr>
      </p:pic>
      <p:sp>
        <p:nvSpPr>
          <p:cNvPr id="3" name="ZoneTexte 2">
            <a:extLst>
              <a:ext uri="{FF2B5EF4-FFF2-40B4-BE49-F238E27FC236}">
                <a16:creationId xmlns:a16="http://schemas.microsoft.com/office/drawing/2014/main" id="{96BF14CE-974B-E449-5631-5C70A0E28E9E}"/>
              </a:ext>
            </a:extLst>
          </p:cNvPr>
          <p:cNvSpPr txBox="1"/>
          <p:nvPr/>
        </p:nvSpPr>
        <p:spPr>
          <a:xfrm>
            <a:off x="5640729" y="6288265"/>
            <a:ext cx="5431781" cy="292388"/>
          </a:xfrm>
          <a:prstGeom prst="rect">
            <a:avLst/>
          </a:prstGeom>
          <a:noFill/>
        </p:spPr>
        <p:txBody>
          <a:bodyPr wrap="square" rtlCol="0">
            <a:spAutoFit/>
          </a:bodyPr>
          <a:lstStyle/>
          <a:p>
            <a:pPr>
              <a:spcAft>
                <a:spcPts val="1000"/>
              </a:spcAft>
            </a:pPr>
            <a:r>
              <a:rPr lang="fr-FR" sz="1300" i="1" dirty="0">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Figure 40 : Fichier de lancement</a:t>
            </a:r>
          </a:p>
        </p:txBody>
      </p:sp>
    </p:spTree>
    <p:extLst>
      <p:ext uri="{BB962C8B-B14F-4D97-AF65-F5344CB8AC3E}">
        <p14:creationId xmlns:p14="http://schemas.microsoft.com/office/powerpoint/2010/main" val="78945696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ce réservé du numéro de diapositive 4">
            <a:extLst>
              <a:ext uri="{FF2B5EF4-FFF2-40B4-BE49-F238E27FC236}">
                <a16:creationId xmlns:a16="http://schemas.microsoft.com/office/drawing/2014/main" id="{DD8B8DDE-C5A7-9CE8-93A7-58AB08487FE8}"/>
              </a:ext>
            </a:extLst>
          </p:cNvPr>
          <p:cNvSpPr>
            <a:spLocks noGrp="1"/>
          </p:cNvSpPr>
          <p:nvPr>
            <p:ph type="sldNum" sz="quarter" idx="12"/>
          </p:nvPr>
        </p:nvSpPr>
        <p:spPr/>
        <p:txBody>
          <a:bodyPr/>
          <a:lstStyle/>
          <a:p>
            <a:fld id="{BA06AB71-0B36-4B80-B991-039F7D68F8CB}" type="slidenum">
              <a:rPr lang="fr-FR" smtClean="0"/>
              <a:t>40</a:t>
            </a:fld>
            <a:endParaRPr lang="fr-FR" dirty="0"/>
          </a:p>
        </p:txBody>
      </p:sp>
      <p:sp>
        <p:nvSpPr>
          <p:cNvPr id="2" name="ZoneTexte 1">
            <a:extLst>
              <a:ext uri="{FF2B5EF4-FFF2-40B4-BE49-F238E27FC236}">
                <a16:creationId xmlns:a16="http://schemas.microsoft.com/office/drawing/2014/main" id="{2E90C11F-8091-7377-C872-B8BC996E8E1B}"/>
              </a:ext>
            </a:extLst>
          </p:cNvPr>
          <p:cNvSpPr txBox="1"/>
          <p:nvPr/>
        </p:nvSpPr>
        <p:spPr>
          <a:xfrm>
            <a:off x="295749" y="-13946"/>
            <a:ext cx="11267360" cy="7171194"/>
          </a:xfrm>
          <a:prstGeom prst="rect">
            <a:avLst/>
          </a:prstGeom>
          <a:noFill/>
        </p:spPr>
        <p:txBody>
          <a:bodyPr wrap="square" rtlCol="0">
            <a:spAutoFit/>
          </a:bodyPr>
          <a:lstStyle/>
          <a:p>
            <a:r>
              <a:rPr lang="fr-FR" sz="4400" dirty="0">
                <a:latin typeface="+mj-lt"/>
                <a:ea typeface="+mj-ea"/>
                <a:cs typeface="+mj-cs"/>
              </a:rPr>
              <a:t>5. Conclusion</a:t>
            </a:r>
          </a:p>
          <a:p>
            <a:endParaRPr lang="fr-FR" sz="2500" u="sng" dirty="0"/>
          </a:p>
          <a:p>
            <a:pPr marL="342900" indent="-342900">
              <a:buFontTx/>
              <a:buChar char="-"/>
            </a:pPr>
            <a:r>
              <a:rPr lang="fr-FR" sz="2300" dirty="0"/>
              <a:t>Nous avons pu explorer les relations entre les données du questionnaire</a:t>
            </a:r>
          </a:p>
          <a:p>
            <a:pPr marL="342900" indent="-342900">
              <a:buFontTx/>
              <a:buChar char="-"/>
            </a:pPr>
            <a:r>
              <a:rPr lang="fr-FR" sz="2300" dirty="0"/>
              <a:t>Construire une application de détection de problème de santé mentale à partir d’un questionnaire</a:t>
            </a:r>
          </a:p>
          <a:p>
            <a:endParaRPr lang="fr-FR" sz="2300" dirty="0"/>
          </a:p>
          <a:p>
            <a:r>
              <a:rPr lang="fr-FR" sz="2300" dirty="0"/>
              <a:t>Pour améliorer l’application : </a:t>
            </a:r>
          </a:p>
          <a:p>
            <a:endParaRPr lang="fr-FR" sz="2300" dirty="0"/>
          </a:p>
          <a:p>
            <a:pPr marL="342900" indent="-342900">
              <a:buFontTx/>
              <a:buChar char="-"/>
            </a:pPr>
            <a:r>
              <a:rPr lang="fr-FR" sz="2300" dirty="0"/>
              <a:t>Recueillir des données qui auraient un rapport plus important avec les problèmes de santé mentale, pour avoir une détection plus pertinente</a:t>
            </a:r>
          </a:p>
          <a:p>
            <a:pPr marL="342900" indent="-342900">
              <a:buFontTx/>
              <a:buChar char="-"/>
            </a:pPr>
            <a:r>
              <a:rPr lang="fr-FR" sz="2300" dirty="0"/>
              <a:t>Implémenter un taux de certitude dans la prédiction, à partir duquel on pourrait donner des réponses sûres</a:t>
            </a:r>
          </a:p>
          <a:p>
            <a:endParaRPr lang="fr-FR" sz="2300" dirty="0"/>
          </a:p>
          <a:p>
            <a:r>
              <a:rPr lang="fr-FR" sz="2300" dirty="0"/>
              <a:t>Les clients pourraient être les hôpitaux, on pourrait aussi faire un site internet de détection en libre accès, financé avec de la pub.</a:t>
            </a:r>
          </a:p>
          <a:p>
            <a:endParaRPr lang="fr-FR" sz="2300" u="sng" dirty="0"/>
          </a:p>
          <a:p>
            <a:r>
              <a:rPr lang="fr-FR" sz="2300" dirty="0"/>
              <a:t>On pourrait aussi réaliser une prise en charge psychologique via l’application (conseils sociologiques, philosophiques, bonnes habitudes, sport, marche, cuisine). </a:t>
            </a:r>
          </a:p>
          <a:p>
            <a:endParaRPr lang="fr-FR" sz="2300" dirty="0"/>
          </a:p>
        </p:txBody>
      </p:sp>
    </p:spTree>
    <p:extLst>
      <p:ext uri="{BB962C8B-B14F-4D97-AF65-F5344CB8AC3E}">
        <p14:creationId xmlns:p14="http://schemas.microsoft.com/office/powerpoint/2010/main" val="347395136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06433" y="198871"/>
            <a:ext cx="10515600" cy="723842"/>
          </a:xfrm>
        </p:spPr>
        <p:txBody>
          <a:bodyPr/>
          <a:lstStyle/>
          <a:p>
            <a:r>
              <a:rPr lang="fr-FR" dirty="0"/>
              <a:t>Références</a:t>
            </a:r>
          </a:p>
        </p:txBody>
      </p:sp>
      <p:sp>
        <p:nvSpPr>
          <p:cNvPr id="3" name="Espace réservé du contenu 2"/>
          <p:cNvSpPr>
            <a:spLocks noGrp="1"/>
          </p:cNvSpPr>
          <p:nvPr>
            <p:ph idx="1"/>
          </p:nvPr>
        </p:nvSpPr>
        <p:spPr>
          <a:xfrm>
            <a:off x="206433" y="1165715"/>
            <a:ext cx="10515600" cy="5373197"/>
          </a:xfrm>
        </p:spPr>
        <p:txBody>
          <a:bodyPr>
            <a:normAutofit/>
          </a:bodyPr>
          <a:lstStyle/>
          <a:p>
            <a:pPr marL="0" indent="0">
              <a:buNone/>
            </a:pPr>
            <a:r>
              <a:rPr lang="fr-FR" sz="2000" u="sng" dirty="0"/>
              <a:t>Contexte :</a:t>
            </a:r>
          </a:p>
          <a:p>
            <a:r>
              <a:rPr lang="fr-FR" sz="2000" dirty="0"/>
              <a:t>https://www.who.int/fr/news/item/02-03-2022-covid-19-pandemic-triggers-25-increase-in-prevalence-of-anxiety-and-depression-worldwide</a:t>
            </a:r>
          </a:p>
          <a:p>
            <a:r>
              <a:rPr lang="fr-FR" sz="2000" dirty="0"/>
              <a:t>https://www.ipsos.com/fr-fr/le-monde-en-chiffres-la-sante-mentale-des-francais</a:t>
            </a:r>
          </a:p>
          <a:p>
            <a:pPr marL="0" indent="0">
              <a:buNone/>
            </a:pPr>
            <a:endParaRPr lang="fr-FR" sz="2000" dirty="0"/>
          </a:p>
          <a:p>
            <a:pPr marL="0" indent="0">
              <a:buNone/>
            </a:pPr>
            <a:r>
              <a:rPr lang="fr-FR" sz="2000" u="sng" dirty="0" err="1"/>
              <a:t>Dataset</a:t>
            </a:r>
            <a:r>
              <a:rPr lang="fr-FR" sz="2000" u="sng" dirty="0"/>
              <a:t> :</a:t>
            </a:r>
            <a:r>
              <a:rPr lang="fr-FR" sz="2000" dirty="0"/>
              <a:t> </a:t>
            </a:r>
          </a:p>
          <a:p>
            <a:r>
              <a:rPr lang="fr-FR" sz="2000" dirty="0"/>
              <a:t>https://www.kaggle.com/datasets/osmi/mental-health-in-tech-survey/data</a:t>
            </a:r>
          </a:p>
          <a:p>
            <a:pPr marL="0" indent="0">
              <a:buNone/>
            </a:pPr>
            <a:endParaRPr lang="fr-FR" sz="2000" dirty="0"/>
          </a:p>
          <a:p>
            <a:pPr marL="0" indent="0">
              <a:buNone/>
            </a:pPr>
            <a:r>
              <a:rPr lang="fr-FR" sz="2000" u="sng" dirty="0"/>
              <a:t>Références veille technique :</a:t>
            </a:r>
          </a:p>
          <a:p>
            <a:r>
              <a:rPr lang="fr-FR" sz="2000" dirty="0"/>
              <a:t>https://datascientest.com/algorithme-de-classification-definition-et-principaux-modeles.</a:t>
            </a:r>
          </a:p>
          <a:p>
            <a:r>
              <a:rPr lang="fr-FR" sz="2000" dirty="0" err="1"/>
              <a:t>Machine_learnia</a:t>
            </a:r>
            <a:r>
              <a:rPr lang="fr-FR" sz="2000" dirty="0"/>
              <a:t>. https://www.youtube.com/watch?v=EUD07IiviJg&amp;list=PLO_fdPEVlfKqUF5BPKjGSh7aV9aBshrpY.</a:t>
            </a:r>
          </a:p>
          <a:p>
            <a:r>
              <a:rPr lang="fr-FR" sz="2000" dirty="0" err="1"/>
              <a:t>ChatGPT</a:t>
            </a:r>
            <a:r>
              <a:rPr lang="fr-FR" sz="2000" dirty="0"/>
              <a:t>. https://chat.openai.com/.</a:t>
            </a:r>
          </a:p>
          <a:p>
            <a:r>
              <a:rPr lang="fr-FR" sz="2000" dirty="0" err="1"/>
              <a:t>Statquest</a:t>
            </a:r>
            <a:r>
              <a:rPr lang="fr-FR" sz="2000" dirty="0"/>
              <a:t>. https://www.youtube.com/watch?v=_L39rN6gz7Y&amp;t=813s</a:t>
            </a:r>
          </a:p>
        </p:txBody>
      </p:sp>
      <p:sp>
        <p:nvSpPr>
          <p:cNvPr id="4" name="Espace réservé du numéro de diapositive 3">
            <a:extLst>
              <a:ext uri="{FF2B5EF4-FFF2-40B4-BE49-F238E27FC236}">
                <a16:creationId xmlns:a16="http://schemas.microsoft.com/office/drawing/2014/main" id="{FFB4440B-008E-876A-E874-9CC32E7D378C}"/>
              </a:ext>
            </a:extLst>
          </p:cNvPr>
          <p:cNvSpPr>
            <a:spLocks noGrp="1"/>
          </p:cNvSpPr>
          <p:nvPr>
            <p:ph type="sldNum" sz="quarter" idx="12"/>
          </p:nvPr>
        </p:nvSpPr>
        <p:spPr/>
        <p:txBody>
          <a:bodyPr/>
          <a:lstStyle/>
          <a:p>
            <a:fld id="{BA06AB71-0B36-4B80-B991-039F7D68F8CB}" type="slidenum">
              <a:rPr lang="fr-FR" smtClean="0"/>
              <a:t>41</a:t>
            </a:fld>
            <a:endParaRPr lang="fr-FR"/>
          </a:p>
        </p:txBody>
      </p:sp>
    </p:spTree>
    <p:extLst>
      <p:ext uri="{BB962C8B-B14F-4D97-AF65-F5344CB8AC3E}">
        <p14:creationId xmlns:p14="http://schemas.microsoft.com/office/powerpoint/2010/main" val="151080144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189806" y="1115693"/>
            <a:ext cx="7148542" cy="569960"/>
          </a:xfrm>
        </p:spPr>
        <p:txBody>
          <a:bodyPr>
            <a:normAutofit/>
          </a:bodyPr>
          <a:lstStyle/>
          <a:p>
            <a:pPr marL="0" indent="0">
              <a:buNone/>
            </a:pPr>
            <a:r>
              <a:rPr lang="fr-FR" sz="2300" u="sng" dirty="0"/>
              <a:t>Exemple de requêtes sur la BDD analytique (C2) :</a:t>
            </a:r>
          </a:p>
          <a:p>
            <a:pPr marL="0" indent="0">
              <a:buNone/>
            </a:pPr>
            <a:endParaRPr lang="fr-FR" sz="1200" dirty="0"/>
          </a:p>
        </p:txBody>
      </p:sp>
      <p:pic>
        <p:nvPicPr>
          <p:cNvPr id="4" name="Image 3"/>
          <p:cNvPicPr>
            <a:picLocks noChangeAspect="1"/>
          </p:cNvPicPr>
          <p:nvPr/>
        </p:nvPicPr>
        <p:blipFill>
          <a:blip r:embed="rId2"/>
          <a:stretch>
            <a:fillRect/>
          </a:stretch>
        </p:blipFill>
        <p:spPr>
          <a:xfrm>
            <a:off x="256310" y="1724589"/>
            <a:ext cx="8486775" cy="1152525"/>
          </a:xfrm>
          <a:prstGeom prst="rect">
            <a:avLst/>
          </a:prstGeom>
        </p:spPr>
      </p:pic>
      <p:sp>
        <p:nvSpPr>
          <p:cNvPr id="5" name="Espace réservé du numéro de diapositive 4">
            <a:extLst>
              <a:ext uri="{FF2B5EF4-FFF2-40B4-BE49-F238E27FC236}">
                <a16:creationId xmlns:a16="http://schemas.microsoft.com/office/drawing/2014/main" id="{7BC38B4D-B3FA-615A-8AC6-4AABDD61B85E}"/>
              </a:ext>
            </a:extLst>
          </p:cNvPr>
          <p:cNvSpPr>
            <a:spLocks noGrp="1"/>
          </p:cNvSpPr>
          <p:nvPr>
            <p:ph type="sldNum" sz="quarter" idx="12"/>
          </p:nvPr>
        </p:nvSpPr>
        <p:spPr/>
        <p:txBody>
          <a:bodyPr/>
          <a:lstStyle/>
          <a:p>
            <a:fld id="{BA06AB71-0B36-4B80-B991-039F7D68F8CB}" type="slidenum">
              <a:rPr lang="fr-FR" smtClean="0"/>
              <a:t>42</a:t>
            </a:fld>
            <a:endParaRPr lang="fr-FR"/>
          </a:p>
        </p:txBody>
      </p:sp>
      <p:sp>
        <p:nvSpPr>
          <p:cNvPr id="6" name="ZoneTexte 5">
            <a:extLst>
              <a:ext uri="{FF2B5EF4-FFF2-40B4-BE49-F238E27FC236}">
                <a16:creationId xmlns:a16="http://schemas.microsoft.com/office/drawing/2014/main" id="{E56897A5-E21B-6E54-7BE4-162E3EFC1A0A}"/>
              </a:ext>
            </a:extLst>
          </p:cNvPr>
          <p:cNvSpPr txBox="1"/>
          <p:nvPr/>
        </p:nvSpPr>
        <p:spPr>
          <a:xfrm>
            <a:off x="256310" y="2930355"/>
            <a:ext cx="5431781" cy="292388"/>
          </a:xfrm>
          <a:prstGeom prst="rect">
            <a:avLst/>
          </a:prstGeom>
          <a:noFill/>
        </p:spPr>
        <p:txBody>
          <a:bodyPr wrap="square" rtlCol="0">
            <a:spAutoFit/>
          </a:bodyPr>
          <a:lstStyle/>
          <a:p>
            <a:pPr>
              <a:spcAft>
                <a:spcPts val="1000"/>
              </a:spcAft>
            </a:pPr>
            <a:r>
              <a:rPr lang="fr-FR" sz="1300" i="1" dirty="0">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Figure </a:t>
            </a:r>
            <a:r>
              <a:rPr lang="fr-FR" sz="1300" i="1" dirty="0">
                <a:solidFill>
                  <a:srgbClr val="44546A"/>
                </a:solidFill>
                <a:latin typeface="Calibri" panose="020F0502020204030204" pitchFamily="34" charset="0"/>
                <a:ea typeface="Calibri" panose="020F0502020204030204" pitchFamily="34" charset="0"/>
                <a:cs typeface="Times New Roman" panose="02020603050405020304" pitchFamily="18" charset="0"/>
              </a:rPr>
              <a:t>41</a:t>
            </a:r>
            <a:r>
              <a:rPr lang="fr-FR" sz="1300" i="1" dirty="0">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 : Exemple de requêtes sur la </a:t>
            </a:r>
            <a:r>
              <a:rPr lang="fr-FR" sz="1300" i="1" dirty="0" err="1">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bdd</a:t>
            </a:r>
            <a:endParaRPr lang="fr-FR" sz="1300" i="1" dirty="0">
              <a:solidFill>
                <a:srgbClr val="44546A"/>
              </a:solidFill>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7" name="Image 6">
            <a:extLst>
              <a:ext uri="{FF2B5EF4-FFF2-40B4-BE49-F238E27FC236}">
                <a16:creationId xmlns:a16="http://schemas.microsoft.com/office/drawing/2014/main" id="{3EA7DB2E-A241-16EE-45CA-C3E231A6F4A9}"/>
              </a:ext>
            </a:extLst>
          </p:cNvPr>
          <p:cNvPicPr>
            <a:picLocks noChangeAspect="1"/>
          </p:cNvPicPr>
          <p:nvPr/>
        </p:nvPicPr>
        <p:blipFill>
          <a:blip r:embed="rId3"/>
          <a:stretch>
            <a:fillRect/>
          </a:stretch>
        </p:blipFill>
        <p:spPr>
          <a:xfrm>
            <a:off x="256310" y="3897596"/>
            <a:ext cx="8687590" cy="2458754"/>
          </a:xfrm>
          <a:prstGeom prst="rect">
            <a:avLst/>
          </a:prstGeom>
        </p:spPr>
      </p:pic>
      <p:sp>
        <p:nvSpPr>
          <p:cNvPr id="2" name="Espace réservé du contenu 2">
            <a:extLst>
              <a:ext uri="{FF2B5EF4-FFF2-40B4-BE49-F238E27FC236}">
                <a16:creationId xmlns:a16="http://schemas.microsoft.com/office/drawing/2014/main" id="{6CF6472F-096D-2B38-FDFC-501C9145EEED}"/>
              </a:ext>
            </a:extLst>
          </p:cNvPr>
          <p:cNvSpPr txBox="1">
            <a:spLocks/>
          </p:cNvSpPr>
          <p:nvPr/>
        </p:nvSpPr>
        <p:spPr>
          <a:xfrm>
            <a:off x="189806" y="3357572"/>
            <a:ext cx="8226406" cy="48678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fr-FR" sz="2300" u="sng" dirty="0"/>
              <a:t>Fonction de récupération des données sur la BDD analytique (C4) :</a:t>
            </a:r>
          </a:p>
          <a:p>
            <a:pPr marL="0" indent="0">
              <a:buFont typeface="Arial" panose="020B0604020202020204" pitchFamily="34" charset="0"/>
              <a:buNone/>
            </a:pPr>
            <a:endParaRPr lang="fr-FR" sz="1200" dirty="0"/>
          </a:p>
        </p:txBody>
      </p:sp>
      <p:sp>
        <p:nvSpPr>
          <p:cNvPr id="8" name="ZoneTexte 7">
            <a:extLst>
              <a:ext uri="{FF2B5EF4-FFF2-40B4-BE49-F238E27FC236}">
                <a16:creationId xmlns:a16="http://schemas.microsoft.com/office/drawing/2014/main" id="{CAE6F281-79D4-9DED-018E-BBD2274340D8}"/>
              </a:ext>
            </a:extLst>
          </p:cNvPr>
          <p:cNvSpPr txBox="1"/>
          <p:nvPr/>
        </p:nvSpPr>
        <p:spPr>
          <a:xfrm>
            <a:off x="189806" y="6419060"/>
            <a:ext cx="5431781" cy="292388"/>
          </a:xfrm>
          <a:prstGeom prst="rect">
            <a:avLst/>
          </a:prstGeom>
          <a:noFill/>
        </p:spPr>
        <p:txBody>
          <a:bodyPr wrap="square" rtlCol="0">
            <a:spAutoFit/>
          </a:bodyPr>
          <a:lstStyle/>
          <a:p>
            <a:pPr>
              <a:spcAft>
                <a:spcPts val="1000"/>
              </a:spcAft>
            </a:pPr>
            <a:r>
              <a:rPr lang="fr-FR" sz="1300" i="1" dirty="0">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Figure </a:t>
            </a:r>
            <a:r>
              <a:rPr lang="fr-FR" sz="1300" i="1" dirty="0">
                <a:solidFill>
                  <a:srgbClr val="44546A"/>
                </a:solidFill>
                <a:latin typeface="Calibri" panose="020F0502020204030204" pitchFamily="34" charset="0"/>
                <a:ea typeface="Calibri" panose="020F0502020204030204" pitchFamily="34" charset="0"/>
                <a:cs typeface="Times New Roman" panose="02020603050405020304" pitchFamily="18" charset="0"/>
              </a:rPr>
              <a:t>42</a:t>
            </a:r>
            <a:r>
              <a:rPr lang="fr-FR" sz="1300" i="1" dirty="0">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 : </a:t>
            </a:r>
            <a:r>
              <a:rPr lang="fr-FR" sz="1300" i="1" dirty="0"/>
              <a:t>Fonction de récupération des données sur la BDD analytique </a:t>
            </a:r>
            <a:endParaRPr lang="fr-FR" sz="1300" i="1" dirty="0">
              <a:solidFill>
                <a:srgbClr val="44546A"/>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9" name="Titre 1">
            <a:extLst>
              <a:ext uri="{FF2B5EF4-FFF2-40B4-BE49-F238E27FC236}">
                <a16:creationId xmlns:a16="http://schemas.microsoft.com/office/drawing/2014/main" id="{E14585E1-109A-25D3-4159-BC5C0F2D139A}"/>
              </a:ext>
            </a:extLst>
          </p:cNvPr>
          <p:cNvSpPr>
            <a:spLocks noGrp="1"/>
          </p:cNvSpPr>
          <p:nvPr>
            <p:ph type="title"/>
          </p:nvPr>
        </p:nvSpPr>
        <p:spPr>
          <a:xfrm>
            <a:off x="189806" y="160510"/>
            <a:ext cx="10515600" cy="682279"/>
          </a:xfrm>
        </p:spPr>
        <p:txBody>
          <a:bodyPr>
            <a:noAutofit/>
          </a:bodyPr>
          <a:lstStyle/>
          <a:p>
            <a:r>
              <a:rPr lang="fr-FR" dirty="0"/>
              <a:t>Annexe</a:t>
            </a:r>
          </a:p>
        </p:txBody>
      </p:sp>
    </p:spTree>
    <p:extLst>
      <p:ext uri="{BB962C8B-B14F-4D97-AF65-F5344CB8AC3E}">
        <p14:creationId xmlns:p14="http://schemas.microsoft.com/office/powerpoint/2010/main" val="400370110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189807" y="212907"/>
            <a:ext cx="7148542" cy="569960"/>
          </a:xfrm>
        </p:spPr>
        <p:txBody>
          <a:bodyPr>
            <a:normAutofit/>
          </a:bodyPr>
          <a:lstStyle/>
          <a:p>
            <a:pPr marL="0" indent="0">
              <a:buNone/>
            </a:pPr>
            <a:r>
              <a:rPr lang="fr-FR" sz="2300" u="sng" dirty="0"/>
              <a:t>Script de </a:t>
            </a:r>
            <a:r>
              <a:rPr lang="fr-FR" sz="2300" u="sng" dirty="0" err="1"/>
              <a:t>tracking</a:t>
            </a:r>
            <a:r>
              <a:rPr lang="fr-FR" sz="2300" u="sng" dirty="0"/>
              <a:t> des performances de l’application (C15) :</a:t>
            </a:r>
          </a:p>
          <a:p>
            <a:pPr marL="0" indent="0">
              <a:buNone/>
            </a:pPr>
            <a:endParaRPr lang="fr-FR" sz="1200" dirty="0"/>
          </a:p>
        </p:txBody>
      </p:sp>
      <p:sp>
        <p:nvSpPr>
          <p:cNvPr id="5" name="Espace réservé du numéro de diapositive 4">
            <a:extLst>
              <a:ext uri="{FF2B5EF4-FFF2-40B4-BE49-F238E27FC236}">
                <a16:creationId xmlns:a16="http://schemas.microsoft.com/office/drawing/2014/main" id="{7BC38B4D-B3FA-615A-8AC6-4AABDD61B85E}"/>
              </a:ext>
            </a:extLst>
          </p:cNvPr>
          <p:cNvSpPr>
            <a:spLocks noGrp="1"/>
          </p:cNvSpPr>
          <p:nvPr>
            <p:ph type="sldNum" sz="quarter" idx="12"/>
          </p:nvPr>
        </p:nvSpPr>
        <p:spPr/>
        <p:txBody>
          <a:bodyPr/>
          <a:lstStyle/>
          <a:p>
            <a:fld id="{BA06AB71-0B36-4B80-B991-039F7D68F8CB}" type="slidenum">
              <a:rPr lang="fr-FR" smtClean="0"/>
              <a:t>43</a:t>
            </a:fld>
            <a:endParaRPr lang="fr-FR"/>
          </a:p>
        </p:txBody>
      </p:sp>
      <p:sp>
        <p:nvSpPr>
          <p:cNvPr id="8" name="ZoneTexte 7">
            <a:extLst>
              <a:ext uri="{FF2B5EF4-FFF2-40B4-BE49-F238E27FC236}">
                <a16:creationId xmlns:a16="http://schemas.microsoft.com/office/drawing/2014/main" id="{CAE6F281-79D4-9DED-018E-BBD2274340D8}"/>
              </a:ext>
            </a:extLst>
          </p:cNvPr>
          <p:cNvSpPr txBox="1"/>
          <p:nvPr/>
        </p:nvSpPr>
        <p:spPr>
          <a:xfrm>
            <a:off x="189807" y="6392718"/>
            <a:ext cx="5431781" cy="292388"/>
          </a:xfrm>
          <a:prstGeom prst="rect">
            <a:avLst/>
          </a:prstGeom>
          <a:noFill/>
        </p:spPr>
        <p:txBody>
          <a:bodyPr wrap="square" rtlCol="0">
            <a:spAutoFit/>
          </a:bodyPr>
          <a:lstStyle/>
          <a:p>
            <a:pPr>
              <a:spcAft>
                <a:spcPts val="1000"/>
              </a:spcAft>
            </a:pPr>
            <a:r>
              <a:rPr lang="fr-FR" sz="1300" i="1" dirty="0">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Figure </a:t>
            </a:r>
            <a:r>
              <a:rPr lang="fr-FR" sz="1300" i="1" dirty="0">
                <a:solidFill>
                  <a:srgbClr val="44546A"/>
                </a:solidFill>
                <a:latin typeface="Calibri" panose="020F0502020204030204" pitchFamily="34" charset="0"/>
                <a:ea typeface="Calibri" panose="020F0502020204030204" pitchFamily="34" charset="0"/>
                <a:cs typeface="Times New Roman" panose="02020603050405020304" pitchFamily="18" charset="0"/>
              </a:rPr>
              <a:t>43</a:t>
            </a:r>
            <a:r>
              <a:rPr lang="fr-FR" sz="1300" i="1" dirty="0">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 : Script de </a:t>
            </a:r>
            <a:r>
              <a:rPr lang="fr-FR" sz="1300" i="1" dirty="0" err="1">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tracking</a:t>
            </a:r>
            <a:r>
              <a:rPr lang="fr-FR" sz="1300" i="1" dirty="0">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 des performances de l’application</a:t>
            </a:r>
            <a:r>
              <a:rPr lang="fr-FR" sz="1300" i="1" dirty="0"/>
              <a:t> </a:t>
            </a:r>
            <a:endParaRPr lang="fr-FR" sz="1300" i="1" dirty="0">
              <a:solidFill>
                <a:srgbClr val="44546A"/>
              </a:solidFill>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10" name="Image 9">
            <a:extLst>
              <a:ext uri="{FF2B5EF4-FFF2-40B4-BE49-F238E27FC236}">
                <a16:creationId xmlns:a16="http://schemas.microsoft.com/office/drawing/2014/main" id="{64352736-BC59-0617-786C-6C8878AF90CB}"/>
              </a:ext>
            </a:extLst>
          </p:cNvPr>
          <p:cNvPicPr>
            <a:picLocks noChangeAspect="1"/>
          </p:cNvPicPr>
          <p:nvPr/>
        </p:nvPicPr>
        <p:blipFill>
          <a:blip r:embed="rId2"/>
          <a:stretch>
            <a:fillRect/>
          </a:stretch>
        </p:blipFill>
        <p:spPr>
          <a:xfrm>
            <a:off x="189807" y="782867"/>
            <a:ext cx="8237934" cy="5524979"/>
          </a:xfrm>
          <a:prstGeom prst="rect">
            <a:avLst/>
          </a:prstGeom>
        </p:spPr>
      </p:pic>
    </p:spTree>
    <p:extLst>
      <p:ext uri="{BB962C8B-B14F-4D97-AF65-F5344CB8AC3E}">
        <p14:creationId xmlns:p14="http://schemas.microsoft.com/office/powerpoint/2010/main" val="4179075318"/>
      </p:ext>
    </p:extLst>
  </p:cSld>
  <p:clrMapOvr>
    <a:masterClrMapping/>
  </p:clrMapOvr>
</p:sld>
</file>

<file path=ppt/theme/theme1.xml><?xml version="1.0" encoding="utf-8"?>
<a:theme xmlns:a="http://schemas.openxmlformats.org/drawingml/2006/main" name="Thème Office">
  <a:themeElements>
    <a:clrScheme name="ma couleur">
      <a:dk1>
        <a:srgbClr val="000000"/>
      </a:dk1>
      <a:lt1>
        <a:sysClr val="window" lastClr="FFFFFF"/>
      </a:lt1>
      <a:dk2>
        <a:srgbClr val="454551"/>
      </a:dk2>
      <a:lt2>
        <a:srgbClr val="D8D9DC"/>
      </a:lt2>
      <a:accent1>
        <a:srgbClr val="E32D91"/>
      </a:accent1>
      <a:accent2>
        <a:srgbClr val="C830CC"/>
      </a:accent2>
      <a:accent3>
        <a:srgbClr val="4EA6DC"/>
      </a:accent3>
      <a:accent4>
        <a:srgbClr val="4775E7"/>
      </a:accent4>
      <a:accent5>
        <a:srgbClr val="8971E1"/>
      </a:accent5>
      <a:accent6>
        <a:srgbClr val="D54773"/>
      </a:accent6>
      <a:hlink>
        <a:srgbClr val="2481BA"/>
      </a:hlink>
      <a:folHlink>
        <a:srgbClr val="B4176D"/>
      </a:folHlink>
    </a:clrScheme>
    <a:fontScheme name="Personnalisé 1">
      <a:majorFont>
        <a:latin typeface="Calibri Light"/>
        <a:ea typeface=""/>
        <a:cs typeface=""/>
      </a:majorFont>
      <a:minorFont>
        <a:latin typeface="Calibri"/>
        <a:ea typeface=""/>
        <a:cs typeface=""/>
      </a:minorFont>
    </a:fontScheme>
    <a:fmtScheme name="Coin lumineux">
      <a:fillStyleLst>
        <a:solidFill>
          <a:schemeClr val="phClr"/>
        </a:solidFill>
        <a:solidFill>
          <a:schemeClr val="phClr">
            <a:tint val="55000"/>
          </a:schemeClr>
        </a:solidFill>
        <a:solidFill>
          <a:schemeClr val="phClr"/>
        </a:soli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outerShdw blurRad="50800" dist="25400" algn="bl" rotWithShape="0">
              <a:srgbClr val="000000">
                <a:alpha val="60000"/>
              </a:srgbClr>
            </a:outerShdw>
          </a:effectLst>
        </a:effectStyle>
        <a:effectStyle>
          <a:effectLst/>
          <a:scene3d>
            <a:camera prst="orthographicFront">
              <a:rot lat="0" lon="0" rev="0"/>
            </a:camera>
            <a:lightRig rig="brightRoom" dir="tl">
              <a:rot lat="0" lon="0" rev="1800000"/>
            </a:lightRig>
          </a:scene3d>
          <a:sp3d contourW="10160" prstMaterial="dkEdge">
            <a:bevelT w="38100" h="50800" prst="angle"/>
            <a:contourClr>
              <a:schemeClr val="phClr">
                <a:shade val="40000"/>
                <a:satMod val="150000"/>
              </a:schemeClr>
            </a:contourClr>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diapo" id="{5C2DFD65-32EA-419D-A3BB-73EA94B127E4}" vid="{4352638B-D918-4A4B-B4E0-B60BF4A61688}"/>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mon modele</Template>
  <TotalTime>1512</TotalTime>
  <Words>2614</Words>
  <Application>Microsoft Office PowerPoint</Application>
  <PresentationFormat>Grand écran</PresentationFormat>
  <Paragraphs>437</Paragraphs>
  <Slides>43</Slides>
  <Notes>35</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43</vt:i4>
      </vt:variant>
    </vt:vector>
  </HeadingPairs>
  <TitlesOfParts>
    <vt:vector size="47" baseType="lpstr">
      <vt:lpstr>Arial</vt:lpstr>
      <vt:lpstr>Calibri</vt:lpstr>
      <vt:lpstr>Calibri Light</vt:lpstr>
      <vt:lpstr>Thème Office</vt:lpstr>
      <vt:lpstr>Présentation du projet chef d’œuvre</vt:lpstr>
      <vt:lpstr>Sommaire</vt:lpstr>
      <vt:lpstr>1. Introduction</vt:lpstr>
      <vt:lpstr>Présentation PowerPoint</vt:lpstr>
      <vt:lpstr>Présentation PowerPoint</vt:lpstr>
      <vt:lpstr>Présentation PowerPoint</vt:lpstr>
      <vt:lpstr>Présentation PowerPoint</vt:lpstr>
      <vt:lpstr>Présentation PowerPoint</vt:lpstr>
      <vt:lpstr>Présentation PowerPoint</vt:lpstr>
      <vt:lpstr>2. Gestion des données analytiques du projet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3. Développer un programme d'intelligence artificielle</vt:lpstr>
      <vt:lpstr>Présentation PowerPoint</vt:lpstr>
      <vt:lpstr>Présentation PowerPoint</vt:lpstr>
      <vt:lpstr>Présentation PowerPoint</vt:lpstr>
      <vt:lpstr>Présentation PowerPoint</vt:lpstr>
      <vt:lpstr>Présentation PowerPoint</vt:lpstr>
      <vt:lpstr>4. Développement de l’application</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Références</vt:lpstr>
      <vt:lpstr>Annexe</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du projet chef d’œuvre</dc:title>
  <dc:creator>Geoffroy Daumer</dc:creator>
  <cp:lastModifiedBy>Geoffroy DAUMER (Code bzh)</cp:lastModifiedBy>
  <cp:revision>59</cp:revision>
  <dcterms:created xsi:type="dcterms:W3CDTF">2024-03-18T21:34:55Z</dcterms:created>
  <dcterms:modified xsi:type="dcterms:W3CDTF">2024-05-29T14:16:23Z</dcterms:modified>
</cp:coreProperties>
</file>